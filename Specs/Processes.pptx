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64" r:id="rId2"/>
    <p:sldId id="256" r:id="rId3"/>
    <p:sldId id="265" r:id="rId4"/>
    <p:sldId id="257" r:id="rId5"/>
    <p:sldId id="262" r:id="rId6"/>
    <p:sldId id="263" r:id="rId7"/>
    <p:sldId id="261" r:id="rId8"/>
    <p:sldId id="258" r:id="rId9"/>
    <p:sldId id="259" r:id="rId10"/>
    <p:sldId id="260" r:id="rId1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72" autoAdjust="0"/>
    <p:restoredTop sz="94660"/>
  </p:normalViewPr>
  <p:slideViewPr>
    <p:cSldViewPr snapToGrid="0">
      <p:cViewPr varScale="1">
        <p:scale>
          <a:sx n="155" d="100"/>
          <a:sy n="155" d="100"/>
        </p:scale>
        <p:origin x="444" y="15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pic>
        <p:nvPicPr>
          <p:cNvPr id="27" name="Content Placeholder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99969"/>
            <a:ext cx="12192000" cy="758031"/>
          </a:xfrm>
          <a:prstGeom prst="rect">
            <a:avLst/>
          </a:prstGeom>
        </p:spPr>
      </p:pic>
      <p:sp>
        <p:nvSpPr>
          <p:cNvPr id="8" name="TextBox 7"/>
          <p:cNvSpPr txBox="1"/>
          <p:nvPr/>
        </p:nvSpPr>
        <p:spPr>
          <a:xfrm>
            <a:off x="6313851" y="6169821"/>
            <a:ext cx="5738687" cy="584775"/>
          </a:xfrm>
          <a:prstGeom prst="rect">
            <a:avLst/>
          </a:prstGeom>
          <a:noFill/>
        </p:spPr>
        <p:txBody>
          <a:bodyPr wrap="none" rtlCol="0">
            <a:spAutoFit/>
          </a:bodyPr>
          <a:lstStyle/>
          <a:p>
            <a:pPr algn="r"/>
            <a:r>
              <a:rPr lang="en-US" sz="3200" dirty="0">
                <a:solidFill>
                  <a:schemeClr val="bg1"/>
                </a:solidFill>
              </a:rPr>
              <a:t>transform business to technology</a:t>
            </a:r>
          </a:p>
        </p:txBody>
      </p:sp>
      <p:sp>
        <p:nvSpPr>
          <p:cNvPr id="2" name="Title 1"/>
          <p:cNvSpPr>
            <a:spLocks noGrp="1"/>
          </p:cNvSpPr>
          <p:nvPr>
            <p:ph type="ctrTitle"/>
          </p:nvPr>
        </p:nvSpPr>
        <p:spPr>
          <a:xfrm>
            <a:off x="3209924" y="1695449"/>
            <a:ext cx="7458075" cy="1814513"/>
          </a:xfrm>
          <a:prstGeom prst="rect">
            <a:avLst/>
          </a:prstGeom>
        </p:spPr>
        <p:txBody>
          <a:bodyPr anchor="t"/>
          <a:lstStyle>
            <a:lvl1pPr algn="l">
              <a:defRPr sz="4000" i="1">
                <a:solidFill>
                  <a:schemeClr val="accent5"/>
                </a:solidFill>
              </a:defRPr>
            </a:lvl1pPr>
          </a:lstStyle>
          <a:p>
            <a:r>
              <a:rPr lang="fr-FR"/>
              <a:t>Modifiez le style du titre</a:t>
            </a:r>
            <a:endParaRPr lang="de-DE" dirty="0"/>
          </a:p>
        </p:txBody>
      </p:sp>
      <p:sp>
        <p:nvSpPr>
          <p:cNvPr id="3" name="Subtitle 2"/>
          <p:cNvSpPr>
            <a:spLocks noGrp="1"/>
          </p:cNvSpPr>
          <p:nvPr>
            <p:ph type="subTitle" idx="1"/>
          </p:nvPr>
        </p:nvSpPr>
        <p:spPr>
          <a:xfrm>
            <a:off x="3209924" y="3602038"/>
            <a:ext cx="7458075"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de-DE" dirty="0"/>
          </a:p>
        </p:txBody>
      </p:sp>
      <p:sp>
        <p:nvSpPr>
          <p:cNvPr id="28" name="TextBox 27"/>
          <p:cNvSpPr txBox="1"/>
          <p:nvPr/>
        </p:nvSpPr>
        <p:spPr>
          <a:xfrm>
            <a:off x="6313851" y="6169821"/>
            <a:ext cx="5738687" cy="584775"/>
          </a:xfrm>
          <a:prstGeom prst="rect">
            <a:avLst/>
          </a:prstGeom>
          <a:noFill/>
        </p:spPr>
        <p:txBody>
          <a:bodyPr wrap="none" rtlCol="0">
            <a:spAutoFit/>
          </a:bodyPr>
          <a:lstStyle/>
          <a:p>
            <a:pPr algn="r"/>
            <a:r>
              <a:rPr lang="en-US" sz="3200" dirty="0">
                <a:solidFill>
                  <a:schemeClr val="bg1"/>
                </a:solidFill>
              </a:rPr>
              <a:t>transform business to technology</a:t>
            </a:r>
          </a:p>
        </p:txBody>
      </p:sp>
      <p:sp>
        <p:nvSpPr>
          <p:cNvPr id="37" name="Picture Placeholder 2"/>
          <p:cNvSpPr>
            <a:spLocks noGrp="1"/>
          </p:cNvSpPr>
          <p:nvPr>
            <p:ph type="pic" idx="10"/>
          </p:nvPr>
        </p:nvSpPr>
        <p:spPr>
          <a:xfrm>
            <a:off x="0" y="0"/>
            <a:ext cx="2571750" cy="68676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de-DE" dirty="0"/>
          </a:p>
        </p:txBody>
      </p:sp>
      <p:pic>
        <p:nvPicPr>
          <p:cNvPr id="18" name="Grafik 17"/>
          <p:cNvPicPr>
            <a:picLocks noChangeAspect="1"/>
          </p:cNvPicPr>
          <p:nvPr/>
        </p:nvPicPr>
        <p:blipFill>
          <a:blip r:embed="rId3"/>
          <a:stretch>
            <a:fillRect/>
          </a:stretch>
        </p:blipFill>
        <p:spPr>
          <a:xfrm>
            <a:off x="2749446" y="6173478"/>
            <a:ext cx="1559680" cy="643761"/>
          </a:xfrm>
          <a:prstGeom prst="rect">
            <a:avLst/>
          </a:prstGeom>
        </p:spPr>
      </p:pic>
    </p:spTree>
    <p:extLst>
      <p:ext uri="{BB962C8B-B14F-4D97-AF65-F5344CB8AC3E}">
        <p14:creationId xmlns:p14="http://schemas.microsoft.com/office/powerpoint/2010/main" val="1035943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3100"/>
          </a:xfrm>
          <a:prstGeom prst="rect">
            <a:avLst/>
          </a:prstGeom>
        </p:spPr>
        <p:txBody>
          <a:bodyPr/>
          <a:lstStyle>
            <a:lvl1pPr>
              <a:defRPr sz="3600" i="1">
                <a:solidFill>
                  <a:schemeClr val="accent5"/>
                </a:solidFill>
              </a:defRPr>
            </a:lvl1pPr>
          </a:lstStyle>
          <a:p>
            <a:r>
              <a:rPr lang="fr-FR"/>
              <a:t>Modifiez le style du titre</a:t>
            </a:r>
            <a:endParaRPr lang="de-DE" dirty="0"/>
          </a:p>
        </p:txBody>
      </p:sp>
      <p:sp>
        <p:nvSpPr>
          <p:cNvPr id="3" name="Slide Number Placeholder 2"/>
          <p:cNvSpPr>
            <a:spLocks noGrp="1"/>
          </p:cNvSpPr>
          <p:nvPr>
            <p:ph type="sldNum" sz="quarter" idx="10"/>
          </p:nvPr>
        </p:nvSpPr>
        <p:spPr/>
        <p:txBody>
          <a:bodyPr/>
          <a:lstStyle/>
          <a:p>
            <a:fld id="{F7A469C9-E634-4BEE-9B23-AE9B9B500E8F}" type="slidenum">
              <a:rPr lang="en-US" smtClean="0"/>
              <a:t>‹N°›</a:t>
            </a:fld>
            <a:endParaRPr lang="en-US"/>
          </a:p>
        </p:txBody>
      </p:sp>
      <p:sp>
        <p:nvSpPr>
          <p:cNvPr id="4" name="Footer Placeholder 3"/>
          <p:cNvSpPr>
            <a:spLocks noGrp="1"/>
          </p:cNvSpPr>
          <p:nvPr>
            <p:ph type="ftr" sz="quarter" idx="11"/>
          </p:nvPr>
        </p:nvSpPr>
        <p:spPr/>
        <p:txBody>
          <a:bodyPr/>
          <a:lstStyle/>
          <a:p>
            <a:endParaRPr lang="en-US"/>
          </a:p>
        </p:txBody>
      </p:sp>
      <p:sp>
        <p:nvSpPr>
          <p:cNvPr id="5" name="Content Placeholder 2"/>
          <p:cNvSpPr>
            <a:spLocks noGrp="1"/>
          </p:cNvSpPr>
          <p:nvPr>
            <p:ph idx="1"/>
          </p:nvPr>
        </p:nvSpPr>
        <p:spPr>
          <a:xfrm>
            <a:off x="838200" y="1266825"/>
            <a:ext cx="10515600" cy="478155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a:p>
        </p:txBody>
      </p:sp>
    </p:spTree>
    <p:extLst>
      <p:ext uri="{BB962C8B-B14F-4D97-AF65-F5344CB8AC3E}">
        <p14:creationId xmlns:p14="http://schemas.microsoft.com/office/powerpoint/2010/main" val="102297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F7A469C9-E634-4BEE-9B23-AE9B9B500E8F}" type="slidenum">
              <a:rPr lang="en-US" smtClean="0"/>
              <a:t>‹N°›</a:t>
            </a:fld>
            <a:endParaRPr lang="en-US"/>
          </a:p>
        </p:txBody>
      </p:sp>
      <p:sp>
        <p:nvSpPr>
          <p:cNvPr id="4" name="Footer Placeholder 3"/>
          <p:cNvSpPr>
            <a:spLocks noGrp="1"/>
          </p:cNvSpPr>
          <p:nvPr>
            <p:ph type="ftr" sz="quarter" idx="11"/>
          </p:nvPr>
        </p:nvSpPr>
        <p:spPr/>
        <p:txBody>
          <a:bodyPr/>
          <a:lstStyle/>
          <a:p>
            <a:endParaRPr lang="en-US"/>
          </a:p>
        </p:txBody>
      </p:sp>
      <p:sp>
        <p:nvSpPr>
          <p:cNvPr id="5" name="Title 1"/>
          <p:cNvSpPr>
            <a:spLocks noGrp="1"/>
          </p:cNvSpPr>
          <p:nvPr>
            <p:ph type="title"/>
          </p:nvPr>
        </p:nvSpPr>
        <p:spPr>
          <a:xfrm>
            <a:off x="838200" y="365126"/>
            <a:ext cx="10515600" cy="673100"/>
          </a:xfrm>
          <a:prstGeom prst="rect">
            <a:avLst/>
          </a:prstGeom>
        </p:spPr>
        <p:txBody>
          <a:bodyPr/>
          <a:lstStyle>
            <a:lvl1pPr>
              <a:defRPr sz="3600" i="1">
                <a:solidFill>
                  <a:schemeClr val="accent5"/>
                </a:solidFill>
              </a:defRPr>
            </a:lvl1pPr>
          </a:lstStyle>
          <a:p>
            <a:r>
              <a:rPr lang="fr-FR"/>
              <a:t>Modifiez le style du titre</a:t>
            </a:r>
            <a:endParaRPr lang="de-DE" dirty="0"/>
          </a:p>
        </p:txBody>
      </p:sp>
    </p:spTree>
    <p:extLst>
      <p:ext uri="{BB962C8B-B14F-4D97-AF65-F5344CB8AC3E}">
        <p14:creationId xmlns:p14="http://schemas.microsoft.com/office/powerpoint/2010/main" val="1596618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62075"/>
            <a:ext cx="5181600" cy="47529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4" name="Content Placeholder 3"/>
          <p:cNvSpPr>
            <a:spLocks noGrp="1"/>
          </p:cNvSpPr>
          <p:nvPr>
            <p:ph sz="half" idx="2"/>
          </p:nvPr>
        </p:nvSpPr>
        <p:spPr>
          <a:xfrm>
            <a:off x="6172200" y="1362075"/>
            <a:ext cx="5181600" cy="47529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6" name="Title 1"/>
          <p:cNvSpPr>
            <a:spLocks noGrp="1"/>
          </p:cNvSpPr>
          <p:nvPr>
            <p:ph type="title"/>
          </p:nvPr>
        </p:nvSpPr>
        <p:spPr>
          <a:xfrm>
            <a:off x="838200" y="365126"/>
            <a:ext cx="10515600" cy="673100"/>
          </a:xfrm>
          <a:prstGeom prst="rect">
            <a:avLst/>
          </a:prstGeom>
        </p:spPr>
        <p:txBody>
          <a:bodyPr/>
          <a:lstStyle>
            <a:lvl1pPr>
              <a:defRPr sz="3600" i="1">
                <a:solidFill>
                  <a:schemeClr val="accent5"/>
                </a:solidFill>
              </a:defRPr>
            </a:lvl1pPr>
          </a:lstStyle>
          <a:p>
            <a:r>
              <a:rPr lang="fr-FR"/>
              <a:t>Modifiez le style du titre</a:t>
            </a:r>
            <a:endParaRPr lang="de-DE" dirty="0"/>
          </a:p>
        </p:txBody>
      </p:sp>
      <p:sp>
        <p:nvSpPr>
          <p:cNvPr id="7" name="Slide Number Placeholder 5"/>
          <p:cNvSpPr>
            <a:spLocks noGrp="1"/>
          </p:cNvSpPr>
          <p:nvPr>
            <p:ph type="sldNum" sz="quarter" idx="4"/>
          </p:nvPr>
        </p:nvSpPr>
        <p:spPr>
          <a:xfrm>
            <a:off x="127000" y="6446311"/>
            <a:ext cx="2159000" cy="365125"/>
          </a:xfrm>
          <a:prstGeom prst="rect">
            <a:avLst/>
          </a:prstGeom>
          <a:noFill/>
        </p:spPr>
        <p:txBody>
          <a:bodyPr vert="horz" lIns="91440" tIns="45720" rIns="91440" bIns="45720" rtlCol="0" anchor="ctr"/>
          <a:lstStyle>
            <a:lvl1pPr algn="l">
              <a:defRPr sz="1200">
                <a:solidFill>
                  <a:schemeClr val="bg1"/>
                </a:solidFill>
              </a:defRPr>
            </a:lvl1pPr>
          </a:lstStyle>
          <a:p>
            <a:fld id="{F7A469C9-E634-4BEE-9B23-AE9B9B500E8F}" type="slidenum">
              <a:rPr lang="en-US" smtClean="0"/>
              <a:t>‹N°›</a:t>
            </a:fld>
            <a:endParaRPr lang="en-US"/>
          </a:p>
        </p:txBody>
      </p:sp>
      <p:sp>
        <p:nvSpPr>
          <p:cNvPr id="8" name="Footer Placeholder 25"/>
          <p:cNvSpPr>
            <a:spLocks noGrp="1"/>
          </p:cNvSpPr>
          <p:nvPr>
            <p:ph type="ftr" sz="quarter" idx="3"/>
          </p:nvPr>
        </p:nvSpPr>
        <p:spPr>
          <a:xfrm>
            <a:off x="4038600" y="6446311"/>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spTree>
    <p:extLst>
      <p:ext uri="{BB962C8B-B14F-4D97-AF65-F5344CB8AC3E}">
        <p14:creationId xmlns:p14="http://schemas.microsoft.com/office/powerpoint/2010/main" val="166001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27000" y="6446311"/>
            <a:ext cx="2159000" cy="365125"/>
          </a:xfrm>
          <a:prstGeom prst="rect">
            <a:avLst/>
          </a:prstGeom>
          <a:noFill/>
        </p:spPr>
        <p:txBody>
          <a:bodyPr vert="horz" lIns="91440" tIns="45720" rIns="91440" bIns="45720" rtlCol="0" anchor="ctr"/>
          <a:lstStyle>
            <a:lvl1pPr algn="l">
              <a:defRPr sz="1200">
                <a:solidFill>
                  <a:schemeClr val="bg1"/>
                </a:solidFill>
              </a:defRPr>
            </a:lvl1pPr>
          </a:lstStyle>
          <a:p>
            <a:fld id="{F7A469C9-E634-4BEE-9B23-AE9B9B500E8F}" type="slidenum">
              <a:rPr lang="en-US" smtClean="0"/>
              <a:t>‹N°›</a:t>
            </a:fld>
            <a:endParaRPr lang="en-US"/>
          </a:p>
        </p:txBody>
      </p:sp>
      <p:sp>
        <p:nvSpPr>
          <p:cNvPr id="7" name="Footer Placeholder 25"/>
          <p:cNvSpPr>
            <a:spLocks noGrp="1"/>
          </p:cNvSpPr>
          <p:nvPr>
            <p:ph type="ftr" sz="quarter" idx="3"/>
          </p:nvPr>
        </p:nvSpPr>
        <p:spPr>
          <a:xfrm>
            <a:off x="4038600" y="6446311"/>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spTree>
    <p:extLst>
      <p:ext uri="{BB962C8B-B14F-4D97-AF65-F5344CB8AC3E}">
        <p14:creationId xmlns:p14="http://schemas.microsoft.com/office/powerpoint/2010/main" val="1851271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pic>
        <p:nvPicPr>
          <p:cNvPr id="27" name="Content Placeholder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99969"/>
            <a:ext cx="12192000" cy="758031"/>
          </a:xfrm>
          <a:prstGeom prst="rect">
            <a:avLst/>
          </a:prstGeom>
        </p:spPr>
      </p:pic>
      <p:sp>
        <p:nvSpPr>
          <p:cNvPr id="8" name="TextBox 7"/>
          <p:cNvSpPr txBox="1"/>
          <p:nvPr/>
        </p:nvSpPr>
        <p:spPr>
          <a:xfrm>
            <a:off x="6356185" y="6186755"/>
            <a:ext cx="5738687" cy="584775"/>
          </a:xfrm>
          <a:prstGeom prst="rect">
            <a:avLst/>
          </a:prstGeom>
          <a:noFill/>
        </p:spPr>
        <p:txBody>
          <a:bodyPr wrap="none" rtlCol="0">
            <a:spAutoFit/>
          </a:bodyPr>
          <a:lstStyle/>
          <a:p>
            <a:pPr algn="r"/>
            <a:r>
              <a:rPr lang="en-US" sz="3200" dirty="0">
                <a:solidFill>
                  <a:schemeClr val="bg1"/>
                </a:solidFill>
              </a:rPr>
              <a:t>transform business to technology</a:t>
            </a:r>
          </a:p>
        </p:txBody>
      </p:sp>
      <p:sp>
        <p:nvSpPr>
          <p:cNvPr id="2" name="Title 1"/>
          <p:cNvSpPr>
            <a:spLocks noGrp="1"/>
          </p:cNvSpPr>
          <p:nvPr>
            <p:ph type="ctrTitle"/>
          </p:nvPr>
        </p:nvSpPr>
        <p:spPr>
          <a:xfrm>
            <a:off x="3209924" y="1695449"/>
            <a:ext cx="7458075" cy="1814513"/>
          </a:xfrm>
          <a:prstGeom prst="rect">
            <a:avLst/>
          </a:prstGeom>
        </p:spPr>
        <p:txBody>
          <a:bodyPr anchor="t"/>
          <a:lstStyle>
            <a:lvl1pPr algn="l">
              <a:defRPr sz="4000" i="1">
                <a:solidFill>
                  <a:schemeClr val="accent5"/>
                </a:solidFill>
              </a:defRPr>
            </a:lvl1pPr>
          </a:lstStyle>
          <a:p>
            <a:r>
              <a:rPr lang="fr-FR"/>
              <a:t>Modifiez le style du titre</a:t>
            </a:r>
            <a:endParaRPr lang="de-DE" dirty="0"/>
          </a:p>
        </p:txBody>
      </p:sp>
      <p:sp>
        <p:nvSpPr>
          <p:cNvPr id="3" name="Subtitle 2"/>
          <p:cNvSpPr>
            <a:spLocks noGrp="1"/>
          </p:cNvSpPr>
          <p:nvPr>
            <p:ph type="subTitle" idx="1"/>
          </p:nvPr>
        </p:nvSpPr>
        <p:spPr>
          <a:xfrm>
            <a:off x="3209924" y="3602038"/>
            <a:ext cx="7458075"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de-DE" dirty="0"/>
          </a:p>
        </p:txBody>
      </p:sp>
      <p:pic>
        <p:nvPicPr>
          <p:cNvPr id="18" name="Grafik 17"/>
          <p:cNvPicPr>
            <a:picLocks noChangeAspect="1"/>
          </p:cNvPicPr>
          <p:nvPr/>
        </p:nvPicPr>
        <p:blipFill>
          <a:blip r:embed="rId3"/>
          <a:stretch>
            <a:fillRect/>
          </a:stretch>
        </p:blipFill>
        <p:spPr>
          <a:xfrm>
            <a:off x="1521775" y="6173478"/>
            <a:ext cx="1559680" cy="643761"/>
          </a:xfrm>
          <a:prstGeom prst="rect">
            <a:avLst/>
          </a:prstGeom>
        </p:spPr>
      </p:pic>
    </p:spTree>
    <p:extLst>
      <p:ext uri="{BB962C8B-B14F-4D97-AF65-F5344CB8AC3E}">
        <p14:creationId xmlns:p14="http://schemas.microsoft.com/office/powerpoint/2010/main" val="1801083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B21B17C-A4FD-4648-B42A-6958778639FA}"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A469C9-E634-4BEE-9B23-AE9B9B500E8F}" type="slidenum">
              <a:rPr lang="en-US" smtClean="0"/>
              <a:t>‹N°›</a:t>
            </a:fld>
            <a:endParaRPr lang="en-US"/>
          </a:p>
        </p:txBody>
      </p:sp>
    </p:spTree>
    <p:extLst>
      <p:ext uri="{BB962C8B-B14F-4D97-AF65-F5344CB8AC3E}">
        <p14:creationId xmlns:p14="http://schemas.microsoft.com/office/powerpoint/2010/main" val="739357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B21B17C-A4FD-4648-B42A-6958778639FA}"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531812" y="3244139"/>
            <a:ext cx="779767" cy="365125"/>
          </a:xfrm>
        </p:spPr>
        <p:txBody>
          <a:bodyPr/>
          <a:lstStyle/>
          <a:p>
            <a:fld id="{F7A469C9-E634-4BEE-9B23-AE9B9B500E8F}" type="slidenum">
              <a:rPr lang="en-US" smtClean="0"/>
              <a:t>‹N°›</a:t>
            </a:fld>
            <a:endParaRPr lang="en-US"/>
          </a:p>
        </p:txBody>
      </p:sp>
    </p:spTree>
    <p:extLst>
      <p:ext uri="{BB962C8B-B14F-4D97-AF65-F5344CB8AC3E}">
        <p14:creationId xmlns:p14="http://schemas.microsoft.com/office/powerpoint/2010/main" val="2296297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Content Placeholder 11"/>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flipH="1">
            <a:off x="0" y="6387044"/>
            <a:ext cx="12192000" cy="470956"/>
          </a:xfrm>
          <a:prstGeom prst="rect">
            <a:avLst/>
          </a:prstGeom>
        </p:spPr>
      </p:pic>
      <p:sp>
        <p:nvSpPr>
          <p:cNvPr id="3" name="Text Placeholder 2"/>
          <p:cNvSpPr>
            <a:spLocks noGrp="1"/>
          </p:cNvSpPr>
          <p:nvPr>
            <p:ph type="body" idx="1"/>
          </p:nvPr>
        </p:nvSpPr>
        <p:spPr>
          <a:xfrm>
            <a:off x="838200" y="323851"/>
            <a:ext cx="10515600" cy="578684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6" name="Slide Number Placeholder 5"/>
          <p:cNvSpPr>
            <a:spLocks noGrp="1"/>
          </p:cNvSpPr>
          <p:nvPr>
            <p:ph type="sldNum" sz="quarter" idx="4"/>
          </p:nvPr>
        </p:nvSpPr>
        <p:spPr>
          <a:xfrm>
            <a:off x="127000" y="6446311"/>
            <a:ext cx="2159000" cy="365125"/>
          </a:xfrm>
          <a:prstGeom prst="rect">
            <a:avLst/>
          </a:prstGeom>
          <a:noFill/>
        </p:spPr>
        <p:txBody>
          <a:bodyPr vert="horz" lIns="91440" tIns="45720" rIns="91440" bIns="45720" rtlCol="0" anchor="ctr"/>
          <a:lstStyle>
            <a:lvl1pPr algn="l">
              <a:defRPr sz="1200">
                <a:solidFill>
                  <a:schemeClr val="bg1"/>
                </a:solidFill>
              </a:defRPr>
            </a:lvl1pPr>
          </a:lstStyle>
          <a:p>
            <a:fld id="{F7A469C9-E634-4BEE-9B23-AE9B9B500E8F}" type="slidenum">
              <a:rPr lang="en-US" smtClean="0"/>
              <a:t>‹N°›</a:t>
            </a:fld>
            <a:endParaRPr lang="en-US"/>
          </a:p>
        </p:txBody>
      </p:sp>
      <p:sp>
        <p:nvSpPr>
          <p:cNvPr id="26" name="Footer Placeholder 25"/>
          <p:cNvSpPr>
            <a:spLocks noGrp="1"/>
          </p:cNvSpPr>
          <p:nvPr>
            <p:ph type="ftr" sz="quarter" idx="3"/>
          </p:nvPr>
        </p:nvSpPr>
        <p:spPr>
          <a:xfrm>
            <a:off x="4038600" y="6446311"/>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a:p>
        </p:txBody>
      </p:sp>
      <p:pic>
        <p:nvPicPr>
          <p:cNvPr id="16" name="Grafik 15"/>
          <p:cNvPicPr>
            <a:picLocks noChangeAspect="1"/>
          </p:cNvPicPr>
          <p:nvPr/>
        </p:nvPicPr>
        <p:blipFill>
          <a:blip r:embed="rId11"/>
          <a:stretch>
            <a:fillRect/>
          </a:stretch>
        </p:blipFill>
        <p:spPr>
          <a:xfrm>
            <a:off x="10383054" y="6442273"/>
            <a:ext cx="933782" cy="385420"/>
          </a:xfrm>
          <a:prstGeom prst="rect">
            <a:avLst/>
          </a:prstGeom>
        </p:spPr>
      </p:pic>
    </p:spTree>
    <p:extLst>
      <p:ext uri="{BB962C8B-B14F-4D97-AF65-F5344CB8AC3E}">
        <p14:creationId xmlns:p14="http://schemas.microsoft.com/office/powerpoint/2010/main" val="68283035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5"/>
        </a:buClr>
        <a:buSzPct val="90000"/>
        <a:buFont typeface="Wingdings" panose="05000000000000000000" pitchFamily="2" charset="2"/>
        <a:buChar char="v"/>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EDA0F1-6B08-BABA-F2D2-506CA70FD618}"/>
              </a:ext>
            </a:extLst>
          </p:cNvPr>
          <p:cNvSpPr>
            <a:spLocks noGrp="1"/>
          </p:cNvSpPr>
          <p:nvPr>
            <p:ph type="title"/>
          </p:nvPr>
        </p:nvSpPr>
        <p:spPr/>
        <p:txBody>
          <a:bodyPr/>
          <a:lstStyle/>
          <a:p>
            <a:r>
              <a:rPr lang="fr-FR" dirty="0"/>
              <a:t>Smart </a:t>
            </a:r>
            <a:r>
              <a:rPr lang="fr-FR" dirty="0" err="1"/>
              <a:t>Analysis</a:t>
            </a:r>
            <a:endParaRPr lang="en-US" dirty="0"/>
          </a:p>
        </p:txBody>
      </p:sp>
      <p:sp>
        <p:nvSpPr>
          <p:cNvPr id="3" name="Espace réservé du contenu 2">
            <a:extLst>
              <a:ext uri="{FF2B5EF4-FFF2-40B4-BE49-F238E27FC236}">
                <a16:creationId xmlns:a16="http://schemas.microsoft.com/office/drawing/2014/main" id="{B064608B-1CCB-CE54-BDB6-ED2A78299C1A}"/>
              </a:ext>
            </a:extLst>
          </p:cNvPr>
          <p:cNvSpPr>
            <a:spLocks noGrp="1"/>
          </p:cNvSpPr>
          <p:nvPr>
            <p:ph idx="1"/>
          </p:nvPr>
        </p:nvSpPr>
        <p:spPr/>
        <p:txBody>
          <a:bodyPr>
            <a:normAutofit fontScale="55000" lnSpcReduction="20000"/>
          </a:bodyPr>
          <a:lstStyle/>
          <a:p>
            <a:r>
              <a:rPr lang="en-US" dirty="0"/>
              <a:t>1. The Execution Process</a:t>
            </a:r>
          </a:p>
          <a:p>
            <a:pPr lvl="1"/>
            <a:r>
              <a:rPr lang="en-US" dirty="0"/>
              <a:t>The process transforms static documents into structured insights using a pipeline of AI "Primitives" (Steps).</a:t>
            </a:r>
          </a:p>
          <a:p>
            <a:pPr lvl="1"/>
            <a:r>
              <a:rPr lang="en-US" b="1" dirty="0"/>
              <a:t>Input Resolution</a:t>
            </a:r>
            <a:r>
              <a:rPr lang="en-US" dirty="0"/>
              <a:t>: The system first gathers the selected Canvas items (PDFs, text notes, etc.) and resolves their full text content (using RAG or direct file reading).</a:t>
            </a:r>
          </a:p>
          <a:p>
            <a:pPr lvl="1"/>
            <a:r>
              <a:rPr lang="en-US" b="1" dirty="0"/>
              <a:t>Blueprint Compilation</a:t>
            </a:r>
            <a:r>
              <a:rPr lang="en-US" dirty="0"/>
              <a:t>: The Smart Analysis defines a </a:t>
            </a:r>
            <a:r>
              <a:rPr lang="en-US" dirty="0" err="1">
                <a:latin typeface="Courier New" panose="02070309020205020404" pitchFamily="49" charset="0"/>
                <a:cs typeface="Courier New" panose="02070309020205020404" pitchFamily="49" charset="0"/>
              </a:rPr>
              <a:t>pipeline_config</a:t>
            </a:r>
            <a:r>
              <a:rPr lang="en-US" dirty="0"/>
              <a:t>. The backend (</a:t>
            </a:r>
            <a:r>
              <a:rPr lang="en-US" dirty="0" err="1">
                <a:latin typeface="Courier New" panose="02070309020205020404" pitchFamily="49" charset="0"/>
                <a:cs typeface="Courier New" panose="02070309020205020404" pitchFamily="49" charset="0"/>
              </a:rPr>
              <a:t>AgentRuntime</a:t>
            </a:r>
            <a:r>
              <a:rPr lang="en-US" dirty="0"/>
              <a:t>) compiles this JSON config into an executable logic graph (DAG).</a:t>
            </a:r>
          </a:p>
          <a:p>
            <a:pPr lvl="1"/>
            <a:r>
              <a:rPr lang="en-US" b="1" dirty="0"/>
              <a:t>Step-by-Step Execution</a:t>
            </a:r>
            <a:r>
              <a:rPr lang="en-US" dirty="0"/>
              <a:t>: The runtime executes each step sequentially (or in parallel if defined). Each step receives the </a:t>
            </a:r>
            <a:r>
              <a:rPr lang="en-US" dirty="0" err="1">
                <a:latin typeface="Courier New" panose="02070309020205020404" pitchFamily="49" charset="0"/>
                <a:cs typeface="Courier New" panose="02070309020205020404" pitchFamily="49" charset="0"/>
              </a:rPr>
              <a:t>combined_context</a:t>
            </a:r>
            <a:r>
              <a:rPr lang="en-US" dirty="0">
                <a:latin typeface="Courier New" panose="02070309020205020404" pitchFamily="49" charset="0"/>
                <a:cs typeface="Courier New" panose="02070309020205020404" pitchFamily="49" charset="0"/>
              </a:rPr>
              <a:t> </a:t>
            </a:r>
            <a:r>
              <a:rPr lang="en-US" dirty="0"/>
              <a:t>(all input documents) plus the output of Previous steps.</a:t>
            </a:r>
          </a:p>
          <a:p>
            <a:pPr lvl="1"/>
            <a:r>
              <a:rPr lang="en-US" b="1" dirty="0"/>
              <a:t>Streaming Feedback</a:t>
            </a:r>
            <a:r>
              <a:rPr lang="en-US" dirty="0"/>
              <a:t>: The server streams events (</a:t>
            </a:r>
            <a:r>
              <a:rPr lang="en-US" dirty="0" err="1">
                <a:latin typeface="Courier New" panose="02070309020205020404" pitchFamily="49" charset="0"/>
                <a:cs typeface="Courier New" panose="02070309020205020404" pitchFamily="49" charset="0"/>
              </a:rPr>
              <a:t>step_start</a:t>
            </a:r>
            <a:r>
              <a:rPr lang="en-US" dirty="0"/>
              <a:t>, </a:t>
            </a:r>
            <a:r>
              <a:rPr lang="en-US" dirty="0" err="1">
                <a:latin typeface="Courier New" panose="02070309020205020404" pitchFamily="49" charset="0"/>
                <a:cs typeface="Courier New" panose="02070309020205020404" pitchFamily="49" charset="0"/>
              </a:rPr>
              <a:t>step_complete</a:t>
            </a:r>
            <a:r>
              <a:rPr lang="en-US" dirty="0"/>
              <a:t>) to the UI, showing the "Green Brain" execution modal.</a:t>
            </a:r>
          </a:p>
          <a:p>
            <a:r>
              <a:rPr lang="en-US" dirty="0"/>
              <a:t>2. The Steps (Primitives)</a:t>
            </a:r>
          </a:p>
          <a:p>
            <a:r>
              <a:rPr lang="en-US" dirty="0"/>
              <a:t>Steps are the building blocks of a template. The common types are:</a:t>
            </a:r>
          </a:p>
          <a:p>
            <a:pPr lvl="1"/>
            <a:r>
              <a:rPr lang="en-US" b="1" dirty="0"/>
              <a:t>Extractor</a:t>
            </a:r>
            <a:r>
              <a:rPr lang="en-US" dirty="0"/>
              <a:t>: A specialized step to pull specific structured data (entities, dates, table rows) from the text.</a:t>
            </a:r>
          </a:p>
          <a:p>
            <a:pPr lvl="1"/>
            <a:r>
              <a:rPr lang="en-US" b="1" dirty="0"/>
              <a:t>Agent</a:t>
            </a:r>
            <a:r>
              <a:rPr lang="en-US" dirty="0"/>
              <a:t>: A standard LLM call to think, reason, or generate text.</a:t>
            </a:r>
          </a:p>
          <a:p>
            <a:pPr lvl="1"/>
            <a:r>
              <a:rPr lang="en-US" b="1" dirty="0"/>
              <a:t>Visualizer</a:t>
            </a:r>
            <a:r>
              <a:rPr lang="en-US" dirty="0"/>
              <a:t>: Takes the output of previous steps and renders it as a Chart, Graph, or Table.</a:t>
            </a:r>
          </a:p>
          <a:p>
            <a:pPr lvl="1"/>
            <a:r>
              <a:rPr lang="en-US" b="1" dirty="0"/>
              <a:t>Formatter</a:t>
            </a:r>
            <a:r>
              <a:rPr lang="en-US" dirty="0"/>
              <a:t> (Document Converter): Finalizes the output into a specific file format (Markdown, JSON, HTML).</a:t>
            </a:r>
          </a:p>
          <a:p>
            <a:r>
              <a:rPr lang="en-US" dirty="0"/>
              <a:t>3. Roles (Personas)</a:t>
            </a:r>
          </a:p>
          <a:p>
            <a:pPr lvl="1"/>
            <a:r>
              <a:rPr lang="en-US" dirty="0"/>
              <a:t>The "Planner" or "Critic" roles you see are defined by Personas.</a:t>
            </a:r>
          </a:p>
          <a:p>
            <a:pPr lvl="2"/>
            <a:r>
              <a:rPr lang="en-US" dirty="0"/>
              <a:t>Definition: Each Agent step in the pipeline can be assigned a specific </a:t>
            </a:r>
            <a:r>
              <a:rPr lang="en-US" dirty="0" err="1">
                <a:latin typeface="Courier New" panose="02070309020205020404" pitchFamily="49" charset="0"/>
                <a:cs typeface="Courier New" panose="02070309020205020404" pitchFamily="49" charset="0"/>
              </a:rPr>
              <a:t>personaId</a:t>
            </a:r>
            <a:r>
              <a:rPr lang="en-US" dirty="0"/>
              <a:t>.</a:t>
            </a:r>
          </a:p>
          <a:p>
            <a:pPr lvl="1"/>
            <a:r>
              <a:rPr lang="en-US" b="1" dirty="0"/>
              <a:t>Injection</a:t>
            </a:r>
            <a:r>
              <a:rPr lang="en-US" dirty="0"/>
              <a:t>: When the </a:t>
            </a:r>
            <a:r>
              <a:rPr lang="en-US" dirty="0" err="1"/>
              <a:t>AgentRuntime</a:t>
            </a:r>
            <a:r>
              <a:rPr lang="en-US" dirty="0"/>
              <a:t> executes that step, it fetches the corresponding Persona string from the database (e.g., "You are an expert Planner who focuses on timeline feasibility...") and injects it into the System Prompt.</a:t>
            </a:r>
          </a:p>
          <a:p>
            <a:pPr lvl="1"/>
            <a:r>
              <a:rPr lang="en-US" b="1" dirty="0"/>
              <a:t>Purpose</a:t>
            </a:r>
            <a:r>
              <a:rPr lang="en-US" dirty="0"/>
              <a:t>: This forces the LLM to adopt a specific "Point of View" for that step, preventing generic responses.</a:t>
            </a:r>
          </a:p>
          <a:p>
            <a:r>
              <a:rPr lang="en-US" dirty="0"/>
              <a:t>(Implemented in </a:t>
            </a:r>
            <a:r>
              <a:rPr lang="en-US" dirty="0">
                <a:latin typeface="Courier New" panose="02070309020205020404" pitchFamily="49" charset="0"/>
                <a:cs typeface="Courier New" panose="02070309020205020404" pitchFamily="49" charset="0"/>
              </a:rPr>
              <a:t>smart_template_service.py </a:t>
            </a:r>
            <a:r>
              <a:rPr lang="en-US" dirty="0"/>
              <a:t>and </a:t>
            </a:r>
            <a:r>
              <a:rPr lang="en-US" dirty="0">
                <a:latin typeface="Courier New" panose="02070309020205020404" pitchFamily="49" charset="0"/>
                <a:cs typeface="Courier New" panose="02070309020205020404" pitchFamily="49" charset="0"/>
              </a:rPr>
              <a:t>agent_runtime.py</a:t>
            </a:r>
            <a:r>
              <a:rPr lang="en-US" dirty="0"/>
              <a:t>)</a:t>
            </a:r>
          </a:p>
        </p:txBody>
      </p:sp>
    </p:spTree>
    <p:extLst>
      <p:ext uri="{BB962C8B-B14F-4D97-AF65-F5344CB8AC3E}">
        <p14:creationId xmlns:p14="http://schemas.microsoft.com/office/powerpoint/2010/main" val="1094540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F9B19F6E-4B93-E32A-925F-01B59410CE62}"/>
              </a:ext>
            </a:extLst>
          </p:cNvPr>
          <p:cNvSpPr>
            <a:spLocks noGrp="1"/>
          </p:cNvSpPr>
          <p:nvPr>
            <p:ph type="title"/>
          </p:nvPr>
        </p:nvSpPr>
        <p:spPr/>
        <p:txBody>
          <a:bodyPr/>
          <a:lstStyle/>
          <a:p>
            <a:r>
              <a:rPr lang="fr-FR" dirty="0"/>
              <a:t>Smart Document </a:t>
            </a:r>
            <a:r>
              <a:rPr lang="fr-FR" dirty="0" err="1"/>
              <a:t>Templates</a:t>
            </a:r>
            <a:r>
              <a:rPr lang="fr-FR" dirty="0"/>
              <a:t> – </a:t>
            </a:r>
            <a:r>
              <a:rPr lang="fr-FR" sz="2400" dirty="0" err="1"/>
              <a:t>Starting</a:t>
            </a:r>
            <a:r>
              <a:rPr lang="fr-FR" sz="2400" dirty="0"/>
              <a:t> </a:t>
            </a:r>
            <a:r>
              <a:rPr lang="fr-FR" sz="2400" dirty="0" err="1"/>
              <a:t>execution</a:t>
            </a:r>
            <a:r>
              <a:rPr lang="fr-FR" sz="2400" dirty="0"/>
              <a:t> </a:t>
            </a:r>
            <a:r>
              <a:rPr lang="fr-FR" sz="2400" dirty="0" err="1"/>
              <a:t>from</a:t>
            </a:r>
            <a:r>
              <a:rPr lang="fr-FR" sz="2400" dirty="0"/>
              <a:t> Smart </a:t>
            </a:r>
            <a:r>
              <a:rPr lang="fr-FR" sz="2400" dirty="0" err="1"/>
              <a:t>Analysis</a:t>
            </a:r>
            <a:endParaRPr lang="en-US" dirty="0"/>
          </a:p>
        </p:txBody>
      </p:sp>
      <p:sp>
        <p:nvSpPr>
          <p:cNvPr id="5" name="Espace réservé du contenu 4">
            <a:extLst>
              <a:ext uri="{FF2B5EF4-FFF2-40B4-BE49-F238E27FC236}">
                <a16:creationId xmlns:a16="http://schemas.microsoft.com/office/drawing/2014/main" id="{C88D16C3-7B9F-DA56-6155-B5982D97A590}"/>
              </a:ext>
            </a:extLst>
          </p:cNvPr>
          <p:cNvSpPr>
            <a:spLocks noGrp="1"/>
          </p:cNvSpPr>
          <p:nvPr>
            <p:ph idx="1"/>
          </p:nvPr>
        </p:nvSpPr>
        <p:spPr/>
        <p:txBody>
          <a:bodyPr>
            <a:normAutofit fontScale="70000" lnSpcReduction="20000"/>
          </a:bodyPr>
          <a:lstStyle/>
          <a:p>
            <a:r>
              <a:rPr lang="fr-FR" dirty="0"/>
              <a:t>The Smart Document </a:t>
            </a:r>
            <a:r>
              <a:rPr lang="fr-FR" dirty="0" err="1"/>
              <a:t>Templates</a:t>
            </a:r>
            <a:r>
              <a:rPr lang="fr-FR" dirty="0"/>
              <a:t> are </a:t>
            </a:r>
            <a:r>
              <a:rPr lang="fr-FR" dirty="0" err="1"/>
              <a:t>executed</a:t>
            </a:r>
            <a:r>
              <a:rPr lang="fr-FR" dirty="0"/>
              <a:t> by (a </a:t>
            </a:r>
            <a:r>
              <a:rPr lang="fr-FR" dirty="0" err="1"/>
              <a:t>special</a:t>
            </a:r>
            <a:r>
              <a:rPr lang="fr-FR" dirty="0"/>
              <a:t> </a:t>
            </a:r>
            <a:r>
              <a:rPr lang="fr-FR" dirty="0" err="1"/>
              <a:t>branch</a:t>
            </a:r>
            <a:r>
              <a:rPr lang="fr-FR" dirty="0"/>
              <a:t> of) the Smart </a:t>
            </a:r>
            <a:r>
              <a:rPr lang="fr-FR" dirty="0" err="1"/>
              <a:t>Analysis</a:t>
            </a:r>
            <a:r>
              <a:rPr lang="fr-FR" dirty="0"/>
              <a:t>: </a:t>
            </a:r>
            <a:r>
              <a:rPr lang="en-US" dirty="0"/>
              <a:t>The Connection: </a:t>
            </a:r>
            <a:r>
              <a:rPr lang="en-US" dirty="0">
                <a:latin typeface="Courier New" panose="02070309020205020404" pitchFamily="49" charset="0"/>
                <a:cs typeface="Courier New" panose="02070309020205020404" pitchFamily="49" charset="0"/>
              </a:rPr>
              <a:t>text_template.py</a:t>
            </a:r>
          </a:p>
          <a:p>
            <a:r>
              <a:rPr lang="en-US" dirty="0"/>
              <a:t>The "Smart Analysis" engine (</a:t>
            </a:r>
            <a:r>
              <a:rPr lang="en-US" dirty="0" err="1">
                <a:latin typeface="Courier New" panose="02070309020205020404" pitchFamily="49" charset="0"/>
                <a:cs typeface="Courier New" panose="02070309020205020404" pitchFamily="49" charset="0"/>
              </a:rPr>
              <a:t>AgentRuntime</a:t>
            </a:r>
            <a:r>
              <a:rPr lang="en-US" dirty="0"/>
              <a:t>) connects to "Document Templates" via the </a:t>
            </a:r>
            <a:r>
              <a:rPr lang="en-US" dirty="0">
                <a:latin typeface="Courier New" panose="02070309020205020404" pitchFamily="49" charset="0"/>
                <a:cs typeface="Courier New" panose="02070309020205020404" pitchFamily="49" charset="0"/>
              </a:rPr>
              <a:t>TEXT_TEMPLATE </a:t>
            </a:r>
            <a:r>
              <a:rPr lang="en-US" dirty="0"/>
              <a:t>Primitive (</a:t>
            </a:r>
            <a:r>
              <a:rPr lang="en-US" dirty="0">
                <a:latin typeface="Courier New" panose="02070309020205020404" pitchFamily="49" charset="0"/>
                <a:cs typeface="Courier New" panose="02070309020205020404" pitchFamily="49" charset="0"/>
              </a:rPr>
              <a:t>backend/app/services/</a:t>
            </a:r>
            <a:r>
              <a:rPr lang="en-US" dirty="0" err="1">
                <a:latin typeface="Courier New" panose="02070309020205020404" pitchFamily="49" charset="0"/>
                <a:cs typeface="Courier New" panose="02070309020205020404" pitchFamily="49" charset="0"/>
              </a:rPr>
              <a:t>agent_primitives</a:t>
            </a:r>
            <a:r>
              <a:rPr lang="en-US" dirty="0">
                <a:latin typeface="Courier New" panose="02070309020205020404" pitchFamily="49" charset="0"/>
                <a:cs typeface="Courier New" panose="02070309020205020404" pitchFamily="49" charset="0"/>
              </a:rPr>
              <a:t>/text_template.py</a:t>
            </a:r>
            <a:r>
              <a:rPr lang="en-US" dirty="0"/>
              <a:t>).</a:t>
            </a:r>
          </a:p>
          <a:p>
            <a:r>
              <a:rPr lang="en-US" dirty="0"/>
              <a:t>How it works:</a:t>
            </a:r>
          </a:p>
          <a:p>
            <a:pPr lvl="1"/>
            <a:r>
              <a:rPr lang="en-US" dirty="0"/>
              <a:t>The Branch Node: In the Smart Analysis Graph, there is a node of type </a:t>
            </a:r>
            <a:r>
              <a:rPr lang="en-US" dirty="0">
                <a:latin typeface="Courier New" panose="02070309020205020404" pitchFamily="49" charset="0"/>
                <a:cs typeface="Courier New" panose="02070309020205020404" pitchFamily="49" charset="0"/>
              </a:rPr>
              <a:t>TEXT_TEMPLATE</a:t>
            </a:r>
            <a:r>
              <a:rPr lang="en-US" dirty="0"/>
              <a:t>.</a:t>
            </a:r>
          </a:p>
          <a:p>
            <a:pPr lvl="1"/>
            <a:r>
              <a:rPr lang="en-US" dirty="0"/>
              <a:t>Parameters: This node accepts a </a:t>
            </a:r>
            <a:r>
              <a:rPr lang="en-US" dirty="0" err="1">
                <a:latin typeface="Courier New" panose="02070309020205020404" pitchFamily="49" charset="0"/>
                <a:cs typeface="Courier New" panose="02070309020205020404" pitchFamily="49" charset="0"/>
              </a:rPr>
              <a:t>template_id</a:t>
            </a:r>
            <a:r>
              <a:rPr lang="en-US" dirty="0">
                <a:latin typeface="Courier New" panose="02070309020205020404" pitchFamily="49" charset="0"/>
                <a:cs typeface="Courier New" panose="02070309020205020404" pitchFamily="49" charset="0"/>
              </a:rPr>
              <a:t> </a:t>
            </a:r>
            <a:r>
              <a:rPr lang="en-US" dirty="0"/>
              <a:t>parameter.</a:t>
            </a:r>
          </a:p>
          <a:p>
            <a:pPr lvl="1"/>
            <a:r>
              <a:rPr lang="en-US" dirty="0"/>
              <a:t>The Bridge: When executed, this primitive:</a:t>
            </a:r>
          </a:p>
          <a:p>
            <a:pPr lvl="2"/>
            <a:r>
              <a:rPr lang="en-US" dirty="0"/>
              <a:t>Imports the Template model (from </a:t>
            </a:r>
            <a:r>
              <a:rPr lang="en-US" dirty="0" err="1">
                <a:latin typeface="Courier New" panose="02070309020205020404" pitchFamily="49" charset="0"/>
                <a:cs typeface="Courier New" panose="02070309020205020404" pitchFamily="49" charset="0"/>
              </a:rPr>
              <a:t>template_service</a:t>
            </a:r>
            <a:r>
              <a:rPr lang="en-US" dirty="0"/>
              <a:t> domain).</a:t>
            </a:r>
          </a:p>
          <a:p>
            <a:pPr lvl="2"/>
            <a:r>
              <a:rPr lang="en-US" dirty="0"/>
              <a:t>Queries the database for the static Markdown/YAML template you created in the templates menu.</a:t>
            </a:r>
          </a:p>
          <a:p>
            <a:pPr lvl="2"/>
            <a:r>
              <a:rPr lang="en-US" dirty="0"/>
              <a:t>Fills it: It uses an LLM </a:t>
            </a:r>
            <a:r>
              <a:rPr lang="en-US" dirty="0">
                <a:latin typeface="Courier New" panose="02070309020205020404" pitchFamily="49" charset="0"/>
                <a:cs typeface="Courier New" panose="02070309020205020404" pitchFamily="49" charset="0"/>
              </a:rPr>
              <a:t>(_</a:t>
            </a:r>
            <a:r>
              <a:rPr lang="en-US" dirty="0" err="1">
                <a:latin typeface="Courier New" panose="02070309020205020404" pitchFamily="49" charset="0"/>
                <a:cs typeface="Courier New" panose="02070309020205020404" pitchFamily="49" charset="0"/>
              </a:rPr>
              <a:t>execute_semantic</a:t>
            </a:r>
            <a:r>
              <a:rPr lang="en-US" dirty="0"/>
              <a:t>) to intelligently replace the </a:t>
            </a:r>
            <a:r>
              <a:rPr lang="en-US" dirty="0">
                <a:latin typeface="Courier New" panose="02070309020205020404" pitchFamily="49" charset="0"/>
                <a:cs typeface="Courier New" panose="02070309020205020404" pitchFamily="49" charset="0"/>
              </a:rPr>
              <a:t>&lt;!-- INSTRUCTION --&gt; </a:t>
            </a:r>
            <a:r>
              <a:rPr lang="en-US" dirty="0"/>
              <a:t>blocks with the analysis data.</a:t>
            </a:r>
          </a:p>
          <a:p>
            <a:pPr lvl="1"/>
            <a:r>
              <a:rPr lang="en-US" dirty="0"/>
              <a:t>The Output: document_converter.py</a:t>
            </a:r>
          </a:p>
          <a:p>
            <a:pPr lvl="2"/>
            <a:r>
              <a:rPr lang="en-US" dirty="0"/>
              <a:t>After the template is filled (generating a populated Markdown string), the graph often branches to a </a:t>
            </a:r>
            <a:r>
              <a:rPr lang="en-US" dirty="0">
                <a:latin typeface="Courier New" panose="02070309020205020404" pitchFamily="49" charset="0"/>
                <a:cs typeface="Courier New" panose="02070309020205020404" pitchFamily="49" charset="0"/>
              </a:rPr>
              <a:t>DOCUMENT_CONVERTER </a:t>
            </a:r>
            <a:r>
              <a:rPr lang="en-US" dirty="0"/>
              <a:t>Primitive.</a:t>
            </a:r>
          </a:p>
          <a:p>
            <a:pPr lvl="2"/>
            <a:r>
              <a:rPr lang="en-US" dirty="0"/>
              <a:t>This primitive takes the populated Markdown.</a:t>
            </a:r>
          </a:p>
          <a:p>
            <a:pPr lvl="2"/>
            <a:r>
              <a:rPr lang="en-US" dirty="0"/>
              <a:t>It converts it to PDF, HTML, or DOCX for the final user download.</a:t>
            </a:r>
          </a:p>
          <a:p>
            <a:r>
              <a:rPr lang="en-US" dirty="0"/>
              <a:t>So the flow is: </a:t>
            </a:r>
            <a:r>
              <a:rPr lang="en-US" b="1" dirty="0"/>
              <a:t>Analysis Logic -&gt; Text Template Primitive</a:t>
            </a:r>
            <a:r>
              <a:rPr lang="en-US" dirty="0"/>
              <a:t> (loads static template) -&gt; </a:t>
            </a:r>
            <a:r>
              <a:rPr lang="en-US" b="1" dirty="0"/>
              <a:t>Document Converter -&gt; Final Report</a:t>
            </a:r>
            <a:r>
              <a:rPr lang="en-US" dirty="0"/>
              <a:t>.</a:t>
            </a:r>
          </a:p>
        </p:txBody>
      </p:sp>
    </p:spTree>
    <p:extLst>
      <p:ext uri="{BB962C8B-B14F-4D97-AF65-F5344CB8AC3E}">
        <p14:creationId xmlns:p14="http://schemas.microsoft.com/office/powerpoint/2010/main" val="3847353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4F2D5A-9353-268B-42F9-C05AD3977CFD}"/>
              </a:ext>
            </a:extLst>
          </p:cNvPr>
          <p:cNvSpPr>
            <a:spLocks noGrp="1"/>
          </p:cNvSpPr>
          <p:nvPr>
            <p:ph type="title"/>
          </p:nvPr>
        </p:nvSpPr>
        <p:spPr/>
        <p:txBody>
          <a:bodyPr/>
          <a:lstStyle/>
          <a:p>
            <a:r>
              <a:rPr lang="fr-FR" dirty="0"/>
              <a:t>Smart Document </a:t>
            </a:r>
            <a:r>
              <a:rPr lang="fr-FR" dirty="0" err="1"/>
              <a:t>Templates</a:t>
            </a:r>
            <a:r>
              <a:rPr lang="fr-FR" dirty="0"/>
              <a:t> – The Engine</a:t>
            </a:r>
            <a:endParaRPr lang="en-US" dirty="0"/>
          </a:p>
        </p:txBody>
      </p:sp>
      <p:sp>
        <p:nvSpPr>
          <p:cNvPr id="3" name="Espace réservé du contenu 2">
            <a:extLst>
              <a:ext uri="{FF2B5EF4-FFF2-40B4-BE49-F238E27FC236}">
                <a16:creationId xmlns:a16="http://schemas.microsoft.com/office/drawing/2014/main" id="{CA43AE44-EB73-ABE1-2E2D-A57F55FC2536}"/>
              </a:ext>
            </a:extLst>
          </p:cNvPr>
          <p:cNvSpPr>
            <a:spLocks noGrp="1"/>
          </p:cNvSpPr>
          <p:nvPr>
            <p:ph idx="1"/>
          </p:nvPr>
        </p:nvSpPr>
        <p:spPr>
          <a:xfrm>
            <a:off x="838200" y="1266825"/>
            <a:ext cx="8964312" cy="4781550"/>
          </a:xfrm>
        </p:spPr>
        <p:txBody>
          <a:bodyPr>
            <a:normAutofit fontScale="92500" lnSpcReduction="10000"/>
          </a:bodyPr>
          <a:lstStyle/>
          <a:p>
            <a:r>
              <a:rPr lang="en-US" sz="900" dirty="0"/>
              <a:t>1. The Planner Role (</a:t>
            </a:r>
            <a:r>
              <a:rPr lang="en-US" sz="900" dirty="0">
                <a:latin typeface="Courier New" panose="02070309020205020404" pitchFamily="49" charset="0"/>
                <a:cs typeface="Courier New" panose="02070309020205020404" pitchFamily="49" charset="0"/>
              </a:rPr>
              <a:t>planner.py</a:t>
            </a:r>
            <a:r>
              <a:rPr lang="en-US" sz="900" dirty="0"/>
              <a:t>)</a:t>
            </a:r>
          </a:p>
          <a:p>
            <a:pPr lvl="1"/>
            <a:r>
              <a:rPr lang="en-US" sz="800" b="1" dirty="0"/>
              <a:t>Step</a:t>
            </a:r>
            <a:r>
              <a:rPr lang="en-US" sz="800" dirty="0"/>
              <a:t>: The </a:t>
            </a:r>
            <a:r>
              <a:rPr lang="en-US" sz="800" dirty="0">
                <a:latin typeface="Courier New" panose="02070309020205020404" pitchFamily="49" charset="0"/>
                <a:cs typeface="Courier New" panose="02070309020205020404" pitchFamily="49" charset="0"/>
              </a:rPr>
              <a:t>PLANNER</a:t>
            </a:r>
            <a:r>
              <a:rPr lang="en-US" sz="800" dirty="0"/>
              <a:t> primitive starts first.</a:t>
            </a:r>
          </a:p>
          <a:p>
            <a:pPr lvl="1"/>
            <a:r>
              <a:rPr lang="en-US" sz="800" b="1" dirty="0"/>
              <a:t>Logic</a:t>
            </a:r>
            <a:r>
              <a:rPr lang="en-US" sz="800" dirty="0"/>
              <a:t>: It acts as a "Senior Research Planner". It reads your template and the source context, then breaks it down into a JSON list of granular "Research Sections" (e.g., "1. Executive Summary", "2.1 Market Analysis", "2.2 Risks").</a:t>
            </a:r>
          </a:p>
          <a:p>
            <a:pPr lvl="1"/>
            <a:r>
              <a:rPr lang="en-US" sz="800" b="1" dirty="0"/>
              <a:t>Role</a:t>
            </a:r>
            <a:r>
              <a:rPr lang="en-US" sz="800" dirty="0"/>
              <a:t>: Senior Research Planner (</a:t>
            </a:r>
            <a:r>
              <a:rPr lang="en-US" sz="800" dirty="0">
                <a:latin typeface="Courier New" panose="02070309020205020404" pitchFamily="49" charset="0"/>
                <a:cs typeface="Courier New" panose="02070309020205020404" pitchFamily="49" charset="0"/>
              </a:rPr>
              <a:t>planner.py</a:t>
            </a:r>
            <a:r>
              <a:rPr lang="en-US" sz="800" dirty="0"/>
              <a:t>) - It is purely strategic—it tells the system what to write, typically creating a </a:t>
            </a:r>
            <a:r>
              <a:rPr lang="en-US" sz="800" dirty="0" err="1">
                <a:latin typeface="Courier New" panose="02070309020205020404" pitchFamily="49" charset="0"/>
                <a:cs typeface="Courier New" panose="02070309020205020404" pitchFamily="49" charset="0"/>
              </a:rPr>
              <a:t>research_plan</a:t>
            </a:r>
            <a:r>
              <a:rPr lang="en-US" sz="800" dirty="0">
                <a:latin typeface="Courier New" panose="02070309020205020404" pitchFamily="49" charset="0"/>
                <a:cs typeface="Courier New" panose="02070309020205020404" pitchFamily="49" charset="0"/>
              </a:rPr>
              <a:t> </a:t>
            </a:r>
            <a:r>
              <a:rPr lang="en-US" sz="800" dirty="0"/>
              <a:t>variable.</a:t>
            </a:r>
          </a:p>
          <a:p>
            <a:pPr lvl="1"/>
            <a:r>
              <a:rPr lang="en-US" sz="800" b="1" dirty="0"/>
              <a:t>Output</a:t>
            </a:r>
            <a:r>
              <a:rPr lang="en-US" sz="800" dirty="0"/>
              <a:t>: A list of sections to write (e.g., </a:t>
            </a:r>
            <a:r>
              <a:rPr lang="en-US" sz="800" dirty="0">
                <a:latin typeface="Courier New" panose="02070309020205020404" pitchFamily="49" charset="0"/>
                <a:cs typeface="Courier New" panose="02070309020205020404" pitchFamily="49" charset="0"/>
              </a:rPr>
              <a:t>[Title: "Risk Analysis", Focus: "Identify top 3 risks"]</a:t>
            </a:r>
            <a:r>
              <a:rPr lang="en-US" sz="800" dirty="0"/>
              <a:t>).</a:t>
            </a:r>
          </a:p>
          <a:p>
            <a:r>
              <a:rPr lang="en-US" sz="900" dirty="0"/>
              <a:t>2. . The Worker (Writer)</a:t>
            </a:r>
          </a:p>
          <a:p>
            <a:pPr lvl="1"/>
            <a:r>
              <a:rPr lang="en-US" sz="800" b="1" dirty="0"/>
              <a:t>Role</a:t>
            </a:r>
            <a:r>
              <a:rPr lang="en-US" sz="800" dirty="0"/>
              <a:t>: Researcher / Drafter (executed via </a:t>
            </a:r>
            <a:r>
              <a:rPr lang="en-US" sz="800" dirty="0" err="1">
                <a:latin typeface="Courier New" panose="02070309020205020404" pitchFamily="49" charset="0"/>
                <a:cs typeface="Courier New" panose="02070309020205020404" pitchFamily="49" charset="0"/>
              </a:rPr>
              <a:t>ForEach</a:t>
            </a:r>
            <a:r>
              <a:rPr lang="en-US" sz="800" dirty="0"/>
              <a:t> loop)</a:t>
            </a:r>
          </a:p>
          <a:p>
            <a:pPr lvl="2"/>
            <a:r>
              <a:rPr lang="en-US" sz="700" dirty="0"/>
              <a:t>Inside the loop, a generic "Worker Agent" (or </a:t>
            </a:r>
            <a:r>
              <a:rPr lang="en-US" sz="700" dirty="0">
                <a:latin typeface="Courier New" panose="02070309020205020404" pitchFamily="49" charset="0"/>
                <a:cs typeface="Courier New" panose="02070309020205020404" pitchFamily="49" charset="0"/>
              </a:rPr>
              <a:t>TEXT_TEMPLATE </a:t>
            </a:r>
            <a:r>
              <a:rPr lang="en-US" sz="700" dirty="0"/>
              <a:t>in strict mode) executes each section individually. This means "2.1 Market Analysis" gets its own dedicated LLM call, focused solely on that topic.</a:t>
            </a:r>
          </a:p>
          <a:p>
            <a:pPr lvl="1"/>
            <a:r>
              <a:rPr lang="en-US" sz="800" b="1" dirty="0"/>
              <a:t>Action</a:t>
            </a:r>
            <a:r>
              <a:rPr lang="en-US" sz="800" dirty="0"/>
              <a:t>: Writes the initial draft for one specific section.</a:t>
            </a:r>
          </a:p>
          <a:p>
            <a:pPr lvl="1"/>
            <a:r>
              <a:rPr lang="en-US" sz="800" b="1" dirty="0"/>
              <a:t>Output</a:t>
            </a:r>
            <a:r>
              <a:rPr lang="en-US" sz="800" dirty="0"/>
              <a:t>: A Draft Markdown Segment.</a:t>
            </a:r>
          </a:p>
          <a:p>
            <a:pPr lvl="1"/>
            <a:r>
              <a:rPr lang="en-US" sz="800" dirty="0"/>
              <a:t>The Execution Loop (</a:t>
            </a:r>
            <a:r>
              <a:rPr lang="en-US" sz="800" dirty="0" err="1">
                <a:latin typeface="Courier New" panose="02070309020205020404" pitchFamily="49" charset="0"/>
                <a:cs typeface="Courier New" panose="02070309020205020404" pitchFamily="49" charset="0"/>
              </a:rPr>
              <a:t>ForEach</a:t>
            </a:r>
            <a:r>
              <a:rPr lang="en-US" sz="800" dirty="0"/>
              <a:t>)</a:t>
            </a:r>
          </a:p>
          <a:p>
            <a:pPr lvl="2"/>
            <a:r>
              <a:rPr lang="en-US" sz="700" b="1" dirty="0"/>
              <a:t>Step</a:t>
            </a:r>
            <a:r>
              <a:rPr lang="en-US" sz="700" dirty="0"/>
              <a:t>: The Graph usually enters a </a:t>
            </a:r>
            <a:r>
              <a:rPr lang="en-US" sz="700" dirty="0">
                <a:latin typeface="Courier New" panose="02070309020205020404" pitchFamily="49" charset="0"/>
                <a:cs typeface="Courier New" panose="02070309020205020404" pitchFamily="49" charset="0"/>
              </a:rPr>
              <a:t>FOREACH</a:t>
            </a:r>
            <a:r>
              <a:rPr lang="en-US" sz="700" dirty="0"/>
              <a:t> loop (handled dynamically by </a:t>
            </a:r>
            <a:r>
              <a:rPr lang="en-US" sz="700" dirty="0" err="1">
                <a:latin typeface="Courier New" panose="02070309020205020404" pitchFamily="49" charset="0"/>
                <a:cs typeface="Courier New" panose="02070309020205020404" pitchFamily="49" charset="0"/>
              </a:rPr>
              <a:t>AgentRuntime</a:t>
            </a:r>
            <a:r>
              <a:rPr lang="en-US" sz="700" dirty="0"/>
              <a:t> or a foreach primitive).</a:t>
            </a:r>
          </a:p>
          <a:p>
            <a:pPr lvl="2"/>
            <a:r>
              <a:rPr lang="en-US" sz="700" b="1" dirty="0"/>
              <a:t>Logic</a:t>
            </a:r>
            <a:r>
              <a:rPr lang="en-US" sz="700" dirty="0"/>
              <a:t>: It iterates over every item in the </a:t>
            </a:r>
            <a:r>
              <a:rPr lang="en-US" sz="700" dirty="0" err="1">
                <a:latin typeface="Courier New" panose="02070309020205020404" pitchFamily="49" charset="0"/>
                <a:cs typeface="Courier New" panose="02070309020205020404" pitchFamily="49" charset="0"/>
              </a:rPr>
              <a:t>research_plan</a:t>
            </a:r>
            <a:r>
              <a:rPr lang="en-US" sz="700" dirty="0"/>
              <a:t>.</a:t>
            </a:r>
          </a:p>
          <a:p>
            <a:r>
              <a:rPr lang="en-US" sz="900" dirty="0"/>
              <a:t>3. The Auditor (Quality Control)</a:t>
            </a:r>
          </a:p>
          <a:p>
            <a:pPr lvl="1"/>
            <a:r>
              <a:rPr lang="en-US" sz="800" b="1" dirty="0"/>
              <a:t>Role</a:t>
            </a:r>
            <a:r>
              <a:rPr lang="en-US" sz="800" dirty="0"/>
              <a:t>: Strict Quality Auditor (</a:t>
            </a:r>
            <a:r>
              <a:rPr lang="en-US" sz="800" dirty="0">
                <a:latin typeface="Courier New" panose="02070309020205020404" pitchFamily="49" charset="0"/>
                <a:cs typeface="Courier New" panose="02070309020205020404" pitchFamily="49" charset="0"/>
              </a:rPr>
              <a:t>auditor.py</a:t>
            </a:r>
            <a:r>
              <a:rPr lang="en-US" sz="800" dirty="0"/>
              <a:t>)</a:t>
            </a:r>
          </a:p>
          <a:p>
            <a:pPr lvl="1"/>
            <a:r>
              <a:rPr lang="en-US" sz="800" b="1" dirty="0"/>
              <a:t>Action</a:t>
            </a:r>
            <a:r>
              <a:rPr lang="en-US" sz="800" dirty="0"/>
              <a:t>: It reads the Draft Segment and compares it against the Original Template requirements.</a:t>
            </a:r>
          </a:p>
          <a:p>
            <a:pPr lvl="1"/>
            <a:r>
              <a:rPr lang="en-US" sz="800" b="1" dirty="0"/>
              <a:t>Decision</a:t>
            </a:r>
            <a:r>
              <a:rPr lang="en-US" sz="800" dirty="0"/>
              <a:t>: It outputs a structured JSON assessment: {"status": "approved" | "rejected", "critique": "..."}.</a:t>
            </a:r>
          </a:p>
          <a:p>
            <a:pPr lvl="1"/>
            <a:r>
              <a:rPr lang="en-US" sz="800" b="1" dirty="0"/>
              <a:t>Example Critique</a:t>
            </a:r>
            <a:r>
              <a:rPr lang="en-US" sz="800" dirty="0"/>
              <a:t>: "The section fails to mention 'Financial Risks' as required by the template.“</a:t>
            </a:r>
          </a:p>
          <a:p>
            <a:r>
              <a:rPr lang="en-US" sz="900" dirty="0"/>
              <a:t>4. The Refiner (Editor) - Conditional Step</a:t>
            </a:r>
          </a:p>
          <a:p>
            <a:pPr lvl="1"/>
            <a:r>
              <a:rPr lang="en-US" sz="800" b="1" dirty="0"/>
              <a:t>Role</a:t>
            </a:r>
            <a:r>
              <a:rPr lang="en-US" sz="800" dirty="0"/>
              <a:t>: Senior Editor (</a:t>
            </a:r>
            <a:r>
              <a:rPr lang="en-US" sz="800" dirty="0">
                <a:latin typeface="Courier New" panose="02070309020205020404" pitchFamily="49" charset="0"/>
                <a:cs typeface="Courier New" panose="02070309020205020404" pitchFamily="49" charset="0"/>
              </a:rPr>
              <a:t>refiner.py</a:t>
            </a:r>
            <a:r>
              <a:rPr lang="en-US" sz="800" dirty="0"/>
              <a:t>)</a:t>
            </a:r>
          </a:p>
          <a:p>
            <a:pPr lvl="1"/>
            <a:r>
              <a:rPr lang="en-US" sz="800" b="1" dirty="0"/>
              <a:t>Trigger</a:t>
            </a:r>
            <a:r>
              <a:rPr lang="en-US" sz="800" dirty="0"/>
              <a:t>: This step ONLY runs if the Auditor returns "status": "rejected".</a:t>
            </a:r>
          </a:p>
          <a:p>
            <a:pPr lvl="1"/>
            <a:r>
              <a:rPr lang="en-US" sz="800" b="1" dirty="0"/>
              <a:t>Action</a:t>
            </a:r>
            <a:r>
              <a:rPr lang="en-US" sz="800" dirty="0"/>
              <a:t>: It takes the Draft, the Critique, and the Source Context, and Rewrites the section to fix the identified issues.</a:t>
            </a:r>
          </a:p>
          <a:p>
            <a:pPr lvl="1"/>
            <a:r>
              <a:rPr lang="en-US" sz="800" b="1" dirty="0"/>
              <a:t>Output</a:t>
            </a:r>
            <a:r>
              <a:rPr lang="en-US" sz="800" dirty="0"/>
              <a:t>: A Polished Markdown Segment.</a:t>
            </a:r>
          </a:p>
          <a:p>
            <a:r>
              <a:rPr lang="en-US" sz="900" dirty="0"/>
              <a:t>5. The Compiler (</a:t>
            </a:r>
            <a:r>
              <a:rPr lang="en-US" sz="900" dirty="0">
                <a:latin typeface="Courier New" panose="02070309020205020404" pitchFamily="49" charset="0"/>
                <a:cs typeface="Courier New" panose="02070309020205020404" pitchFamily="49" charset="0"/>
              </a:rPr>
              <a:t>compiler.py</a:t>
            </a:r>
            <a:r>
              <a:rPr lang="en-US" sz="900" dirty="0"/>
              <a:t>)</a:t>
            </a:r>
          </a:p>
          <a:p>
            <a:pPr lvl="1"/>
            <a:r>
              <a:rPr lang="en-US" sz="800" b="1" dirty="0"/>
              <a:t>Step</a:t>
            </a:r>
            <a:r>
              <a:rPr lang="en-US" sz="800" dirty="0"/>
              <a:t>: Once all loop iterations are done.</a:t>
            </a:r>
          </a:p>
          <a:p>
            <a:pPr lvl="1"/>
            <a:r>
              <a:rPr lang="en-US" sz="800" b="1" dirty="0"/>
              <a:t>Logic</a:t>
            </a:r>
            <a:r>
              <a:rPr lang="en-US" sz="800" dirty="0"/>
              <a:t>: The </a:t>
            </a:r>
            <a:r>
              <a:rPr lang="en-US" sz="800" dirty="0">
                <a:latin typeface="Courier New" panose="02070309020205020404" pitchFamily="49" charset="0"/>
                <a:cs typeface="Courier New" panose="02070309020205020404" pitchFamily="49" charset="0"/>
              </a:rPr>
              <a:t>COMPILER</a:t>
            </a:r>
            <a:r>
              <a:rPr lang="en-US" sz="800" dirty="0"/>
              <a:t> primitive takes the list of generated section texts and the original </a:t>
            </a:r>
            <a:r>
              <a:rPr lang="en-US" sz="800" dirty="0" err="1">
                <a:latin typeface="Courier New" panose="02070309020205020404" pitchFamily="49" charset="0"/>
                <a:cs typeface="Courier New" panose="02070309020205020404" pitchFamily="49" charset="0"/>
              </a:rPr>
              <a:t>research_plan</a:t>
            </a:r>
            <a:r>
              <a:rPr lang="en-US" sz="800" dirty="0"/>
              <a:t>.</a:t>
            </a:r>
          </a:p>
          <a:p>
            <a:pPr lvl="1"/>
            <a:r>
              <a:rPr lang="en-US" sz="800" b="1" dirty="0"/>
              <a:t>Role</a:t>
            </a:r>
            <a:r>
              <a:rPr lang="en-US" sz="800" dirty="0"/>
              <a:t>: It acts as the "Editor". It stitches the sections back together, ensuring the headers match the original plan (e.g., </a:t>
            </a:r>
            <a:r>
              <a:rPr lang="en-US" sz="800" dirty="0">
                <a:latin typeface="Courier New" panose="02070309020205020404" pitchFamily="49" charset="0"/>
                <a:cs typeface="Courier New" panose="02070309020205020404" pitchFamily="49" charset="0"/>
              </a:rPr>
              <a:t>## 1. Executive Summary</a:t>
            </a:r>
            <a:r>
              <a:rPr lang="en-US" sz="800" dirty="0"/>
              <a:t>), and produces the final </a:t>
            </a:r>
            <a:r>
              <a:rPr lang="en-US" sz="800" dirty="0" err="1">
                <a:latin typeface="Courier New" panose="02070309020205020404" pitchFamily="49" charset="0"/>
                <a:cs typeface="Courier New" panose="02070309020205020404" pitchFamily="49" charset="0"/>
              </a:rPr>
              <a:t>compiled_document</a:t>
            </a:r>
            <a:r>
              <a:rPr lang="en-US" sz="800" dirty="0"/>
              <a:t>.</a:t>
            </a:r>
          </a:p>
          <a:p>
            <a:r>
              <a:rPr lang="en-US" sz="900" dirty="0"/>
              <a:t>This "</a:t>
            </a:r>
            <a:r>
              <a:rPr lang="en-US" sz="900" b="1" dirty="0"/>
              <a:t>Map-Reduce</a:t>
            </a:r>
            <a:r>
              <a:rPr lang="en-US" sz="900" dirty="0"/>
              <a:t>" style architecture allows the system to generate very long, detailed reports that wouldn't fit in a single LLM call.</a:t>
            </a:r>
          </a:p>
        </p:txBody>
      </p:sp>
      <p:sp>
        <p:nvSpPr>
          <p:cNvPr id="5" name="ZoneTexte 4">
            <a:extLst>
              <a:ext uri="{FF2B5EF4-FFF2-40B4-BE49-F238E27FC236}">
                <a16:creationId xmlns:a16="http://schemas.microsoft.com/office/drawing/2014/main" id="{D54E2166-5469-7747-6525-935ED2AE2485}"/>
              </a:ext>
            </a:extLst>
          </p:cNvPr>
          <p:cNvSpPr txBox="1"/>
          <p:nvPr/>
        </p:nvSpPr>
        <p:spPr>
          <a:xfrm>
            <a:off x="9802512" y="1157747"/>
            <a:ext cx="2333882" cy="1077218"/>
          </a:xfrm>
          <a:prstGeom prst="rect">
            <a:avLst/>
          </a:prstGeom>
          <a:noFill/>
        </p:spPr>
        <p:txBody>
          <a:bodyPr wrap="square">
            <a:spAutoFit/>
          </a:bodyPr>
          <a:lstStyle/>
          <a:p>
            <a:pPr algn="l"/>
            <a:r>
              <a:rPr lang="en-US" sz="800" b="1" i="0" dirty="0">
                <a:solidFill>
                  <a:schemeClr val="accent1">
                    <a:lumMod val="75000"/>
                  </a:schemeClr>
                </a:solidFill>
                <a:effectLst/>
                <a:latin typeface="Segoe WPC"/>
              </a:rPr>
              <a:t>Summary of Actors</a:t>
            </a:r>
          </a:p>
          <a:p>
            <a:pPr marL="171450" indent="-171450" algn="l">
              <a:buFont typeface="Arial" panose="020B0604020202020204" pitchFamily="34" charset="0"/>
              <a:buChar char="•"/>
            </a:pPr>
            <a:r>
              <a:rPr lang="en-US" sz="800" b="1" i="0" dirty="0">
                <a:solidFill>
                  <a:schemeClr val="accent1">
                    <a:lumMod val="75000"/>
                  </a:schemeClr>
                </a:solidFill>
                <a:effectLst/>
                <a:latin typeface="Segoe WPC"/>
              </a:rPr>
              <a:t>Planner</a:t>
            </a:r>
            <a:r>
              <a:rPr lang="en-US" sz="800" b="0" i="0" dirty="0">
                <a:solidFill>
                  <a:schemeClr val="accent1">
                    <a:lumMod val="75000"/>
                  </a:schemeClr>
                </a:solidFill>
                <a:effectLst/>
                <a:latin typeface="Segoe WPC"/>
              </a:rPr>
              <a:t>: "Here is the table of contents."</a:t>
            </a:r>
          </a:p>
          <a:p>
            <a:pPr marL="171450" indent="-171450" algn="l">
              <a:buFont typeface="Arial" panose="020B0604020202020204" pitchFamily="34" charset="0"/>
              <a:buChar char="•"/>
            </a:pPr>
            <a:r>
              <a:rPr lang="en-US" sz="800" b="1" i="0" dirty="0">
                <a:solidFill>
                  <a:schemeClr val="accent1">
                    <a:lumMod val="75000"/>
                  </a:schemeClr>
                </a:solidFill>
                <a:effectLst/>
                <a:latin typeface="Segoe WPC"/>
              </a:rPr>
              <a:t>Worker</a:t>
            </a:r>
            <a:r>
              <a:rPr lang="en-US" sz="800" b="0" i="0" dirty="0">
                <a:solidFill>
                  <a:schemeClr val="accent1">
                    <a:lumMod val="75000"/>
                  </a:schemeClr>
                </a:solidFill>
                <a:effectLst/>
                <a:latin typeface="Segoe WPC"/>
              </a:rPr>
              <a:t>: "Here is a draft of Chapter 1."</a:t>
            </a:r>
          </a:p>
          <a:p>
            <a:pPr marL="171450" indent="-171450" algn="l">
              <a:buFont typeface="Arial" panose="020B0604020202020204" pitchFamily="34" charset="0"/>
              <a:buChar char="•"/>
            </a:pPr>
            <a:r>
              <a:rPr lang="en-US" sz="800" b="1" i="0" dirty="0">
                <a:solidFill>
                  <a:schemeClr val="accent1">
                    <a:lumMod val="75000"/>
                  </a:schemeClr>
                </a:solidFill>
                <a:effectLst/>
                <a:latin typeface="Segoe WPC"/>
              </a:rPr>
              <a:t>Auditor</a:t>
            </a:r>
            <a:r>
              <a:rPr lang="en-US" sz="800" b="0" i="0" dirty="0">
                <a:solidFill>
                  <a:schemeClr val="accent1">
                    <a:lumMod val="75000"/>
                  </a:schemeClr>
                </a:solidFill>
                <a:effectLst/>
                <a:latin typeface="Segoe WPC"/>
              </a:rPr>
              <a:t>: "Chapter 1 is missing X and Y. Rejected."</a:t>
            </a:r>
          </a:p>
          <a:p>
            <a:pPr marL="171450" indent="-171450" algn="l">
              <a:buFont typeface="Arial" panose="020B0604020202020204" pitchFamily="34" charset="0"/>
              <a:buChar char="•"/>
            </a:pPr>
            <a:r>
              <a:rPr lang="en-US" sz="800" b="1" i="0" dirty="0">
                <a:solidFill>
                  <a:schemeClr val="accent1">
                    <a:lumMod val="75000"/>
                  </a:schemeClr>
                </a:solidFill>
                <a:effectLst/>
                <a:latin typeface="Segoe WPC"/>
              </a:rPr>
              <a:t>Refiner</a:t>
            </a:r>
            <a:r>
              <a:rPr lang="en-US" sz="800" b="0" i="0" dirty="0">
                <a:solidFill>
                  <a:schemeClr val="accent1">
                    <a:lumMod val="75000"/>
                  </a:schemeClr>
                </a:solidFill>
                <a:effectLst/>
                <a:latin typeface="Segoe WPC"/>
              </a:rPr>
              <a:t>: "I have fixed Chapter 1 based on feedback."</a:t>
            </a:r>
          </a:p>
          <a:p>
            <a:pPr marL="171450" indent="-171450" algn="l">
              <a:buFont typeface="Arial" panose="020B0604020202020204" pitchFamily="34" charset="0"/>
              <a:buChar char="•"/>
            </a:pPr>
            <a:r>
              <a:rPr lang="en-US" sz="800" b="1" i="0" dirty="0">
                <a:solidFill>
                  <a:schemeClr val="accent1">
                    <a:lumMod val="75000"/>
                  </a:schemeClr>
                </a:solidFill>
                <a:effectLst/>
                <a:latin typeface="Segoe WPC"/>
              </a:rPr>
              <a:t>Compiler</a:t>
            </a:r>
            <a:r>
              <a:rPr lang="en-US" sz="800" b="0" i="0" dirty="0">
                <a:solidFill>
                  <a:schemeClr val="accent1">
                    <a:lumMod val="75000"/>
                  </a:schemeClr>
                </a:solidFill>
                <a:effectLst/>
                <a:latin typeface="Segoe WPC"/>
              </a:rPr>
              <a:t>: "I am assembling the final PDF."</a:t>
            </a:r>
          </a:p>
        </p:txBody>
      </p:sp>
    </p:spTree>
    <p:extLst>
      <p:ext uri="{BB962C8B-B14F-4D97-AF65-F5344CB8AC3E}">
        <p14:creationId xmlns:p14="http://schemas.microsoft.com/office/powerpoint/2010/main" val="359682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E73FA2E-5577-AB94-AA70-16F64CB6E865}"/>
              </a:ext>
            </a:extLst>
          </p:cNvPr>
          <p:cNvSpPr>
            <a:spLocks noGrp="1"/>
          </p:cNvSpPr>
          <p:nvPr>
            <p:ph type="title"/>
          </p:nvPr>
        </p:nvSpPr>
        <p:spPr/>
        <p:txBody>
          <a:bodyPr/>
          <a:lstStyle/>
          <a:p>
            <a:r>
              <a:rPr lang="fr-FR" dirty="0" err="1"/>
              <a:t>Archimate</a:t>
            </a:r>
            <a:r>
              <a:rPr lang="fr-FR" dirty="0"/>
              <a:t> Tool</a:t>
            </a:r>
            <a:endParaRPr lang="en-US" dirty="0"/>
          </a:p>
        </p:txBody>
      </p:sp>
      <p:sp>
        <p:nvSpPr>
          <p:cNvPr id="4" name="Espace réservé du contenu 3">
            <a:extLst>
              <a:ext uri="{FF2B5EF4-FFF2-40B4-BE49-F238E27FC236}">
                <a16:creationId xmlns:a16="http://schemas.microsoft.com/office/drawing/2014/main" id="{656E0388-845D-C42D-62C0-0766B338ECC9}"/>
              </a:ext>
            </a:extLst>
          </p:cNvPr>
          <p:cNvSpPr>
            <a:spLocks noGrp="1"/>
          </p:cNvSpPr>
          <p:nvPr>
            <p:ph idx="1"/>
          </p:nvPr>
        </p:nvSpPr>
        <p:spPr/>
        <p:txBody>
          <a:bodyPr>
            <a:normAutofit fontScale="47500" lnSpcReduction="20000"/>
          </a:bodyPr>
          <a:lstStyle/>
          <a:p>
            <a:pPr marL="0" indent="0">
              <a:buNone/>
            </a:pPr>
            <a:r>
              <a:rPr lang="en-US" b="1" dirty="0"/>
              <a:t>Overview</a:t>
            </a:r>
          </a:p>
          <a:p>
            <a:r>
              <a:rPr lang="en-US" dirty="0"/>
              <a:t>The ArchiMate Importer is a widget located in the right-side panel designed to bridge Enterprise Architecture tools (like Archi) with the Semantic Canvas. It allows you to "Drag &amp; Drop" an ArchiMate Model Exchange File (.xml) to instantly generate interactive diagrams.</a:t>
            </a:r>
          </a:p>
          <a:p>
            <a:pPr marL="0" indent="0">
              <a:buNone/>
            </a:pPr>
            <a:r>
              <a:rPr lang="en-US" b="1" dirty="0"/>
              <a:t>Key Characteristics</a:t>
            </a:r>
          </a:p>
          <a:p>
            <a:r>
              <a:rPr lang="en-US" dirty="0"/>
              <a:t>Standard Compliance:</a:t>
            </a:r>
          </a:p>
          <a:p>
            <a:pPr lvl="1"/>
            <a:r>
              <a:rPr lang="en-US" dirty="0"/>
              <a:t>Fully supports The Open Group ArchiMate Model Exchange File Format.</a:t>
            </a:r>
          </a:p>
          <a:p>
            <a:pPr lvl="1"/>
            <a:r>
              <a:rPr lang="en-US" dirty="0"/>
              <a:t>Parses Elements, Relationships, and Views (Diagrams), handling XML namespaces and folder structures.</a:t>
            </a:r>
          </a:p>
          <a:p>
            <a:r>
              <a:rPr lang="en-US" dirty="0"/>
              <a:t>Intelligent Mapping:</a:t>
            </a:r>
          </a:p>
          <a:p>
            <a:pPr lvl="1"/>
            <a:r>
              <a:rPr lang="en-US" dirty="0"/>
              <a:t>Elements: Converts ArchiMate concepts (Business Actor, Application Component, etc.) into Semantic Canvas Things (Type: </a:t>
            </a:r>
            <a:r>
              <a:rPr lang="en-US" dirty="0" err="1"/>
              <a:t>archimate_element</a:t>
            </a:r>
            <a:r>
              <a:rPr lang="en-US" dirty="0"/>
              <a:t>).</a:t>
            </a:r>
          </a:p>
          <a:p>
            <a:pPr lvl="1"/>
            <a:r>
              <a:rPr lang="en-US" dirty="0"/>
              <a:t>Relationships: Semantically maps ArchiMate connectors to Canvas links:</a:t>
            </a:r>
          </a:p>
          <a:p>
            <a:pPr lvl="2"/>
            <a:r>
              <a:rPr lang="en-US" dirty="0"/>
              <a:t>Composition/Aggregation → contains</a:t>
            </a:r>
          </a:p>
          <a:p>
            <a:pPr lvl="2"/>
            <a:r>
              <a:rPr lang="en-US" dirty="0"/>
              <a:t>Triggering/Flow → triggers</a:t>
            </a:r>
          </a:p>
          <a:p>
            <a:pPr lvl="2"/>
            <a:r>
              <a:rPr lang="en-US" dirty="0"/>
              <a:t>Realization → </a:t>
            </a:r>
            <a:r>
              <a:rPr lang="en-US" dirty="0" err="1"/>
              <a:t>derived_from</a:t>
            </a:r>
            <a:endParaRPr lang="en-US" dirty="0"/>
          </a:p>
          <a:p>
            <a:pPr lvl="2"/>
            <a:r>
              <a:rPr lang="en-US" dirty="0"/>
              <a:t>Access → references</a:t>
            </a:r>
          </a:p>
          <a:p>
            <a:r>
              <a:rPr lang="en-US" dirty="0"/>
              <a:t>Flexible Import Models:</a:t>
            </a:r>
          </a:p>
          <a:p>
            <a:pPr lvl="1"/>
            <a:r>
              <a:rPr lang="en-US" b="1" dirty="0"/>
              <a:t>Single View Import: </a:t>
            </a:r>
            <a:r>
              <a:rPr lang="en-US" dirty="0"/>
              <a:t>Select a specific diagram from your model to reconstruct it exactly as it was drawn.</a:t>
            </a:r>
          </a:p>
          <a:p>
            <a:pPr lvl="1"/>
            <a:r>
              <a:rPr lang="en-US" dirty="0"/>
              <a:t>"</a:t>
            </a:r>
            <a:r>
              <a:rPr lang="en-US" b="1" dirty="0"/>
              <a:t>Import All Views</a:t>
            </a:r>
            <a:r>
              <a:rPr lang="en-US" dirty="0"/>
              <a:t>": Stacks every diagram in the model vertically on the canvas for a complete overview.</a:t>
            </a:r>
          </a:p>
          <a:p>
            <a:pPr lvl="1"/>
            <a:r>
              <a:rPr lang="en-US" dirty="0"/>
              <a:t>"</a:t>
            </a:r>
            <a:r>
              <a:rPr lang="en-US" b="1" dirty="0"/>
              <a:t>Import All Elements</a:t>
            </a:r>
            <a:r>
              <a:rPr lang="en-US" dirty="0"/>
              <a:t>": detailed grid layout of every single element and relationship in the model (useful for raw data analysis).</a:t>
            </a:r>
          </a:p>
          <a:p>
            <a:r>
              <a:rPr lang="en-US" dirty="0"/>
              <a:t>Visual Fidelity:</a:t>
            </a:r>
          </a:p>
          <a:p>
            <a:pPr lvl="1"/>
            <a:r>
              <a:rPr lang="en-US" dirty="0"/>
              <a:t>Preserves the original X/Y coordinates and dimensions (scaled for readability).</a:t>
            </a:r>
          </a:p>
          <a:p>
            <a:pPr lvl="1"/>
            <a:r>
              <a:rPr lang="en-US" dirty="0"/>
              <a:t>Reconstructs the graph topology using the underlying React Flow engine.</a:t>
            </a:r>
          </a:p>
          <a:p>
            <a:r>
              <a:rPr lang="en-US" dirty="0"/>
              <a:t>(Implemented in </a:t>
            </a:r>
            <a:r>
              <a:rPr lang="en-US" dirty="0" err="1">
                <a:latin typeface="Courier New" panose="02070309020205020404" pitchFamily="49" charset="0"/>
                <a:cs typeface="Courier New" panose="02070309020205020404" pitchFamily="49" charset="0"/>
              </a:rPr>
              <a:t>archimate</a:t>
            </a:r>
            <a:r>
              <a:rPr lang="en-US" dirty="0">
                <a:latin typeface="Courier New" panose="02070309020205020404" pitchFamily="49" charset="0"/>
                <a:cs typeface="Courier New" panose="02070309020205020404" pitchFamily="49" charset="0"/>
              </a:rPr>
              <a:t>-tool-</a:t>
            </a:r>
            <a:r>
              <a:rPr lang="en-US" dirty="0" err="1">
                <a:latin typeface="Courier New" panose="02070309020205020404" pitchFamily="49" charset="0"/>
                <a:cs typeface="Courier New" panose="02070309020205020404" pitchFamily="49" charset="0"/>
              </a:rPr>
              <a:t>viewer.tsx</a:t>
            </a:r>
            <a:r>
              <a:rPr lang="en-US" dirty="0"/>
              <a:t>)</a:t>
            </a:r>
          </a:p>
        </p:txBody>
      </p:sp>
    </p:spTree>
    <p:extLst>
      <p:ext uri="{BB962C8B-B14F-4D97-AF65-F5344CB8AC3E}">
        <p14:creationId xmlns:p14="http://schemas.microsoft.com/office/powerpoint/2010/main" val="1810202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52B545-1280-6C1A-1D99-C9C41BF6BE50}"/>
              </a:ext>
            </a:extLst>
          </p:cNvPr>
          <p:cNvSpPr>
            <a:spLocks noGrp="1"/>
          </p:cNvSpPr>
          <p:nvPr>
            <p:ph type="title"/>
          </p:nvPr>
        </p:nvSpPr>
        <p:spPr/>
        <p:txBody>
          <a:bodyPr/>
          <a:lstStyle/>
          <a:p>
            <a:r>
              <a:rPr lang="fr-FR" dirty="0" err="1"/>
              <a:t>Archimate</a:t>
            </a:r>
            <a:r>
              <a:rPr lang="fr-FR" dirty="0"/>
              <a:t> Tool – </a:t>
            </a:r>
            <a:r>
              <a:rPr lang="fr-FR" dirty="0" err="1"/>
              <a:t>What</a:t>
            </a:r>
            <a:r>
              <a:rPr lang="fr-FR" dirty="0"/>
              <a:t> </a:t>
            </a:r>
            <a:r>
              <a:rPr lang="fr-FR" dirty="0" err="1"/>
              <a:t>is</a:t>
            </a:r>
            <a:r>
              <a:rPr lang="fr-FR" dirty="0"/>
              <a:t> </a:t>
            </a:r>
            <a:r>
              <a:rPr lang="fr-FR" dirty="0" err="1"/>
              <a:t>missing</a:t>
            </a:r>
            <a:r>
              <a:rPr lang="fr-FR" dirty="0"/>
              <a:t> 1/2</a:t>
            </a:r>
            <a:endParaRPr lang="en-US" dirty="0"/>
          </a:p>
        </p:txBody>
      </p:sp>
      <p:sp>
        <p:nvSpPr>
          <p:cNvPr id="3" name="Espace réservé du contenu 2">
            <a:extLst>
              <a:ext uri="{FF2B5EF4-FFF2-40B4-BE49-F238E27FC236}">
                <a16:creationId xmlns:a16="http://schemas.microsoft.com/office/drawing/2014/main" id="{19ED5B78-0931-DCFD-C930-5643B4C1D943}"/>
              </a:ext>
            </a:extLst>
          </p:cNvPr>
          <p:cNvSpPr>
            <a:spLocks noGrp="1"/>
          </p:cNvSpPr>
          <p:nvPr>
            <p:ph idx="1"/>
          </p:nvPr>
        </p:nvSpPr>
        <p:spPr/>
        <p:txBody>
          <a:bodyPr>
            <a:normAutofit fontScale="47500" lnSpcReduction="20000"/>
          </a:bodyPr>
          <a:lstStyle/>
          <a:p>
            <a:r>
              <a:rPr lang="en-US" dirty="0"/>
              <a:t>1. Visual Containment (Grouping)</a:t>
            </a:r>
          </a:p>
          <a:p>
            <a:pPr lvl="1"/>
            <a:r>
              <a:rPr lang="en-US" b="1" dirty="0"/>
              <a:t>Gap</a:t>
            </a:r>
            <a:r>
              <a:rPr lang="en-US" dirty="0"/>
              <a:t>: While the importer calculates the correct positions, the nodes remain independent "siblings" on the canvas. Moving a "Parent" (like a Grouping or Location) does not automatically move the elements inside it.</a:t>
            </a:r>
          </a:p>
          <a:p>
            <a:pPr lvl="1"/>
            <a:r>
              <a:rPr lang="en-US" b="1" dirty="0"/>
              <a:t>Consequence </a:t>
            </a:r>
            <a:r>
              <a:rPr lang="en-US" dirty="0"/>
              <a:t>: We do not have a true visual nesting where elements are "children" of their container, allowing you to drag the container and carry its contents with it.</a:t>
            </a:r>
          </a:p>
          <a:p>
            <a:r>
              <a:rPr lang="en-US" dirty="0"/>
              <a:t>2. Standard ArchiMate Connectors (Visual Fidelity)</a:t>
            </a:r>
          </a:p>
          <a:p>
            <a:pPr lvl="1"/>
            <a:r>
              <a:rPr lang="en-US" b="1" dirty="0"/>
              <a:t>Gap</a:t>
            </a:r>
            <a:r>
              <a:rPr lang="en-US" dirty="0"/>
              <a:t>: The tool semantically maps relationships (e.g., Composition -&gt; contains), but visually they all render as standard Arrows.</a:t>
            </a:r>
          </a:p>
          <a:p>
            <a:pPr lvl="1"/>
            <a:r>
              <a:rPr lang="en-US" b="1" dirty="0"/>
              <a:t>Consequence </a:t>
            </a:r>
            <a:r>
              <a:rPr lang="en-US" dirty="0"/>
              <a:t>: The specific line markers defined by the ArchiMate standard are not displayed:</a:t>
            </a:r>
          </a:p>
          <a:p>
            <a:pPr lvl="2"/>
            <a:r>
              <a:rPr lang="en-US" dirty="0"/>
              <a:t>Composition: Solid line with a Filled Diamond.</a:t>
            </a:r>
          </a:p>
          <a:p>
            <a:pPr lvl="2"/>
            <a:r>
              <a:rPr lang="en-US" dirty="0"/>
              <a:t>Aggregation: Solid line with an Empty Diamond.</a:t>
            </a:r>
          </a:p>
          <a:p>
            <a:pPr lvl="2"/>
            <a:r>
              <a:rPr lang="en-US" dirty="0"/>
              <a:t>Realization: Dashed line with a closed arrow.</a:t>
            </a:r>
          </a:p>
          <a:p>
            <a:pPr lvl="2"/>
            <a:r>
              <a:rPr lang="en-US" dirty="0"/>
              <a:t>Access: Dotted line.</a:t>
            </a:r>
          </a:p>
          <a:p>
            <a:r>
              <a:rPr lang="en-US" dirty="0"/>
              <a:t>3. Edge Routing (</a:t>
            </a:r>
            <a:r>
              <a:rPr lang="en-US" dirty="0" err="1"/>
              <a:t>Bendpoints</a:t>
            </a:r>
            <a:r>
              <a:rPr lang="en-US" dirty="0"/>
              <a:t>)</a:t>
            </a:r>
          </a:p>
          <a:p>
            <a:pPr lvl="1"/>
            <a:r>
              <a:rPr lang="en-US" b="1" dirty="0"/>
              <a:t>Gap</a:t>
            </a:r>
            <a:r>
              <a:rPr lang="en-US" dirty="0"/>
              <a:t>: ArchiMate views often define specific "waypoints" (</a:t>
            </a:r>
            <a:r>
              <a:rPr lang="en-US" dirty="0" err="1"/>
              <a:t>bendpoints</a:t>
            </a:r>
            <a:r>
              <a:rPr lang="en-US" dirty="0"/>
              <a:t>) for lines to route around objects perfectly.</a:t>
            </a:r>
          </a:p>
          <a:p>
            <a:pPr lvl="1"/>
            <a:r>
              <a:rPr lang="en-US" b="1" dirty="0"/>
              <a:t>Consequence </a:t>
            </a:r>
            <a:r>
              <a:rPr lang="en-US" dirty="0"/>
              <a:t>: The importer currently draws direct lines between nodes, ignoring the custom routing paths defined in the XML.</a:t>
            </a:r>
          </a:p>
          <a:p>
            <a:r>
              <a:rPr lang="en-US" dirty="0"/>
              <a:t>4. Derived References</a:t>
            </a:r>
          </a:p>
          <a:p>
            <a:pPr lvl="1"/>
            <a:r>
              <a:rPr lang="en-US" b="1" dirty="0"/>
              <a:t>Gap</a:t>
            </a:r>
            <a:r>
              <a:rPr lang="en-US" dirty="0"/>
              <a:t>: In ArchiMate, a relationship between two nested elements often implies a relationship between their parents.</a:t>
            </a:r>
          </a:p>
          <a:p>
            <a:pPr lvl="1"/>
            <a:r>
              <a:rPr lang="en-US" b="1" dirty="0"/>
              <a:t>Consequence </a:t>
            </a:r>
            <a:r>
              <a:rPr lang="en-US" dirty="0"/>
              <a:t>: Automatic inference or visualization of these derived relationships is not visible (though this is more advanced behavior).</a:t>
            </a:r>
          </a:p>
          <a:p>
            <a:r>
              <a:rPr lang="en-US" dirty="0"/>
              <a:t>5. Lack of "Model Repository" &amp; Shared Elements (The "Duplicate" Problem)</a:t>
            </a:r>
          </a:p>
          <a:p>
            <a:pPr lvl="1"/>
            <a:r>
              <a:rPr lang="en-US" b="1" dirty="0"/>
              <a:t>Issue</a:t>
            </a:r>
            <a:r>
              <a:rPr lang="en-US" dirty="0"/>
              <a:t>: In a real ArchiMate model, "Customer" is one single object that might appear in 5 different diagrams.</a:t>
            </a:r>
          </a:p>
          <a:p>
            <a:pPr lvl="1"/>
            <a:r>
              <a:rPr lang="en-US" b="1" dirty="0"/>
              <a:t>Gap</a:t>
            </a:r>
            <a:r>
              <a:rPr lang="en-US" dirty="0"/>
              <a:t>: The current importer treats every View as a separate island. If you import "View A" and then "View B", and both contain "Customer", the Canvas will create two separate "Customer" nodes.</a:t>
            </a:r>
          </a:p>
          <a:p>
            <a:pPr lvl="1"/>
            <a:r>
              <a:rPr lang="en-US" b="1" dirty="0"/>
              <a:t>Consequence</a:t>
            </a:r>
            <a:r>
              <a:rPr lang="en-US" dirty="0"/>
              <a:t>: You lose the interconnectedness of the architecture. You cannot click "Customer" and see all its relationships across the entire enterprise.</a:t>
            </a:r>
          </a:p>
          <a:p>
            <a:endParaRPr lang="en-US" dirty="0"/>
          </a:p>
        </p:txBody>
      </p:sp>
    </p:spTree>
    <p:extLst>
      <p:ext uri="{BB962C8B-B14F-4D97-AF65-F5344CB8AC3E}">
        <p14:creationId xmlns:p14="http://schemas.microsoft.com/office/powerpoint/2010/main" val="2854045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B9198E-32C1-F88E-15B8-A36593353337}"/>
              </a:ext>
            </a:extLst>
          </p:cNvPr>
          <p:cNvSpPr>
            <a:spLocks noGrp="1"/>
          </p:cNvSpPr>
          <p:nvPr>
            <p:ph type="title"/>
          </p:nvPr>
        </p:nvSpPr>
        <p:spPr/>
        <p:txBody>
          <a:bodyPr/>
          <a:lstStyle/>
          <a:p>
            <a:r>
              <a:rPr lang="fr-FR" dirty="0" err="1"/>
              <a:t>Archimate</a:t>
            </a:r>
            <a:r>
              <a:rPr lang="fr-FR" dirty="0"/>
              <a:t> Tool – </a:t>
            </a:r>
            <a:r>
              <a:rPr lang="fr-FR" dirty="0" err="1"/>
              <a:t>What</a:t>
            </a:r>
            <a:r>
              <a:rPr lang="fr-FR" dirty="0"/>
              <a:t> </a:t>
            </a:r>
            <a:r>
              <a:rPr lang="fr-FR" dirty="0" err="1"/>
              <a:t>is</a:t>
            </a:r>
            <a:r>
              <a:rPr lang="fr-FR" dirty="0"/>
              <a:t> </a:t>
            </a:r>
            <a:r>
              <a:rPr lang="fr-FR" dirty="0" err="1"/>
              <a:t>missing</a:t>
            </a:r>
            <a:r>
              <a:rPr lang="fr-FR" dirty="0"/>
              <a:t> 2/2</a:t>
            </a:r>
            <a:endParaRPr lang="en-US" dirty="0"/>
          </a:p>
        </p:txBody>
      </p:sp>
      <p:sp>
        <p:nvSpPr>
          <p:cNvPr id="3" name="Espace réservé du contenu 2">
            <a:extLst>
              <a:ext uri="{FF2B5EF4-FFF2-40B4-BE49-F238E27FC236}">
                <a16:creationId xmlns:a16="http://schemas.microsoft.com/office/drawing/2014/main" id="{4CB11AA5-7DD2-254D-CC2A-41ADFCD7D99F}"/>
              </a:ext>
            </a:extLst>
          </p:cNvPr>
          <p:cNvSpPr>
            <a:spLocks noGrp="1"/>
          </p:cNvSpPr>
          <p:nvPr>
            <p:ph idx="1"/>
          </p:nvPr>
        </p:nvSpPr>
        <p:spPr/>
        <p:txBody>
          <a:bodyPr>
            <a:normAutofit fontScale="62500" lnSpcReduction="20000"/>
          </a:bodyPr>
          <a:lstStyle/>
          <a:p>
            <a:r>
              <a:rPr lang="en-US" dirty="0"/>
              <a:t>6. No "Update/Merge" Capability (Idempotency)</a:t>
            </a:r>
          </a:p>
          <a:p>
            <a:pPr lvl="1"/>
            <a:r>
              <a:rPr lang="en-US" b="1" dirty="0"/>
              <a:t>Issue</a:t>
            </a:r>
            <a:r>
              <a:rPr lang="en-US" dirty="0"/>
              <a:t>: Architecture models evolve. You will update the original .</a:t>
            </a:r>
            <a:r>
              <a:rPr lang="en-US" dirty="0" err="1"/>
              <a:t>archimate</a:t>
            </a:r>
            <a:r>
              <a:rPr lang="en-US" dirty="0"/>
              <a:t> file next week.</a:t>
            </a:r>
          </a:p>
          <a:p>
            <a:pPr lvl="1"/>
            <a:r>
              <a:rPr lang="en-US" b="1" dirty="0"/>
              <a:t>Gap</a:t>
            </a:r>
            <a:r>
              <a:rPr lang="en-US" dirty="0"/>
              <a:t>: If you upload the updated file, the tool blindly creates new nodes. It does not check if Node_ID_123 already exists on the canvas to update its properties or position.</a:t>
            </a:r>
          </a:p>
          <a:p>
            <a:pPr lvl="1"/>
            <a:r>
              <a:rPr lang="en-US" b="1" dirty="0"/>
              <a:t>Consequence</a:t>
            </a:r>
            <a:r>
              <a:rPr lang="en-US" dirty="0"/>
              <a:t>: You cannot maintain a living diagram. You have to delete everything and re-import each time, losing any annotations or manual layout adjustments you made in the Canvas.</a:t>
            </a:r>
          </a:p>
          <a:p>
            <a:r>
              <a:rPr lang="en-US" dirty="0"/>
              <a:t>7. Data Loss (Properties &amp; Documentation)</a:t>
            </a:r>
          </a:p>
          <a:p>
            <a:pPr lvl="1"/>
            <a:r>
              <a:rPr lang="en-US" b="1" dirty="0"/>
              <a:t>Issue</a:t>
            </a:r>
            <a:r>
              <a:rPr lang="en-US" dirty="0"/>
              <a:t>: ArchiMate elements are rich containers. They hold descriptions, rationale, and custom properties (e.g., "Cost", "Owner", "Status").</a:t>
            </a:r>
          </a:p>
          <a:p>
            <a:pPr lvl="1"/>
            <a:r>
              <a:rPr lang="en-US" b="1" dirty="0"/>
              <a:t>Gap</a:t>
            </a:r>
            <a:r>
              <a:rPr lang="en-US" dirty="0"/>
              <a:t>: The parser currently only extracts Name and Type. It ignores the &lt;documentation&gt; tag and any &lt;property&gt; tags in the XML.</a:t>
            </a:r>
          </a:p>
          <a:p>
            <a:pPr lvl="1"/>
            <a:r>
              <a:rPr lang="en-US" b="1" dirty="0"/>
              <a:t>Consequence</a:t>
            </a:r>
            <a:r>
              <a:rPr lang="en-US" dirty="0"/>
              <a:t>: The diagram is just a shallow picture. The "Semantic" part of "Semantic Canvas" is severely underutilized because the deep context is thrown away during import.</a:t>
            </a:r>
          </a:p>
          <a:p>
            <a:r>
              <a:rPr lang="en-US" dirty="0"/>
              <a:t>8. One-Way Street (No Round-Trip)</a:t>
            </a:r>
          </a:p>
          <a:p>
            <a:pPr lvl="1"/>
            <a:r>
              <a:rPr lang="en-US" b="1" dirty="0"/>
              <a:t>Issue</a:t>
            </a:r>
            <a:r>
              <a:rPr lang="en-US" dirty="0"/>
              <a:t>: You might want to use the Canvas to brainstorm or refactor your architecture using the AI agents.</a:t>
            </a:r>
          </a:p>
          <a:p>
            <a:pPr lvl="1"/>
            <a:r>
              <a:rPr lang="en-US" b="1" dirty="0"/>
              <a:t>Current</a:t>
            </a:r>
            <a:r>
              <a:rPr lang="en-US" dirty="0"/>
              <a:t> Gap: There is no "Export to ArchiMate XML". Any changes, new nodes, or AI-generated suggestions made on the Canvas cannot be sent back to your master interface Architecture tool (like Archi).</a:t>
            </a:r>
          </a:p>
          <a:p>
            <a:r>
              <a:rPr lang="en-US" dirty="0"/>
              <a:t>9. Fragmented Relationship Logic</a:t>
            </a:r>
          </a:p>
          <a:p>
            <a:pPr lvl="1"/>
            <a:r>
              <a:rPr lang="en-US" b="1" dirty="0"/>
              <a:t>Issue</a:t>
            </a:r>
            <a:r>
              <a:rPr lang="en-US" dirty="0"/>
              <a:t>: In ArchiMate, relationships exist between Elements, not View Nodes.</a:t>
            </a:r>
          </a:p>
          <a:p>
            <a:pPr lvl="1"/>
            <a:r>
              <a:rPr lang="en-US" b="1" dirty="0"/>
              <a:t>Current</a:t>
            </a:r>
            <a:r>
              <a:rPr lang="en-US" dirty="0"/>
              <a:t> Gap: If Application A talks to Database B in the model, but they don't appear on the same view together in the XML, the importer might never create that link, even if both elements are present on your canvas from different imports. The "Global Truth" of the model is lost.</a:t>
            </a:r>
          </a:p>
        </p:txBody>
      </p:sp>
    </p:spTree>
    <p:extLst>
      <p:ext uri="{BB962C8B-B14F-4D97-AF65-F5344CB8AC3E}">
        <p14:creationId xmlns:p14="http://schemas.microsoft.com/office/powerpoint/2010/main" val="3394611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A979D14-8974-0670-9B57-B7BFC7B3EC19}"/>
              </a:ext>
            </a:extLst>
          </p:cNvPr>
          <p:cNvSpPr>
            <a:spLocks noGrp="1"/>
          </p:cNvSpPr>
          <p:nvPr>
            <p:ph type="title"/>
          </p:nvPr>
        </p:nvSpPr>
        <p:spPr/>
        <p:txBody>
          <a:bodyPr/>
          <a:lstStyle/>
          <a:p>
            <a:r>
              <a:rPr lang="fr-FR" dirty="0"/>
              <a:t>RAG Process</a:t>
            </a:r>
            <a:endParaRPr lang="en-US" dirty="0"/>
          </a:p>
        </p:txBody>
      </p:sp>
      <p:sp>
        <p:nvSpPr>
          <p:cNvPr id="5" name="Espace réservé du texte 4">
            <a:extLst>
              <a:ext uri="{FF2B5EF4-FFF2-40B4-BE49-F238E27FC236}">
                <a16:creationId xmlns:a16="http://schemas.microsoft.com/office/drawing/2014/main" id="{DBF43096-6D03-814F-78D6-24AF5ADBBF5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43602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3ED2F8-88B4-452B-3879-E6FAE1F66A89}"/>
              </a:ext>
            </a:extLst>
          </p:cNvPr>
          <p:cNvSpPr>
            <a:spLocks noGrp="1"/>
          </p:cNvSpPr>
          <p:nvPr>
            <p:ph type="title"/>
          </p:nvPr>
        </p:nvSpPr>
        <p:spPr/>
        <p:txBody>
          <a:bodyPr/>
          <a:lstStyle/>
          <a:p>
            <a:r>
              <a:rPr lang="fr-FR" dirty="0"/>
              <a:t>RAG Process - Ingestion</a:t>
            </a:r>
            <a:endParaRPr lang="en-US" dirty="0"/>
          </a:p>
        </p:txBody>
      </p:sp>
      <p:sp>
        <p:nvSpPr>
          <p:cNvPr id="3" name="Espace réservé du contenu 2">
            <a:extLst>
              <a:ext uri="{FF2B5EF4-FFF2-40B4-BE49-F238E27FC236}">
                <a16:creationId xmlns:a16="http://schemas.microsoft.com/office/drawing/2014/main" id="{6988C78E-0609-D064-758D-3C935A1F9A8A}"/>
              </a:ext>
            </a:extLst>
          </p:cNvPr>
          <p:cNvSpPr>
            <a:spLocks noGrp="1"/>
          </p:cNvSpPr>
          <p:nvPr>
            <p:ph idx="1"/>
          </p:nvPr>
        </p:nvSpPr>
        <p:spPr/>
        <p:txBody>
          <a:bodyPr/>
          <a:lstStyle/>
          <a:p>
            <a:r>
              <a:rPr lang="en-US" dirty="0"/>
              <a:t>Modules: llama-index-core (Ingestion Pipeline), </a:t>
            </a:r>
            <a:r>
              <a:rPr lang="en-US" dirty="0" err="1"/>
              <a:t>OllamaEmbedding</a:t>
            </a:r>
            <a:r>
              <a:rPr lang="en-US" dirty="0"/>
              <a:t> (or OpenAI), </a:t>
            </a:r>
            <a:r>
              <a:rPr lang="en-US" dirty="0" err="1"/>
              <a:t>SentenceSplitter</a:t>
            </a:r>
            <a:r>
              <a:rPr lang="en-US" dirty="0"/>
              <a:t>.</a:t>
            </a:r>
          </a:p>
          <a:p>
            <a:r>
              <a:rPr lang="en-US" dirty="0"/>
              <a:t>Process:</a:t>
            </a:r>
          </a:p>
          <a:p>
            <a:pPr lvl="1"/>
            <a:r>
              <a:rPr lang="en-US" dirty="0"/>
              <a:t>Files (PDF, DOCX, TXT) are read and parsed.</a:t>
            </a:r>
          </a:p>
          <a:p>
            <a:pPr lvl="1"/>
            <a:r>
              <a:rPr lang="en-US" dirty="0"/>
              <a:t>Text is chunked into smaller pieces (e.g., 512 tokens).</a:t>
            </a:r>
          </a:p>
          <a:p>
            <a:pPr lvl="1"/>
            <a:r>
              <a:rPr lang="en-US" dirty="0"/>
              <a:t>Chunks are converted into vector embeddings using the configured model (default: nomic-embed-text via </a:t>
            </a:r>
            <a:r>
              <a:rPr lang="en-US" dirty="0" err="1"/>
              <a:t>Ollama</a:t>
            </a:r>
            <a:r>
              <a:rPr lang="en-US" dirty="0"/>
              <a:t>).</a:t>
            </a:r>
          </a:p>
          <a:p>
            <a:pPr lvl="1"/>
            <a:r>
              <a:rPr lang="en-US" dirty="0"/>
              <a:t>Vectors are stored in </a:t>
            </a:r>
            <a:r>
              <a:rPr lang="en-US" dirty="0" err="1"/>
              <a:t>ChromaDB</a:t>
            </a:r>
            <a:r>
              <a:rPr lang="en-US" dirty="0"/>
              <a:t> (Persistent Vector Store).</a:t>
            </a:r>
          </a:p>
        </p:txBody>
      </p:sp>
    </p:spTree>
    <p:extLst>
      <p:ext uri="{BB962C8B-B14F-4D97-AF65-F5344CB8AC3E}">
        <p14:creationId xmlns:p14="http://schemas.microsoft.com/office/powerpoint/2010/main" val="1698589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EF0844-B7EB-3114-329F-C54694E3DD11}"/>
              </a:ext>
            </a:extLst>
          </p:cNvPr>
          <p:cNvSpPr>
            <a:spLocks noGrp="1"/>
          </p:cNvSpPr>
          <p:nvPr>
            <p:ph type="title"/>
          </p:nvPr>
        </p:nvSpPr>
        <p:spPr/>
        <p:txBody>
          <a:bodyPr/>
          <a:lstStyle/>
          <a:p>
            <a:r>
              <a:rPr lang="fr-FR" dirty="0"/>
              <a:t>RAG Process - </a:t>
            </a:r>
            <a:r>
              <a:rPr lang="fr-FR" dirty="0" err="1"/>
              <a:t>Retrieval</a:t>
            </a:r>
            <a:endParaRPr lang="en-US" dirty="0"/>
          </a:p>
        </p:txBody>
      </p:sp>
      <p:sp>
        <p:nvSpPr>
          <p:cNvPr id="3" name="Espace réservé du contenu 2">
            <a:extLst>
              <a:ext uri="{FF2B5EF4-FFF2-40B4-BE49-F238E27FC236}">
                <a16:creationId xmlns:a16="http://schemas.microsoft.com/office/drawing/2014/main" id="{2398AB79-4DE9-10E4-C41A-1FB6BB686ACE}"/>
              </a:ext>
            </a:extLst>
          </p:cNvPr>
          <p:cNvSpPr>
            <a:spLocks noGrp="1"/>
          </p:cNvSpPr>
          <p:nvPr>
            <p:ph idx="1"/>
          </p:nvPr>
        </p:nvSpPr>
        <p:spPr/>
        <p:txBody>
          <a:bodyPr/>
          <a:lstStyle/>
          <a:p>
            <a:r>
              <a:rPr lang="en-US" dirty="0"/>
              <a:t>Modules: </a:t>
            </a:r>
            <a:r>
              <a:rPr lang="en-US" dirty="0" err="1"/>
              <a:t>VectorStoreIndex</a:t>
            </a:r>
            <a:r>
              <a:rPr lang="en-US" dirty="0"/>
              <a:t>, Retriever, </a:t>
            </a:r>
            <a:r>
              <a:rPr lang="en-US" dirty="0" err="1"/>
              <a:t>MetadataFilters</a:t>
            </a:r>
            <a:r>
              <a:rPr lang="en-US" dirty="0"/>
              <a:t>.</a:t>
            </a:r>
          </a:p>
          <a:p>
            <a:r>
              <a:rPr lang="en-US" dirty="0"/>
              <a:t>Process:</a:t>
            </a:r>
          </a:p>
          <a:p>
            <a:pPr lvl="1"/>
            <a:r>
              <a:rPr lang="en-US" dirty="0"/>
              <a:t>The user's query is embedded into a vector.</a:t>
            </a:r>
          </a:p>
          <a:p>
            <a:pPr lvl="1"/>
            <a:r>
              <a:rPr lang="en-US" dirty="0"/>
              <a:t>The system searches </a:t>
            </a:r>
            <a:r>
              <a:rPr lang="en-US" dirty="0" err="1"/>
              <a:t>ChromaDB</a:t>
            </a:r>
            <a:r>
              <a:rPr lang="en-US" dirty="0"/>
              <a:t> for the top K most similar chunks.</a:t>
            </a:r>
          </a:p>
          <a:p>
            <a:pPr lvl="1"/>
            <a:r>
              <a:rPr lang="en-US" dirty="0"/>
              <a:t>Post-Processing: The retrieved nodes are refined using configured modules (e.g., </a:t>
            </a:r>
            <a:r>
              <a:rPr lang="en-US" dirty="0" err="1"/>
              <a:t>CohereRerank</a:t>
            </a:r>
            <a:r>
              <a:rPr lang="en-US" dirty="0"/>
              <a:t>, </a:t>
            </a:r>
            <a:r>
              <a:rPr lang="en-US" dirty="0" err="1"/>
              <a:t>SimilarityCutoff</a:t>
            </a:r>
            <a:r>
              <a:rPr lang="en-US" dirty="0"/>
              <a:t>, </a:t>
            </a:r>
            <a:r>
              <a:rPr lang="en-US" dirty="0" err="1"/>
              <a:t>KeywordFilter</a:t>
            </a:r>
            <a:r>
              <a:rPr lang="en-US" dirty="0"/>
              <a:t>) to improve relevance vs. noise.</a:t>
            </a:r>
          </a:p>
        </p:txBody>
      </p:sp>
    </p:spTree>
    <p:extLst>
      <p:ext uri="{BB962C8B-B14F-4D97-AF65-F5344CB8AC3E}">
        <p14:creationId xmlns:p14="http://schemas.microsoft.com/office/powerpoint/2010/main" val="622363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5B8B83-502D-4E38-272C-32140420F41A}"/>
              </a:ext>
            </a:extLst>
          </p:cNvPr>
          <p:cNvSpPr>
            <a:spLocks noGrp="1"/>
          </p:cNvSpPr>
          <p:nvPr>
            <p:ph type="title"/>
          </p:nvPr>
        </p:nvSpPr>
        <p:spPr/>
        <p:txBody>
          <a:bodyPr/>
          <a:lstStyle/>
          <a:p>
            <a:r>
              <a:rPr lang="fr-FR" dirty="0"/>
              <a:t>RAG Process – </a:t>
            </a:r>
            <a:r>
              <a:rPr lang="fr-FR" dirty="0" err="1"/>
              <a:t>Answer</a:t>
            </a:r>
            <a:r>
              <a:rPr lang="fr-FR" dirty="0"/>
              <a:t> </a:t>
            </a:r>
            <a:r>
              <a:rPr lang="fr-FR" dirty="0" err="1"/>
              <a:t>generation</a:t>
            </a:r>
            <a:endParaRPr lang="en-US" dirty="0"/>
          </a:p>
        </p:txBody>
      </p:sp>
      <p:sp>
        <p:nvSpPr>
          <p:cNvPr id="3" name="Espace réservé du contenu 2">
            <a:extLst>
              <a:ext uri="{FF2B5EF4-FFF2-40B4-BE49-F238E27FC236}">
                <a16:creationId xmlns:a16="http://schemas.microsoft.com/office/drawing/2014/main" id="{05A9666A-B322-A419-E5C6-530A4224A127}"/>
              </a:ext>
            </a:extLst>
          </p:cNvPr>
          <p:cNvSpPr>
            <a:spLocks noGrp="1"/>
          </p:cNvSpPr>
          <p:nvPr>
            <p:ph idx="1"/>
          </p:nvPr>
        </p:nvSpPr>
        <p:spPr/>
        <p:txBody>
          <a:bodyPr/>
          <a:lstStyle/>
          <a:p>
            <a:r>
              <a:rPr lang="en-US" dirty="0"/>
              <a:t>Modules: </a:t>
            </a:r>
            <a:r>
              <a:rPr lang="en-US" dirty="0" err="1"/>
              <a:t>ResponseSynthesizer</a:t>
            </a:r>
            <a:r>
              <a:rPr lang="en-US" dirty="0"/>
              <a:t> (Simple, Tree Summarize, Refine).</a:t>
            </a:r>
          </a:p>
          <a:p>
            <a:r>
              <a:rPr lang="en-US" dirty="0"/>
              <a:t>Process:</a:t>
            </a:r>
          </a:p>
          <a:p>
            <a:pPr lvl="1"/>
            <a:r>
              <a:rPr lang="en-US" dirty="0"/>
              <a:t>"Simple" Mode (default for Chat): The retrieved chunks are concatenated into a string and injected into the System Prompt. The LLM then answers based on this context. This is fast and preserves the chat history.</a:t>
            </a:r>
          </a:p>
          <a:p>
            <a:pPr lvl="1"/>
            <a:r>
              <a:rPr lang="en-US" dirty="0"/>
              <a:t>"Tree Summarize" / "Refine" (Knowledge Base only): If configured, the retrieval step performs its own mini-LLM calls to summarize or refine the answer before returning it to the chat. This is slower but handles very large contexts better.</a:t>
            </a:r>
          </a:p>
        </p:txBody>
      </p:sp>
    </p:spTree>
    <p:extLst>
      <p:ext uri="{BB962C8B-B14F-4D97-AF65-F5344CB8AC3E}">
        <p14:creationId xmlns:p14="http://schemas.microsoft.com/office/powerpoint/2010/main" val="3100490481"/>
      </p:ext>
    </p:extLst>
  </p:cSld>
  <p:clrMapOvr>
    <a:masterClrMapping/>
  </p:clrMapOvr>
</p:sld>
</file>

<file path=ppt/theme/theme1.xml><?xml version="1.0" encoding="utf-8"?>
<a:theme xmlns:a="http://schemas.openxmlformats.org/drawingml/2006/main" name="The Intelligent Semantic Workbench">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servative" id="{0C7A4E6F-F984-4F66-911F-CD095E19336D}" vid="{8A23C2B8-F788-4BB9-B2F4-F3AE32D6E7AC}"/>
    </a:ext>
  </a:extLst>
</a:theme>
</file>

<file path=docProps/app.xml><?xml version="1.0" encoding="utf-8"?>
<Properties xmlns="http://schemas.openxmlformats.org/officeDocument/2006/extended-properties" xmlns:vt="http://schemas.openxmlformats.org/officeDocument/2006/docPropsVTypes">
  <Template>The Intelligent Semantic Workbench</Template>
  <TotalTime>144</TotalTime>
  <Words>2393</Words>
  <Application>Microsoft Office PowerPoint</Application>
  <PresentationFormat>Grand écran</PresentationFormat>
  <Paragraphs>146</Paragraphs>
  <Slides>10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Arial</vt:lpstr>
      <vt:lpstr>Calibri</vt:lpstr>
      <vt:lpstr>Courier New</vt:lpstr>
      <vt:lpstr>Segoe WPC</vt:lpstr>
      <vt:lpstr>Wingdings</vt:lpstr>
      <vt:lpstr>The Intelligent Semantic Workbench</vt:lpstr>
      <vt:lpstr>Smart Analysis</vt:lpstr>
      <vt:lpstr>Smart Document Templates – Starting execution from Smart Analysis</vt:lpstr>
      <vt:lpstr>Smart Document Templates – The Engine</vt:lpstr>
      <vt:lpstr>Archimate Tool</vt:lpstr>
      <vt:lpstr>Archimate Tool – What is missing 1/2</vt:lpstr>
      <vt:lpstr>Archimate Tool – What is missing 2/2</vt:lpstr>
      <vt:lpstr>RAG Process</vt:lpstr>
      <vt:lpstr>RAG Process - Ingestion</vt:lpstr>
      <vt:lpstr>RAG Process - Retrieval</vt:lpstr>
      <vt:lpstr>RAG Process – Answer generation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olivier polette</dc:creator>
  <cp:lastModifiedBy>olivier polette</cp:lastModifiedBy>
  <cp:revision>6</cp:revision>
  <dcterms:created xsi:type="dcterms:W3CDTF">2026-01-26T07:18:20Z</dcterms:created>
  <dcterms:modified xsi:type="dcterms:W3CDTF">2026-01-26T09:42:49Z</dcterms:modified>
</cp:coreProperties>
</file>