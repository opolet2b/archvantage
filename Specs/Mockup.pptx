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260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6F92D2-0A7F-BB02-1A68-8F407CCBC0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C314995-7CE0-7846-C96B-BC1B0313B7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80F3A61-6756-55C2-4254-0F268EFAC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C393F-B997-4CF7-AD25-2687C8CBC838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C8EDBFE-BAF5-EA8A-2B27-2C045576F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7F2636F-F1C5-A273-0EE3-EA640C210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B7867-48F6-453A-B550-2009496B228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756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7F84A9-F860-D845-0081-233D04B68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D7E7687-766D-5A86-CB33-54F262619D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5CEBDEB-FC63-E68A-E560-C15D2569C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C393F-B997-4CF7-AD25-2687C8CBC838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5B6326F-6F58-EFB4-6B39-0B2B18D4D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932AE8D-2137-768C-1B31-89E137C41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B7867-48F6-453A-B550-2009496B228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032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8E786D-85E1-5237-B35F-54518D9D4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C7EAF94-A99B-52E4-78E9-DBA40AC58A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8BC3A90-17F0-A1DA-CFF8-6C15F9B80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C393F-B997-4CF7-AD25-2687C8CBC838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00FBD92-87C4-F3EF-0E2C-4DD60807E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CD00832-AD96-CAAF-BE5C-03B4B80ED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B7867-48F6-453A-B550-2009496B228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848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7D5ED6-0AAE-419F-317C-EE400D844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5FCB9E8-2870-B433-8D29-E0C19931D9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F6F78DB-7AD8-D1FA-7E51-55DC55A3ED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A285B78-352A-99FA-E624-C1AF4FC60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C393F-B997-4CF7-AD25-2687C8CBC838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D061D83-EEF3-BD6C-3E22-6873D12DD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EADD808-5EFD-997E-FAA2-ED3E677B1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B7867-48F6-453A-B550-2009496B228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030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0E278B-7567-E4CD-6D15-4B058DECB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924F263-DA12-8281-C4FF-F5CBB9DC07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885C40D-6595-908B-2558-D969D3B19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FF16660-ADF0-154A-65AA-A35194F6A1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3A15EFF-5C77-C265-4E4C-6802275057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CD7E6046-D226-15A4-AD6E-53ED96D67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C393F-B997-4CF7-AD25-2687C8CBC838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B1762C0-9AAD-C3FF-489B-85098CFE5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4BA1D93-22D3-BC22-4E36-6D56474DB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B7867-48F6-453A-B550-2009496B228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951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2D47F3-1885-7FC6-9ED3-8F08D309D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1F87B17-941A-A51D-9C6A-037209A75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C393F-B997-4CF7-AD25-2687C8CBC838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DF3F309-2306-1936-E4DE-D0E86710E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7283486-D8AA-9335-B020-665B51A8E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B7867-48F6-453A-B550-2009496B228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543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9746494-0F11-E49D-E618-67CBD0152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C393F-B997-4CF7-AD25-2687C8CBC838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10413D4-02B9-18C2-6D9D-DD759324C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2A0F854-FA29-7128-2BEA-799B4D4F3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B7867-48F6-453A-B550-2009496B228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895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2DD3B7-1DA8-D276-EA40-4C3BECFCA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537D3AA-01D4-891F-6EFB-D030A73A23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0FC96EA-448C-FA2D-64D0-7C2F95FEB8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A137C6B-68ED-B9B4-DE6C-C94373210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C393F-B997-4CF7-AD25-2687C8CBC838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75AC750-AE02-AD17-798C-5A615B3FC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599F665-798D-147C-0BFF-ACBC8454A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B7867-48F6-453A-B550-2009496B228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624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5A34AC-925F-A20A-73D2-EFA5DB0CA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48B64513-C17E-3B70-DB96-FA1C391258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10895F3-6F5D-B20F-C1B0-E27B569485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48D4CCA-9F93-1BCE-9501-E60DF5DD5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C393F-B997-4CF7-AD25-2687C8CBC838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775FDD8-FF2B-CD86-4CF7-A95823158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A5C5699-C0DF-3184-3459-F8FD5838F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B7867-48F6-453A-B550-2009496B228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510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A60897-34AA-CC29-9448-0981F5206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AC69C8A-BD86-A209-CB37-02A5E2B88F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7CB17AC-5482-86BF-0DBD-773B561A0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C393F-B997-4CF7-AD25-2687C8CBC838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7AAC54A-9373-7624-B42F-7FFEBAFAB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C83B5BF-23B3-DAA9-8328-8FE623E44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B7867-48F6-453A-B550-2009496B228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413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E66AD25-2434-511C-7FBA-64711F2831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FA0FF18-1B99-235A-3306-3416878541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56DB99C-E03E-31D4-CE7D-8D36B0CE6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C393F-B997-4CF7-AD25-2687C8CBC838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8970D8B-4904-1299-F3BE-650102AED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3E77F04-F9DF-6C53-6392-ACA955458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B7867-48F6-453A-B550-2009496B228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831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A9D4C2A-BE4B-F9E6-6DD7-E9E0638BC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F1F66A2-AB63-0D29-55C8-00AAC28B13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BDE3948-1127-A4DE-D5D7-7225E9AAA9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8C393F-B997-4CF7-AD25-2687C8CBC838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D72A19A-37FC-FE48-18C8-0B0881D858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6EFC042-F603-576E-20A5-E06885A59E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0B7867-48F6-453A-B550-2009496B228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768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49EE5C-B344-BC24-772A-915E4AB4BACC}"/>
              </a:ext>
            </a:extLst>
          </p:cNvPr>
          <p:cNvSpPr/>
          <p:nvPr/>
        </p:nvSpPr>
        <p:spPr>
          <a:xfrm>
            <a:off x="1686697" y="1037967"/>
            <a:ext cx="1705233" cy="512187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400" dirty="0"/>
              <a:t>Agents</a:t>
            </a:r>
            <a:endParaRPr lang="en-US" sz="14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701CF18-9999-FFF2-CC3E-ADF85BBE4F81}"/>
              </a:ext>
            </a:extLst>
          </p:cNvPr>
          <p:cNvSpPr txBox="1"/>
          <p:nvPr/>
        </p:nvSpPr>
        <p:spPr>
          <a:xfrm>
            <a:off x="3083832" y="103796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+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9A40012-CB0A-45D7-E1CC-B99D1C4218C9}"/>
              </a:ext>
            </a:extLst>
          </p:cNvPr>
          <p:cNvSpPr txBox="1"/>
          <p:nvPr/>
        </p:nvSpPr>
        <p:spPr>
          <a:xfrm>
            <a:off x="1686697" y="1612556"/>
            <a:ext cx="7637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>
                <a:solidFill>
                  <a:schemeClr val="bg1"/>
                </a:solidFill>
              </a:rPr>
              <a:t>Agent 1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F052A174-6FFD-D2F8-39A2-CD74ACC40506}"/>
              </a:ext>
            </a:extLst>
          </p:cNvPr>
          <p:cNvSpPr txBox="1"/>
          <p:nvPr/>
        </p:nvSpPr>
        <p:spPr>
          <a:xfrm>
            <a:off x="1686697" y="1920333"/>
            <a:ext cx="7637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>
                <a:solidFill>
                  <a:schemeClr val="bg1"/>
                </a:solidFill>
              </a:rPr>
              <a:t>Agent 2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E0DA8575-862D-EC0E-C14D-C3823342DE88}"/>
              </a:ext>
            </a:extLst>
          </p:cNvPr>
          <p:cNvSpPr txBox="1"/>
          <p:nvPr/>
        </p:nvSpPr>
        <p:spPr>
          <a:xfrm>
            <a:off x="1686697" y="2238182"/>
            <a:ext cx="7637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>
                <a:solidFill>
                  <a:schemeClr val="bg1"/>
                </a:solidFill>
              </a:rPr>
              <a:t>Agent 3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1BEA2F49-4B03-5372-418F-E5EAB0936A24}"/>
              </a:ext>
            </a:extLst>
          </p:cNvPr>
          <p:cNvSpPr txBox="1"/>
          <p:nvPr/>
        </p:nvSpPr>
        <p:spPr>
          <a:xfrm>
            <a:off x="1686696" y="2556031"/>
            <a:ext cx="4812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>
                <a:solidFill>
                  <a:schemeClr val="bg1"/>
                </a:solidFill>
              </a:rPr>
              <a:t>Etc.</a:t>
            </a:r>
            <a:endParaRPr lang="en-US" sz="1400" dirty="0">
              <a:solidFill>
                <a:schemeClr val="bg1"/>
              </a:solidFill>
            </a:endParaRPr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32453630-446A-8C61-E234-8B53483A1F8E}"/>
              </a:ext>
            </a:extLst>
          </p:cNvPr>
          <p:cNvGrpSpPr/>
          <p:nvPr/>
        </p:nvGrpSpPr>
        <p:grpSpPr>
          <a:xfrm>
            <a:off x="3169938" y="1557788"/>
            <a:ext cx="221992" cy="323438"/>
            <a:chOff x="3136274" y="1612556"/>
            <a:chExt cx="221992" cy="323438"/>
          </a:xfrm>
        </p:grpSpPr>
        <p:sp>
          <p:nvSpPr>
            <p:cNvPr id="10" name="ZoneTexte 9">
              <a:extLst>
                <a:ext uri="{FF2B5EF4-FFF2-40B4-BE49-F238E27FC236}">
                  <a16:creationId xmlns:a16="http://schemas.microsoft.com/office/drawing/2014/main" id="{84B86248-A1E3-954F-06F2-13C9CA92AB82}"/>
                </a:ext>
              </a:extLst>
            </p:cNvPr>
            <p:cNvSpPr txBox="1"/>
            <p:nvPr/>
          </p:nvSpPr>
          <p:spPr>
            <a:xfrm>
              <a:off x="3138334" y="1612556"/>
              <a:ext cx="21993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900" b="1" dirty="0">
                  <a:solidFill>
                    <a:schemeClr val="bg1"/>
                  </a:solidFill>
                </a:rPr>
                <a:t>.</a:t>
              </a:r>
              <a:endParaRPr lang="en-US" sz="900" b="1" dirty="0">
                <a:solidFill>
                  <a:schemeClr val="bg1"/>
                </a:solidFill>
              </a:endParaRPr>
            </a:p>
          </p:txBody>
        </p:sp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EA0B711E-3755-35B6-8410-8F0CBF529C18}"/>
                </a:ext>
              </a:extLst>
            </p:cNvPr>
            <p:cNvSpPr txBox="1"/>
            <p:nvPr/>
          </p:nvSpPr>
          <p:spPr>
            <a:xfrm>
              <a:off x="3136276" y="1659922"/>
              <a:ext cx="21993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900" b="1" dirty="0">
                  <a:solidFill>
                    <a:schemeClr val="bg1"/>
                  </a:solidFill>
                </a:rPr>
                <a:t>.</a:t>
              </a:r>
              <a:endParaRPr lang="en-US" sz="900" b="1" dirty="0">
                <a:solidFill>
                  <a:schemeClr val="bg1"/>
                </a:solidFill>
              </a:endParaRPr>
            </a:p>
          </p:txBody>
        </p: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85F90019-24F4-0B57-1DF7-A6EB6542F9D4}"/>
                </a:ext>
              </a:extLst>
            </p:cNvPr>
            <p:cNvSpPr txBox="1"/>
            <p:nvPr/>
          </p:nvSpPr>
          <p:spPr>
            <a:xfrm>
              <a:off x="3136274" y="1705162"/>
              <a:ext cx="21993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900" b="1" dirty="0">
                  <a:solidFill>
                    <a:schemeClr val="bg1"/>
                  </a:solidFill>
                </a:rPr>
                <a:t>.</a:t>
              </a:r>
              <a:endParaRPr lang="en-US" sz="9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FDAF3D80-D2E7-784B-CB3A-4EF6E1AB996A}"/>
              </a:ext>
            </a:extLst>
          </p:cNvPr>
          <p:cNvSpPr/>
          <p:nvPr/>
        </p:nvSpPr>
        <p:spPr>
          <a:xfrm>
            <a:off x="3565117" y="1037967"/>
            <a:ext cx="2953072" cy="51218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400" dirty="0"/>
              <a:t>Configuration</a:t>
            </a:r>
            <a:endParaRPr lang="en-US" sz="14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A39BE6-19D3-9036-6B2E-55C2FA660BA5}"/>
              </a:ext>
            </a:extLst>
          </p:cNvPr>
          <p:cNvSpPr/>
          <p:nvPr/>
        </p:nvSpPr>
        <p:spPr>
          <a:xfrm>
            <a:off x="6691375" y="1037967"/>
            <a:ext cx="3311419" cy="512187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400" dirty="0" err="1"/>
              <a:t>Preview</a:t>
            </a:r>
            <a:endParaRPr lang="en-US" sz="1400" dirty="0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B560F230-1244-D254-7656-F00B483E840B}"/>
              </a:ext>
            </a:extLst>
          </p:cNvPr>
          <p:cNvSpPr/>
          <p:nvPr/>
        </p:nvSpPr>
        <p:spPr>
          <a:xfrm>
            <a:off x="3737919" y="1495168"/>
            <a:ext cx="2564027" cy="858794"/>
          </a:xfrm>
          <a:prstGeom prst="roundRect">
            <a:avLst>
              <a:gd name="adj" fmla="val 9290"/>
            </a:avLst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100" dirty="0" err="1"/>
              <a:t>What</a:t>
            </a:r>
            <a:r>
              <a:rPr lang="fr-FR" sz="1100" dirty="0"/>
              <a:t> </a:t>
            </a:r>
            <a:r>
              <a:rPr lang="fr-FR" sz="1100" dirty="0" err="1"/>
              <a:t>should</a:t>
            </a:r>
            <a:r>
              <a:rPr lang="fr-FR" sz="1100" dirty="0"/>
              <a:t> </a:t>
            </a:r>
            <a:r>
              <a:rPr lang="fr-FR" sz="1100" dirty="0" err="1"/>
              <a:t>this</a:t>
            </a:r>
            <a:r>
              <a:rPr lang="fr-FR" sz="1100" dirty="0"/>
              <a:t> agent do?</a:t>
            </a:r>
            <a:endParaRPr lang="en-US" sz="1100" dirty="0"/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501ADBC7-E61E-4870-B894-C85E9C3F703F}"/>
              </a:ext>
            </a:extLst>
          </p:cNvPr>
          <p:cNvSpPr/>
          <p:nvPr/>
        </p:nvSpPr>
        <p:spPr>
          <a:xfrm>
            <a:off x="3886200" y="1881226"/>
            <a:ext cx="2279822" cy="346884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Type </a:t>
            </a:r>
            <a:r>
              <a:rPr lang="fr-F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your</a:t>
            </a:r>
            <a:r>
              <a:rPr lang="fr-F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fr-F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answer</a:t>
            </a:r>
            <a:r>
              <a:rPr lang="fr-F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fr-F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here</a:t>
            </a:r>
            <a:r>
              <a:rPr lang="fr-F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…</a:t>
            </a:r>
            <a:endParaRPr lang="en-US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C9C70765-D78B-0A29-DBB5-BF148233DD8B}"/>
              </a:ext>
            </a:extLst>
          </p:cNvPr>
          <p:cNvSpPr/>
          <p:nvPr/>
        </p:nvSpPr>
        <p:spPr>
          <a:xfrm>
            <a:off x="3746480" y="3355852"/>
            <a:ext cx="2564027" cy="1124335"/>
          </a:xfrm>
          <a:prstGeom prst="roundRect">
            <a:avLst>
              <a:gd name="adj" fmla="val 9290"/>
            </a:avLst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100" dirty="0" err="1"/>
              <a:t>Knowledge</a:t>
            </a:r>
            <a:r>
              <a:rPr lang="fr-FR" sz="1100" dirty="0"/>
              <a:t> base</a:t>
            </a:r>
            <a:endParaRPr lang="en-US" sz="1100" dirty="0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0C6AF499-6923-A57D-3215-3DAA22325051}"/>
              </a:ext>
            </a:extLst>
          </p:cNvPr>
          <p:cNvSpPr txBox="1"/>
          <p:nvPr/>
        </p:nvSpPr>
        <p:spPr>
          <a:xfrm>
            <a:off x="4218816" y="3732604"/>
            <a:ext cx="161935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dirty="0" err="1"/>
              <a:t>Drag’n</a:t>
            </a:r>
            <a:r>
              <a:rPr lang="fr-FR" sz="1100" dirty="0"/>
              <a:t> Drop files </a:t>
            </a:r>
            <a:r>
              <a:rPr lang="fr-FR" sz="1100" dirty="0" err="1"/>
              <a:t>here</a:t>
            </a:r>
            <a:r>
              <a:rPr lang="fr-FR" sz="1100" dirty="0"/>
              <a:t>…</a:t>
            </a:r>
            <a:endParaRPr lang="en-US" sz="1100" dirty="0"/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11AE261C-8C0D-57E5-E881-7F9973C95BCD}"/>
              </a:ext>
            </a:extLst>
          </p:cNvPr>
          <p:cNvSpPr/>
          <p:nvPr/>
        </p:nvSpPr>
        <p:spPr>
          <a:xfrm>
            <a:off x="3751211" y="4545995"/>
            <a:ext cx="2564027" cy="1587715"/>
          </a:xfrm>
          <a:prstGeom prst="roundRect">
            <a:avLst>
              <a:gd name="adj" fmla="val 9290"/>
            </a:avLst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100" dirty="0"/>
              <a:t>Tools</a:t>
            </a:r>
            <a:endParaRPr lang="en-US" sz="1100" dirty="0"/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0EC4AB3D-2711-90D9-C7E1-F5963EB68241}"/>
              </a:ext>
            </a:extLst>
          </p:cNvPr>
          <p:cNvSpPr/>
          <p:nvPr/>
        </p:nvSpPr>
        <p:spPr>
          <a:xfrm>
            <a:off x="3899494" y="4891856"/>
            <a:ext cx="537519" cy="537519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/>
              <a:t>Tool 1</a:t>
            </a:r>
            <a:endParaRPr lang="en-US" sz="900" dirty="0"/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1DCDA865-08C5-C4AA-4A2E-DC18A037E48E}"/>
              </a:ext>
            </a:extLst>
          </p:cNvPr>
          <p:cNvSpPr/>
          <p:nvPr/>
        </p:nvSpPr>
        <p:spPr>
          <a:xfrm>
            <a:off x="4585296" y="4891855"/>
            <a:ext cx="537519" cy="537519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/>
              <a:t>Tool 2</a:t>
            </a:r>
            <a:endParaRPr lang="en-US" sz="900" dirty="0"/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9A896803-0A65-7D16-6B76-6E9D73F7FAC9}"/>
              </a:ext>
            </a:extLst>
          </p:cNvPr>
          <p:cNvSpPr/>
          <p:nvPr/>
        </p:nvSpPr>
        <p:spPr>
          <a:xfrm>
            <a:off x="5295711" y="4891855"/>
            <a:ext cx="537519" cy="537519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/>
              <a:t>Tool 3</a:t>
            </a:r>
            <a:endParaRPr lang="en-US" sz="900" dirty="0"/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8981747C-F350-775B-ADF2-6B944E4154D3}"/>
              </a:ext>
            </a:extLst>
          </p:cNvPr>
          <p:cNvSpPr/>
          <p:nvPr/>
        </p:nvSpPr>
        <p:spPr>
          <a:xfrm>
            <a:off x="3899493" y="5512784"/>
            <a:ext cx="537519" cy="537519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/>
              <a:t>Tool 4</a:t>
            </a:r>
            <a:endParaRPr lang="en-US" sz="900" dirty="0"/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9EB25E7A-C444-E150-54D3-65776FA38ED4}"/>
              </a:ext>
            </a:extLst>
          </p:cNvPr>
          <p:cNvSpPr/>
          <p:nvPr/>
        </p:nvSpPr>
        <p:spPr>
          <a:xfrm>
            <a:off x="4609812" y="5512784"/>
            <a:ext cx="537519" cy="537519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dirty="0"/>
              <a:t>Etc.</a:t>
            </a:r>
            <a:endParaRPr lang="en-US" sz="900" dirty="0"/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4B33A063-8567-2775-33EA-2C2B691C9338}"/>
              </a:ext>
            </a:extLst>
          </p:cNvPr>
          <p:cNvSpPr/>
          <p:nvPr/>
        </p:nvSpPr>
        <p:spPr>
          <a:xfrm>
            <a:off x="6824675" y="1454418"/>
            <a:ext cx="2675238" cy="346884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Chat </a:t>
            </a:r>
            <a:r>
              <a:rPr lang="fr-F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with</a:t>
            </a:r>
            <a:r>
              <a:rPr lang="fr-F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the agent…</a:t>
            </a:r>
            <a:endParaRPr lang="en-US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66" name="Groupe 65">
            <a:extLst>
              <a:ext uri="{FF2B5EF4-FFF2-40B4-BE49-F238E27FC236}">
                <a16:creationId xmlns:a16="http://schemas.microsoft.com/office/drawing/2014/main" id="{88E781A5-3440-8A68-0F68-CA1BD53EB8B6}"/>
              </a:ext>
            </a:extLst>
          </p:cNvPr>
          <p:cNvGrpSpPr/>
          <p:nvPr/>
        </p:nvGrpSpPr>
        <p:grpSpPr>
          <a:xfrm>
            <a:off x="6794040" y="2069757"/>
            <a:ext cx="492443" cy="595776"/>
            <a:chOff x="6794040" y="2069757"/>
            <a:chExt cx="492443" cy="595776"/>
          </a:xfrm>
        </p:grpSpPr>
        <p:pic>
          <p:nvPicPr>
            <p:cNvPr id="30" name="Image 29">
              <a:extLst>
                <a:ext uri="{FF2B5EF4-FFF2-40B4-BE49-F238E27FC236}">
                  <a16:creationId xmlns:a16="http://schemas.microsoft.com/office/drawing/2014/main" id="{08B571B7-1DC0-3C66-3360-A77F45D1708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27792" y="2069757"/>
              <a:ext cx="420130" cy="420130"/>
            </a:xfrm>
            <a:prstGeom prst="rect">
              <a:avLst/>
            </a:prstGeom>
          </p:spPr>
        </p:pic>
        <p:sp>
          <p:nvSpPr>
            <p:cNvPr id="41" name="ZoneTexte 40">
              <a:extLst>
                <a:ext uri="{FF2B5EF4-FFF2-40B4-BE49-F238E27FC236}">
                  <a16:creationId xmlns:a16="http://schemas.microsoft.com/office/drawing/2014/main" id="{5C64E95B-32D2-34FE-83D2-71BE00D9DEF4}"/>
                </a:ext>
              </a:extLst>
            </p:cNvPr>
            <p:cNvSpPr txBox="1"/>
            <p:nvPr/>
          </p:nvSpPr>
          <p:spPr>
            <a:xfrm>
              <a:off x="6794040" y="2419312"/>
              <a:ext cx="49244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00" b="1" dirty="0"/>
                <a:t>Input</a:t>
              </a:r>
              <a:endParaRPr lang="en-US" sz="1000" b="1" dirty="0"/>
            </a:p>
          </p:txBody>
        </p:sp>
      </p:grpSp>
      <p:grpSp>
        <p:nvGrpSpPr>
          <p:cNvPr id="67" name="Groupe 66">
            <a:extLst>
              <a:ext uri="{FF2B5EF4-FFF2-40B4-BE49-F238E27FC236}">
                <a16:creationId xmlns:a16="http://schemas.microsoft.com/office/drawing/2014/main" id="{308D2C14-8C65-5841-4F7C-C4C4CE085E51}"/>
              </a:ext>
            </a:extLst>
          </p:cNvPr>
          <p:cNvGrpSpPr/>
          <p:nvPr/>
        </p:nvGrpSpPr>
        <p:grpSpPr>
          <a:xfrm>
            <a:off x="6709883" y="2891331"/>
            <a:ext cx="655949" cy="616392"/>
            <a:chOff x="6709883" y="2679914"/>
            <a:chExt cx="655949" cy="616392"/>
          </a:xfrm>
        </p:grpSpPr>
        <p:pic>
          <p:nvPicPr>
            <p:cNvPr id="32" name="Image 31">
              <a:extLst>
                <a:ext uri="{FF2B5EF4-FFF2-40B4-BE49-F238E27FC236}">
                  <a16:creationId xmlns:a16="http://schemas.microsoft.com/office/drawing/2014/main" id="{F53A3D2C-3FBE-A037-EB8C-AC1C94E7F8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24675" y="2679914"/>
              <a:ext cx="426365" cy="426365"/>
            </a:xfrm>
            <a:prstGeom prst="rect">
              <a:avLst/>
            </a:prstGeom>
          </p:spPr>
        </p:pic>
        <p:sp>
          <p:nvSpPr>
            <p:cNvPr id="42" name="ZoneTexte 41">
              <a:extLst>
                <a:ext uri="{FF2B5EF4-FFF2-40B4-BE49-F238E27FC236}">
                  <a16:creationId xmlns:a16="http://schemas.microsoft.com/office/drawing/2014/main" id="{3EEFEF87-F804-E3C5-2BF9-15ED4AA829CD}"/>
                </a:ext>
              </a:extLst>
            </p:cNvPr>
            <p:cNvSpPr txBox="1"/>
            <p:nvPr/>
          </p:nvSpPr>
          <p:spPr>
            <a:xfrm>
              <a:off x="6709883" y="3050085"/>
              <a:ext cx="65594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00" b="1" dirty="0" err="1"/>
                <a:t>Thought</a:t>
              </a:r>
              <a:endParaRPr lang="en-US" sz="1000" b="1" dirty="0"/>
            </a:p>
          </p:txBody>
        </p:sp>
      </p:grpSp>
      <p:grpSp>
        <p:nvGrpSpPr>
          <p:cNvPr id="68" name="Groupe 67">
            <a:extLst>
              <a:ext uri="{FF2B5EF4-FFF2-40B4-BE49-F238E27FC236}">
                <a16:creationId xmlns:a16="http://schemas.microsoft.com/office/drawing/2014/main" id="{6B114DFF-3716-F158-B0FD-91F736B8E223}"/>
              </a:ext>
            </a:extLst>
          </p:cNvPr>
          <p:cNvGrpSpPr/>
          <p:nvPr/>
        </p:nvGrpSpPr>
        <p:grpSpPr>
          <a:xfrm>
            <a:off x="6757171" y="3733521"/>
            <a:ext cx="561372" cy="616392"/>
            <a:chOff x="6757171" y="3296306"/>
            <a:chExt cx="561372" cy="616392"/>
          </a:xfrm>
        </p:grpSpPr>
        <p:pic>
          <p:nvPicPr>
            <p:cNvPr id="34" name="Image 33">
              <a:extLst>
                <a:ext uri="{FF2B5EF4-FFF2-40B4-BE49-F238E27FC236}">
                  <a16:creationId xmlns:a16="http://schemas.microsoft.com/office/drawing/2014/main" id="{63E7D6D9-8A1B-5FF2-B158-0E8758A9242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98402" y="3296306"/>
              <a:ext cx="478910" cy="478910"/>
            </a:xfrm>
            <a:prstGeom prst="rect">
              <a:avLst/>
            </a:prstGeom>
          </p:spPr>
        </p:pic>
        <p:sp>
          <p:nvSpPr>
            <p:cNvPr id="43" name="ZoneTexte 42">
              <a:extLst>
                <a:ext uri="{FF2B5EF4-FFF2-40B4-BE49-F238E27FC236}">
                  <a16:creationId xmlns:a16="http://schemas.microsoft.com/office/drawing/2014/main" id="{38848C74-4239-62AC-0C5B-E83F9FD00CCF}"/>
                </a:ext>
              </a:extLst>
            </p:cNvPr>
            <p:cNvSpPr txBox="1"/>
            <p:nvPr/>
          </p:nvSpPr>
          <p:spPr>
            <a:xfrm>
              <a:off x="6757171" y="3666477"/>
              <a:ext cx="56137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00" b="1" dirty="0"/>
                <a:t>Action</a:t>
              </a:r>
              <a:endParaRPr lang="en-US" sz="1000" b="1" dirty="0"/>
            </a:p>
          </p:txBody>
        </p:sp>
      </p:grpSp>
      <p:grpSp>
        <p:nvGrpSpPr>
          <p:cNvPr id="69" name="Groupe 68">
            <a:extLst>
              <a:ext uri="{FF2B5EF4-FFF2-40B4-BE49-F238E27FC236}">
                <a16:creationId xmlns:a16="http://schemas.microsoft.com/office/drawing/2014/main" id="{575EE954-5277-C1E2-ED2E-9FA5F82488A6}"/>
              </a:ext>
            </a:extLst>
          </p:cNvPr>
          <p:cNvGrpSpPr/>
          <p:nvPr/>
        </p:nvGrpSpPr>
        <p:grpSpPr>
          <a:xfrm>
            <a:off x="6588856" y="4575711"/>
            <a:ext cx="898003" cy="689676"/>
            <a:chOff x="6588856" y="3965243"/>
            <a:chExt cx="898003" cy="689676"/>
          </a:xfrm>
        </p:grpSpPr>
        <p:pic>
          <p:nvPicPr>
            <p:cNvPr id="38" name="Image 37">
              <a:extLst>
                <a:ext uri="{FF2B5EF4-FFF2-40B4-BE49-F238E27FC236}">
                  <a16:creationId xmlns:a16="http://schemas.microsoft.com/office/drawing/2014/main" id="{E7011347-3A53-3C6B-FEC3-D572FFF356F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761530" y="3965243"/>
              <a:ext cx="552654" cy="552654"/>
            </a:xfrm>
            <a:prstGeom prst="rect">
              <a:avLst/>
            </a:prstGeom>
          </p:spPr>
        </p:pic>
        <p:sp>
          <p:nvSpPr>
            <p:cNvPr id="44" name="ZoneTexte 43">
              <a:extLst>
                <a:ext uri="{FF2B5EF4-FFF2-40B4-BE49-F238E27FC236}">
                  <a16:creationId xmlns:a16="http://schemas.microsoft.com/office/drawing/2014/main" id="{3B604F79-B4E4-24FD-46EF-5134289BA4ED}"/>
                </a:ext>
              </a:extLst>
            </p:cNvPr>
            <p:cNvSpPr txBox="1"/>
            <p:nvPr/>
          </p:nvSpPr>
          <p:spPr>
            <a:xfrm>
              <a:off x="6588856" y="4408698"/>
              <a:ext cx="89800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00" b="1" dirty="0"/>
                <a:t>Observation</a:t>
              </a:r>
              <a:endParaRPr lang="en-US" sz="1000" b="1" dirty="0"/>
            </a:p>
          </p:txBody>
        </p:sp>
      </p:grpSp>
      <p:grpSp>
        <p:nvGrpSpPr>
          <p:cNvPr id="70" name="Groupe 69">
            <a:extLst>
              <a:ext uri="{FF2B5EF4-FFF2-40B4-BE49-F238E27FC236}">
                <a16:creationId xmlns:a16="http://schemas.microsoft.com/office/drawing/2014/main" id="{B1A59F7E-FB61-0AAB-3003-62969B6CD3E8}"/>
              </a:ext>
            </a:extLst>
          </p:cNvPr>
          <p:cNvGrpSpPr/>
          <p:nvPr/>
        </p:nvGrpSpPr>
        <p:grpSpPr>
          <a:xfrm>
            <a:off x="6668864" y="5491184"/>
            <a:ext cx="761747" cy="583401"/>
            <a:chOff x="6668864" y="5491184"/>
            <a:chExt cx="761747" cy="583401"/>
          </a:xfrm>
        </p:grpSpPr>
        <p:pic>
          <p:nvPicPr>
            <p:cNvPr id="40" name="Image 39">
              <a:extLst>
                <a:ext uri="{FF2B5EF4-FFF2-40B4-BE49-F238E27FC236}">
                  <a16:creationId xmlns:a16="http://schemas.microsoft.com/office/drawing/2014/main" id="{94B7855D-BE19-C847-AC40-A040314DD33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861297" y="5491184"/>
              <a:ext cx="376881" cy="376881"/>
            </a:xfrm>
            <a:prstGeom prst="rect">
              <a:avLst/>
            </a:prstGeom>
          </p:spPr>
        </p:pic>
        <p:sp>
          <p:nvSpPr>
            <p:cNvPr id="45" name="ZoneTexte 44">
              <a:extLst>
                <a:ext uri="{FF2B5EF4-FFF2-40B4-BE49-F238E27FC236}">
                  <a16:creationId xmlns:a16="http://schemas.microsoft.com/office/drawing/2014/main" id="{05925C1A-BB46-B030-C828-680726EE0CB7}"/>
                </a:ext>
              </a:extLst>
            </p:cNvPr>
            <p:cNvSpPr txBox="1"/>
            <p:nvPr/>
          </p:nvSpPr>
          <p:spPr>
            <a:xfrm>
              <a:off x="6668864" y="5828364"/>
              <a:ext cx="76174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00" b="1" dirty="0" err="1"/>
                <a:t>Response</a:t>
              </a:r>
              <a:endParaRPr lang="en-US" sz="1000" b="1" dirty="0"/>
            </a:p>
          </p:txBody>
        </p:sp>
      </p:grpSp>
      <p:grpSp>
        <p:nvGrpSpPr>
          <p:cNvPr id="75" name="Groupe 74">
            <a:extLst>
              <a:ext uri="{FF2B5EF4-FFF2-40B4-BE49-F238E27FC236}">
                <a16:creationId xmlns:a16="http://schemas.microsoft.com/office/drawing/2014/main" id="{584F550A-B957-76BD-B58E-6596F918ECE8}"/>
              </a:ext>
            </a:extLst>
          </p:cNvPr>
          <p:cNvGrpSpPr/>
          <p:nvPr/>
        </p:nvGrpSpPr>
        <p:grpSpPr>
          <a:xfrm>
            <a:off x="7352274" y="1984630"/>
            <a:ext cx="2511777" cy="434682"/>
            <a:chOff x="7352274" y="1984630"/>
            <a:chExt cx="2511777" cy="434682"/>
          </a:xfrm>
        </p:grpSpPr>
        <p:sp>
          <p:nvSpPr>
            <p:cNvPr id="46" name="Rectangle : coins arrondis 45">
              <a:extLst>
                <a:ext uri="{FF2B5EF4-FFF2-40B4-BE49-F238E27FC236}">
                  <a16:creationId xmlns:a16="http://schemas.microsoft.com/office/drawing/2014/main" id="{B1D31392-7417-954C-5AB5-5FAB5ACBC9EB}"/>
                </a:ext>
              </a:extLst>
            </p:cNvPr>
            <p:cNvSpPr/>
            <p:nvPr/>
          </p:nvSpPr>
          <p:spPr>
            <a:xfrm>
              <a:off x="7352274" y="2072428"/>
              <a:ext cx="2110146" cy="34688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fr-FR" sz="8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User </a:t>
              </a:r>
              <a:r>
                <a:rPr lang="fr-FR" sz="800" dirty="0" err="1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query</a:t>
              </a:r>
              <a:r>
                <a:rPr lang="fr-FR" sz="8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.</a:t>
              </a:r>
              <a:endParaRPr lang="en-US" sz="8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57" name="ZoneTexte 56">
              <a:extLst>
                <a:ext uri="{FF2B5EF4-FFF2-40B4-BE49-F238E27FC236}">
                  <a16:creationId xmlns:a16="http://schemas.microsoft.com/office/drawing/2014/main" id="{CEB85E94-4497-7712-ED11-46FC51110214}"/>
                </a:ext>
              </a:extLst>
            </p:cNvPr>
            <p:cNvSpPr txBox="1"/>
            <p:nvPr/>
          </p:nvSpPr>
          <p:spPr>
            <a:xfrm>
              <a:off x="9482215" y="1984630"/>
              <a:ext cx="3818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>
                  <a:solidFill>
                    <a:schemeClr val="bg1"/>
                  </a:solidFill>
                </a:rPr>
                <a:t>…</a:t>
              </a:r>
              <a:endParaRPr lang="en-US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74" name="Groupe 73">
            <a:extLst>
              <a:ext uri="{FF2B5EF4-FFF2-40B4-BE49-F238E27FC236}">
                <a16:creationId xmlns:a16="http://schemas.microsoft.com/office/drawing/2014/main" id="{436E8B1D-FD40-F9EC-5F2F-9B4AC3DCEB46}"/>
              </a:ext>
            </a:extLst>
          </p:cNvPr>
          <p:cNvGrpSpPr/>
          <p:nvPr/>
        </p:nvGrpSpPr>
        <p:grpSpPr>
          <a:xfrm>
            <a:off x="7352274" y="2894161"/>
            <a:ext cx="2491982" cy="383104"/>
            <a:chOff x="7352274" y="2695728"/>
            <a:chExt cx="2491982" cy="383104"/>
          </a:xfrm>
        </p:grpSpPr>
        <p:sp>
          <p:nvSpPr>
            <p:cNvPr id="49" name="Rectangle : coins arrondis 48">
              <a:extLst>
                <a:ext uri="{FF2B5EF4-FFF2-40B4-BE49-F238E27FC236}">
                  <a16:creationId xmlns:a16="http://schemas.microsoft.com/office/drawing/2014/main" id="{E44598BB-5539-40D7-59C8-B89AD79496A6}"/>
                </a:ext>
              </a:extLst>
            </p:cNvPr>
            <p:cNvSpPr/>
            <p:nvPr/>
          </p:nvSpPr>
          <p:spPr>
            <a:xfrm>
              <a:off x="7352274" y="2731948"/>
              <a:ext cx="2110146" cy="34688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"I need to search for the weather." (Internal Monologue).</a:t>
              </a:r>
            </a:p>
          </p:txBody>
        </p:sp>
        <p:sp>
          <p:nvSpPr>
            <p:cNvPr id="58" name="ZoneTexte 57">
              <a:extLst>
                <a:ext uri="{FF2B5EF4-FFF2-40B4-BE49-F238E27FC236}">
                  <a16:creationId xmlns:a16="http://schemas.microsoft.com/office/drawing/2014/main" id="{4CBC4B5E-ED64-14F3-0F0B-A4B531E8DFB3}"/>
                </a:ext>
              </a:extLst>
            </p:cNvPr>
            <p:cNvSpPr txBox="1"/>
            <p:nvPr/>
          </p:nvSpPr>
          <p:spPr>
            <a:xfrm>
              <a:off x="9462420" y="2695728"/>
              <a:ext cx="3818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>
                  <a:solidFill>
                    <a:schemeClr val="bg1"/>
                  </a:solidFill>
                </a:rPr>
                <a:t>…</a:t>
              </a:r>
              <a:endParaRPr lang="en-US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73" name="Groupe 72">
            <a:extLst>
              <a:ext uri="{FF2B5EF4-FFF2-40B4-BE49-F238E27FC236}">
                <a16:creationId xmlns:a16="http://schemas.microsoft.com/office/drawing/2014/main" id="{A06325A6-0663-5FF1-CCA0-ECB8E4A460F0}"/>
              </a:ext>
            </a:extLst>
          </p:cNvPr>
          <p:cNvGrpSpPr/>
          <p:nvPr/>
        </p:nvGrpSpPr>
        <p:grpSpPr>
          <a:xfrm>
            <a:off x="7352274" y="3752114"/>
            <a:ext cx="2503862" cy="387257"/>
            <a:chOff x="7352274" y="3351095"/>
            <a:chExt cx="2503862" cy="387257"/>
          </a:xfrm>
        </p:grpSpPr>
        <p:sp>
          <p:nvSpPr>
            <p:cNvPr id="50" name="Rectangle : coins arrondis 49">
              <a:extLst>
                <a:ext uri="{FF2B5EF4-FFF2-40B4-BE49-F238E27FC236}">
                  <a16:creationId xmlns:a16="http://schemas.microsoft.com/office/drawing/2014/main" id="{3B8C0AFD-7B2A-56F0-FA49-E580CACBF72A}"/>
                </a:ext>
              </a:extLst>
            </p:cNvPr>
            <p:cNvSpPr/>
            <p:nvPr/>
          </p:nvSpPr>
          <p:spPr>
            <a:xfrm>
              <a:off x="7352274" y="3391468"/>
              <a:ext cx="2110146" cy="34688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800" dirty="0" err="1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call_tool</a:t>
              </a:r>
              <a:r>
                <a:rPr 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('</a:t>
              </a:r>
              <a:r>
                <a:rPr lang="en-US" sz="800" dirty="0" err="1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get_weather</a:t>
              </a:r>
              <a:r>
                <a:rPr 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', 'Paris')</a:t>
              </a:r>
            </a:p>
          </p:txBody>
        </p:sp>
        <p:sp>
          <p:nvSpPr>
            <p:cNvPr id="59" name="ZoneTexte 58">
              <a:extLst>
                <a:ext uri="{FF2B5EF4-FFF2-40B4-BE49-F238E27FC236}">
                  <a16:creationId xmlns:a16="http://schemas.microsoft.com/office/drawing/2014/main" id="{BBAB614F-58F5-C12F-DEE7-47A2ECF509DC}"/>
                </a:ext>
              </a:extLst>
            </p:cNvPr>
            <p:cNvSpPr txBox="1"/>
            <p:nvPr/>
          </p:nvSpPr>
          <p:spPr>
            <a:xfrm>
              <a:off x="9474300" y="3351095"/>
              <a:ext cx="3818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>
                  <a:solidFill>
                    <a:schemeClr val="bg1"/>
                  </a:solidFill>
                </a:rPr>
                <a:t>…</a:t>
              </a:r>
              <a:endParaRPr lang="en-US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42771F59-505B-AC1E-8F02-F8A3A10F1A95}"/>
              </a:ext>
            </a:extLst>
          </p:cNvPr>
          <p:cNvGrpSpPr/>
          <p:nvPr/>
        </p:nvGrpSpPr>
        <p:grpSpPr>
          <a:xfrm>
            <a:off x="7352274" y="4614220"/>
            <a:ext cx="2491982" cy="373047"/>
            <a:chOff x="7352274" y="4050988"/>
            <a:chExt cx="2491982" cy="373047"/>
          </a:xfrm>
        </p:grpSpPr>
        <p:sp>
          <p:nvSpPr>
            <p:cNvPr id="51" name="Rectangle : coins arrondis 50">
              <a:extLst>
                <a:ext uri="{FF2B5EF4-FFF2-40B4-BE49-F238E27FC236}">
                  <a16:creationId xmlns:a16="http://schemas.microsoft.com/office/drawing/2014/main" id="{DE133DC2-13FC-94DF-EF3C-0171AC69B1D6}"/>
                </a:ext>
              </a:extLst>
            </p:cNvPr>
            <p:cNvSpPr/>
            <p:nvPr/>
          </p:nvSpPr>
          <p:spPr>
            <a:xfrm>
              <a:off x="7352274" y="4050988"/>
              <a:ext cx="2110146" cy="34688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fr-FR" sz="8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"15°C, </a:t>
              </a:r>
              <a:r>
                <a:rPr lang="fr-FR" sz="800" dirty="0" err="1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Cloudy</a:t>
              </a:r>
              <a:r>
                <a:rPr lang="fr-FR" sz="8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."</a:t>
              </a:r>
              <a:endParaRPr lang="en-US" sz="8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60" name="ZoneTexte 59">
              <a:extLst>
                <a:ext uri="{FF2B5EF4-FFF2-40B4-BE49-F238E27FC236}">
                  <a16:creationId xmlns:a16="http://schemas.microsoft.com/office/drawing/2014/main" id="{6D2E0A10-F6F4-460D-CF6B-6FE28BE4EFD7}"/>
                </a:ext>
              </a:extLst>
            </p:cNvPr>
            <p:cNvSpPr txBox="1"/>
            <p:nvPr/>
          </p:nvSpPr>
          <p:spPr>
            <a:xfrm>
              <a:off x="9462420" y="4054703"/>
              <a:ext cx="3818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>
                  <a:solidFill>
                    <a:schemeClr val="bg1"/>
                  </a:solidFill>
                </a:rPr>
                <a:t>…</a:t>
              </a:r>
              <a:endParaRPr lang="en-US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71" name="Groupe 70">
            <a:extLst>
              <a:ext uri="{FF2B5EF4-FFF2-40B4-BE49-F238E27FC236}">
                <a16:creationId xmlns:a16="http://schemas.microsoft.com/office/drawing/2014/main" id="{2071C1EC-BDFB-BB76-ABAB-DFF312D21953}"/>
              </a:ext>
            </a:extLst>
          </p:cNvPr>
          <p:cNvGrpSpPr/>
          <p:nvPr/>
        </p:nvGrpSpPr>
        <p:grpSpPr>
          <a:xfrm>
            <a:off x="7364154" y="5462116"/>
            <a:ext cx="2491982" cy="378536"/>
            <a:chOff x="7364154" y="5462116"/>
            <a:chExt cx="2491982" cy="378536"/>
          </a:xfrm>
        </p:grpSpPr>
        <p:sp>
          <p:nvSpPr>
            <p:cNvPr id="52" name="Rectangle : coins arrondis 51">
              <a:extLst>
                <a:ext uri="{FF2B5EF4-FFF2-40B4-BE49-F238E27FC236}">
                  <a16:creationId xmlns:a16="http://schemas.microsoft.com/office/drawing/2014/main" id="{A9D76DD5-2750-C1FC-9855-245654851F4E}"/>
                </a:ext>
              </a:extLst>
            </p:cNvPr>
            <p:cNvSpPr/>
            <p:nvPr/>
          </p:nvSpPr>
          <p:spPr>
            <a:xfrm>
              <a:off x="7364154" y="5493768"/>
              <a:ext cx="2110146" cy="34688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8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"It is currently 15°C in Paris.“</a:t>
              </a:r>
            </a:p>
          </p:txBody>
        </p:sp>
        <p:sp>
          <p:nvSpPr>
            <p:cNvPr id="61" name="ZoneTexte 60">
              <a:extLst>
                <a:ext uri="{FF2B5EF4-FFF2-40B4-BE49-F238E27FC236}">
                  <a16:creationId xmlns:a16="http://schemas.microsoft.com/office/drawing/2014/main" id="{20031CF4-CACA-4FBA-4443-499D8DA48400}"/>
                </a:ext>
              </a:extLst>
            </p:cNvPr>
            <p:cNvSpPr txBox="1"/>
            <p:nvPr/>
          </p:nvSpPr>
          <p:spPr>
            <a:xfrm>
              <a:off x="9474300" y="5462116"/>
              <a:ext cx="3818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>
                  <a:solidFill>
                    <a:schemeClr val="bg1"/>
                  </a:solidFill>
                </a:rPr>
                <a:t>…</a:t>
              </a:r>
              <a:endParaRPr 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62" name="ZoneTexte 61">
            <a:extLst>
              <a:ext uri="{FF2B5EF4-FFF2-40B4-BE49-F238E27FC236}">
                <a16:creationId xmlns:a16="http://schemas.microsoft.com/office/drawing/2014/main" id="{577584A5-CCE7-8CAC-AD5C-9EB3F12B67A6}"/>
              </a:ext>
            </a:extLst>
          </p:cNvPr>
          <p:cNvSpPr txBox="1"/>
          <p:nvPr/>
        </p:nvSpPr>
        <p:spPr>
          <a:xfrm>
            <a:off x="5905082" y="1418087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…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3" name="Rectangle : coins arrondis 62">
            <a:extLst>
              <a:ext uri="{FF2B5EF4-FFF2-40B4-BE49-F238E27FC236}">
                <a16:creationId xmlns:a16="http://schemas.microsoft.com/office/drawing/2014/main" id="{67C35589-9E75-80F5-EDEB-F1295DB4E6A8}"/>
              </a:ext>
            </a:extLst>
          </p:cNvPr>
          <p:cNvSpPr/>
          <p:nvPr/>
        </p:nvSpPr>
        <p:spPr>
          <a:xfrm>
            <a:off x="3743698" y="2414743"/>
            <a:ext cx="2564027" cy="858794"/>
          </a:xfrm>
          <a:prstGeom prst="roundRect">
            <a:avLst>
              <a:gd name="adj" fmla="val 9290"/>
            </a:avLst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sz="1100" dirty="0" err="1"/>
              <a:t>What</a:t>
            </a:r>
            <a:r>
              <a:rPr lang="fr-FR" sz="1100" dirty="0"/>
              <a:t> </a:t>
            </a:r>
            <a:r>
              <a:rPr lang="fr-FR" sz="1100" dirty="0" err="1"/>
              <a:t>should</a:t>
            </a:r>
            <a:r>
              <a:rPr lang="fr-FR" sz="1100" dirty="0"/>
              <a:t> </a:t>
            </a:r>
            <a:r>
              <a:rPr lang="fr-FR" sz="1100" dirty="0" err="1"/>
              <a:t>this</a:t>
            </a:r>
            <a:r>
              <a:rPr lang="fr-FR" sz="1100" dirty="0"/>
              <a:t> agent </a:t>
            </a:r>
            <a:r>
              <a:rPr lang="fr-FR" sz="1100" dirty="0" err="1"/>
              <a:t>avoid</a:t>
            </a:r>
            <a:r>
              <a:rPr lang="fr-FR" sz="1100" dirty="0"/>
              <a:t>?</a:t>
            </a:r>
            <a:endParaRPr lang="en-US" sz="1100" dirty="0"/>
          </a:p>
        </p:txBody>
      </p:sp>
      <p:sp>
        <p:nvSpPr>
          <p:cNvPr id="64" name="Rectangle : coins arrondis 63">
            <a:extLst>
              <a:ext uri="{FF2B5EF4-FFF2-40B4-BE49-F238E27FC236}">
                <a16:creationId xmlns:a16="http://schemas.microsoft.com/office/drawing/2014/main" id="{6251B50A-8932-F8BE-5769-62D195DD191A}"/>
              </a:ext>
            </a:extLst>
          </p:cNvPr>
          <p:cNvSpPr/>
          <p:nvPr/>
        </p:nvSpPr>
        <p:spPr>
          <a:xfrm>
            <a:off x="3891979" y="2800801"/>
            <a:ext cx="2279822" cy="346884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Type </a:t>
            </a:r>
            <a:r>
              <a:rPr lang="fr-F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your</a:t>
            </a:r>
            <a:r>
              <a:rPr lang="fr-F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fr-F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answer</a:t>
            </a:r>
            <a:r>
              <a:rPr lang="fr-F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fr-FR" sz="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here</a:t>
            </a:r>
            <a:r>
              <a:rPr lang="fr-F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…</a:t>
            </a:r>
            <a:endParaRPr lang="en-US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421460CB-9DBB-9B49-1DED-A852B6119F00}"/>
              </a:ext>
            </a:extLst>
          </p:cNvPr>
          <p:cNvSpPr txBox="1"/>
          <p:nvPr/>
        </p:nvSpPr>
        <p:spPr>
          <a:xfrm>
            <a:off x="5910861" y="2337662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…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6" name="Flèche : bas 75">
            <a:extLst>
              <a:ext uri="{FF2B5EF4-FFF2-40B4-BE49-F238E27FC236}">
                <a16:creationId xmlns:a16="http://schemas.microsoft.com/office/drawing/2014/main" id="{8312E8F6-AB78-8273-6804-D9234198477C}"/>
              </a:ext>
            </a:extLst>
          </p:cNvPr>
          <p:cNvSpPr/>
          <p:nvPr/>
        </p:nvSpPr>
        <p:spPr>
          <a:xfrm>
            <a:off x="8162294" y="2514084"/>
            <a:ext cx="341471" cy="30777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Flèche : bas 76">
            <a:extLst>
              <a:ext uri="{FF2B5EF4-FFF2-40B4-BE49-F238E27FC236}">
                <a16:creationId xmlns:a16="http://schemas.microsoft.com/office/drawing/2014/main" id="{B0D174BA-4B6A-64DB-437E-15F4CCD83AEF}"/>
              </a:ext>
            </a:extLst>
          </p:cNvPr>
          <p:cNvSpPr/>
          <p:nvPr/>
        </p:nvSpPr>
        <p:spPr>
          <a:xfrm>
            <a:off x="8176438" y="3372267"/>
            <a:ext cx="341471" cy="30777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Flèche : bas 77">
            <a:extLst>
              <a:ext uri="{FF2B5EF4-FFF2-40B4-BE49-F238E27FC236}">
                <a16:creationId xmlns:a16="http://schemas.microsoft.com/office/drawing/2014/main" id="{38F3B38C-7625-6A7A-1EB8-73F0A4D49327}"/>
              </a:ext>
            </a:extLst>
          </p:cNvPr>
          <p:cNvSpPr/>
          <p:nvPr/>
        </p:nvSpPr>
        <p:spPr>
          <a:xfrm>
            <a:off x="8176438" y="4226398"/>
            <a:ext cx="341471" cy="30777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Flèche : bas 78">
            <a:extLst>
              <a:ext uri="{FF2B5EF4-FFF2-40B4-BE49-F238E27FC236}">
                <a16:creationId xmlns:a16="http://schemas.microsoft.com/office/drawing/2014/main" id="{DBC662D3-579D-8D91-0142-1E8170C109E9}"/>
              </a:ext>
            </a:extLst>
          </p:cNvPr>
          <p:cNvSpPr/>
          <p:nvPr/>
        </p:nvSpPr>
        <p:spPr>
          <a:xfrm>
            <a:off x="8176438" y="5073547"/>
            <a:ext cx="341471" cy="30777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ZoneTexte 79">
            <a:extLst>
              <a:ext uri="{FF2B5EF4-FFF2-40B4-BE49-F238E27FC236}">
                <a16:creationId xmlns:a16="http://schemas.microsoft.com/office/drawing/2014/main" id="{33643A84-884F-AFF3-67CF-ACE176A83A74}"/>
              </a:ext>
            </a:extLst>
          </p:cNvPr>
          <p:cNvSpPr txBox="1"/>
          <p:nvPr/>
        </p:nvSpPr>
        <p:spPr>
          <a:xfrm>
            <a:off x="5896320" y="4480187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…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1" name="Rectangle : coins arrondis 80">
            <a:extLst>
              <a:ext uri="{FF2B5EF4-FFF2-40B4-BE49-F238E27FC236}">
                <a16:creationId xmlns:a16="http://schemas.microsoft.com/office/drawing/2014/main" id="{6BCD920C-D47E-3C57-9732-13DF36528298}"/>
              </a:ext>
            </a:extLst>
          </p:cNvPr>
          <p:cNvSpPr/>
          <p:nvPr/>
        </p:nvSpPr>
        <p:spPr>
          <a:xfrm>
            <a:off x="5626672" y="1097390"/>
            <a:ext cx="660246" cy="19353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50" dirty="0"/>
              <a:t>Save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613618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683337A6-0295-6FDC-2B0E-E02A1A0D1E65}"/>
              </a:ext>
            </a:extLst>
          </p:cNvPr>
          <p:cNvSpPr/>
          <p:nvPr/>
        </p:nvSpPr>
        <p:spPr>
          <a:xfrm>
            <a:off x="1680519" y="556054"/>
            <a:ext cx="6604686" cy="889687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fr-FR" sz="1400" dirty="0" err="1"/>
              <a:t>Here</a:t>
            </a:r>
            <a:r>
              <a:rPr lang="fr-FR" sz="1400" dirty="0"/>
              <a:t> </a:t>
            </a:r>
            <a:r>
              <a:rPr lang="fr-FR" sz="1400" dirty="0" err="1"/>
              <a:t>we</a:t>
            </a:r>
            <a:r>
              <a:rPr lang="fr-FR" sz="1400" dirty="0"/>
              <a:t> have, </a:t>
            </a:r>
            <a:r>
              <a:rPr lang="fr-FR" sz="1400" dirty="0" err="1"/>
              <a:t>name</a:t>
            </a:r>
            <a:r>
              <a:rPr lang="fr-FR" sz="1400" dirty="0"/>
              <a:t>, description, </a:t>
            </a:r>
            <a:r>
              <a:rPr lang="fr-FR" sz="1400" dirty="0" err="1"/>
              <a:t>category</a:t>
            </a:r>
            <a:r>
              <a:rPr lang="fr-FR" sz="1400" dirty="0"/>
              <a:t> and permissions</a:t>
            </a:r>
            <a:endParaRPr lang="en-US" sz="14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A521EC9-2125-192D-6350-03841D981F80}"/>
              </a:ext>
            </a:extLst>
          </p:cNvPr>
          <p:cNvSpPr txBox="1"/>
          <p:nvPr/>
        </p:nvSpPr>
        <p:spPr>
          <a:xfrm>
            <a:off x="2063579" y="327454"/>
            <a:ext cx="355417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FR" dirty="0"/>
              <a:t>1 - </a:t>
            </a:r>
            <a:r>
              <a:rPr lang="fr-FR" dirty="0" err="1"/>
              <a:t>What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the </a:t>
            </a:r>
            <a:r>
              <a:rPr lang="fr-FR" dirty="0" err="1"/>
              <a:t>purpose</a:t>
            </a:r>
            <a:r>
              <a:rPr lang="fr-FR" dirty="0"/>
              <a:t> of </a:t>
            </a:r>
            <a:r>
              <a:rPr lang="fr-FR" dirty="0" err="1"/>
              <a:t>this</a:t>
            </a:r>
            <a:r>
              <a:rPr lang="fr-FR" dirty="0"/>
              <a:t> </a:t>
            </a:r>
            <a:r>
              <a:rPr lang="fr-FR" dirty="0" err="1"/>
              <a:t>tool</a:t>
            </a:r>
            <a:endParaRPr lang="en-US" dirty="0"/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6C80CDF9-ACF9-9C68-35A7-728FBD68D7CD}"/>
              </a:ext>
            </a:extLst>
          </p:cNvPr>
          <p:cNvSpPr/>
          <p:nvPr/>
        </p:nvSpPr>
        <p:spPr>
          <a:xfrm>
            <a:off x="1680519" y="1538417"/>
            <a:ext cx="6604686" cy="2026508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fr-FR" sz="1400" dirty="0" err="1"/>
              <a:t>Here</a:t>
            </a:r>
            <a:r>
              <a:rPr lang="fr-FR" sz="1400" dirty="0"/>
              <a:t> </a:t>
            </a:r>
            <a:r>
              <a:rPr lang="fr-FR" sz="1400" dirty="0" err="1"/>
              <a:t>we</a:t>
            </a:r>
            <a:r>
              <a:rPr lang="fr-FR" sz="1400" dirty="0"/>
              <a:t> drop MCP servers. Update to </a:t>
            </a:r>
            <a:r>
              <a:rPr lang="fr-FR" sz="1400" dirty="0" err="1"/>
              <a:t>current</a:t>
            </a:r>
            <a:r>
              <a:rPr lang="fr-FR" sz="1400" dirty="0"/>
              <a:t> situation: </a:t>
            </a:r>
            <a:r>
              <a:rPr lang="fr-FR" sz="1400" dirty="0" err="1"/>
              <a:t>instead</a:t>
            </a:r>
            <a:r>
              <a:rPr lang="fr-FR" sz="1400" dirty="0"/>
              <a:t> of </a:t>
            </a:r>
            <a:r>
              <a:rPr lang="fr-FR" sz="1400" dirty="0" err="1"/>
              <a:t>displaying</a:t>
            </a:r>
            <a:r>
              <a:rPr lang="fr-FR" sz="1400" dirty="0"/>
              <a:t> an MCP server </a:t>
            </a:r>
            <a:r>
              <a:rPr lang="fr-FR" sz="1400" dirty="0" err="1"/>
              <a:t>with</a:t>
            </a:r>
            <a:r>
              <a:rPr lang="fr-FR" sz="1400" dirty="0"/>
              <a:t> the </a:t>
            </a:r>
            <a:r>
              <a:rPr lang="fr-FR" sz="1400" dirty="0" err="1"/>
              <a:t>list</a:t>
            </a:r>
            <a:r>
              <a:rPr lang="fr-FR" sz="1400" dirty="0"/>
              <a:t> of all </a:t>
            </a:r>
            <a:r>
              <a:rPr lang="fr-FR" sz="1400" dirty="0" err="1"/>
              <a:t>its</a:t>
            </a:r>
            <a:r>
              <a:rPr lang="fr-FR" sz="1400" dirty="0"/>
              <a:t> </a:t>
            </a:r>
            <a:r>
              <a:rPr lang="fr-FR" sz="1400" dirty="0" err="1"/>
              <a:t>tools</a:t>
            </a:r>
            <a:r>
              <a:rPr lang="fr-FR" sz="1400" dirty="0"/>
              <a:t>, </a:t>
            </a:r>
            <a:r>
              <a:rPr lang="fr-FR" sz="1400" dirty="0" err="1"/>
              <a:t>we</a:t>
            </a:r>
            <a:r>
              <a:rPr lang="fr-FR" sz="1400" dirty="0"/>
              <a:t> </a:t>
            </a:r>
            <a:r>
              <a:rPr lang="fr-FR" sz="1400" dirty="0" err="1"/>
              <a:t>would</a:t>
            </a:r>
            <a:r>
              <a:rPr lang="fr-FR" sz="1400" dirty="0"/>
              <a:t>:</a:t>
            </a:r>
          </a:p>
          <a:p>
            <a:pPr algn="ctr"/>
            <a:r>
              <a:rPr lang="fr-FR" sz="1400" dirty="0"/>
              <a:t>1 – </a:t>
            </a:r>
            <a:r>
              <a:rPr lang="fr-FR" sz="1400" dirty="0" err="1"/>
              <a:t>Allow</a:t>
            </a:r>
            <a:r>
              <a:rPr lang="fr-FR" sz="1400" dirty="0"/>
              <a:t> to drop </a:t>
            </a:r>
            <a:r>
              <a:rPr lang="fr-FR" sz="1400" dirty="0" err="1"/>
              <a:t>several</a:t>
            </a:r>
            <a:r>
              <a:rPr lang="fr-FR" sz="1400" dirty="0"/>
              <a:t> MCP servers. So </a:t>
            </a:r>
            <a:r>
              <a:rPr lang="fr-FR" sz="1400" dirty="0" err="1"/>
              <a:t>we</a:t>
            </a:r>
            <a:r>
              <a:rPr lang="fr-FR" sz="1400" dirty="0"/>
              <a:t> </a:t>
            </a:r>
            <a:r>
              <a:rPr lang="fr-FR" sz="1400" dirty="0" err="1"/>
              <a:t>need</a:t>
            </a:r>
            <a:r>
              <a:rPr lang="fr-FR" sz="1400" dirty="0"/>
              <a:t> « </a:t>
            </a:r>
            <a:r>
              <a:rPr lang="fr-FR" sz="1400" dirty="0" err="1"/>
              <a:t>placeholders</a:t>
            </a:r>
            <a:r>
              <a:rPr lang="fr-FR" sz="1400" dirty="0"/>
              <a:t> » </a:t>
            </a:r>
            <a:r>
              <a:rPr lang="fr-FR" sz="1400" dirty="0" err="1"/>
              <a:t>so</a:t>
            </a:r>
            <a:r>
              <a:rPr lang="fr-FR" sz="1400" dirty="0"/>
              <a:t> the user </a:t>
            </a:r>
            <a:r>
              <a:rPr lang="fr-FR" sz="1400" dirty="0" err="1"/>
              <a:t>understands</a:t>
            </a:r>
            <a:r>
              <a:rPr lang="fr-FR" sz="1400" dirty="0"/>
              <a:t> </a:t>
            </a:r>
            <a:r>
              <a:rPr lang="fr-FR" sz="1400" dirty="0" err="1"/>
              <a:t>he</a:t>
            </a:r>
            <a:r>
              <a:rPr lang="fr-FR" sz="1400" dirty="0"/>
              <a:t> can drop </a:t>
            </a:r>
            <a:r>
              <a:rPr lang="fr-FR" sz="1400" dirty="0" err="1"/>
              <a:t>other</a:t>
            </a:r>
            <a:r>
              <a:rPr lang="fr-FR" sz="1400" dirty="0"/>
              <a:t> MCP Servers</a:t>
            </a:r>
          </a:p>
          <a:p>
            <a:pPr algn="ctr"/>
            <a:r>
              <a:rPr lang="fr-FR" sz="1400" dirty="0"/>
              <a:t>2 – </a:t>
            </a:r>
            <a:r>
              <a:rPr lang="fr-FR" sz="1400" dirty="0" err="1"/>
              <a:t>Each</a:t>
            </a:r>
            <a:r>
              <a:rPr lang="fr-FR" sz="1400" dirty="0"/>
              <a:t> « MCP server box » must display </a:t>
            </a:r>
            <a:r>
              <a:rPr lang="fr-FR" sz="1400" dirty="0" err="1"/>
              <a:t>only</a:t>
            </a:r>
            <a:r>
              <a:rPr lang="fr-FR" sz="1400" dirty="0"/>
              <a:t> the </a:t>
            </a:r>
            <a:r>
              <a:rPr lang="fr-FR" sz="1400" dirty="0" err="1"/>
              <a:t>name</a:t>
            </a:r>
            <a:r>
              <a:rPr lang="fr-FR" sz="1400" dirty="0"/>
              <a:t> of the MCP server and the </a:t>
            </a:r>
            <a:r>
              <a:rPr lang="fr-FR" sz="1400" dirty="0" err="1"/>
              <a:t>selected</a:t>
            </a:r>
            <a:r>
              <a:rPr lang="fr-FR" sz="1400" dirty="0"/>
              <a:t> </a:t>
            </a:r>
            <a:r>
              <a:rPr lang="fr-FR" sz="1400" dirty="0" err="1"/>
              <a:t>tools</a:t>
            </a:r>
            <a:r>
              <a:rPr lang="fr-FR" sz="1400" dirty="0"/>
              <a:t> (not all the </a:t>
            </a:r>
            <a:r>
              <a:rPr lang="fr-FR" sz="1400" dirty="0" err="1"/>
              <a:t>list</a:t>
            </a:r>
            <a:r>
              <a:rPr lang="fr-FR" sz="1400" dirty="0"/>
              <a:t> of </a:t>
            </a:r>
            <a:r>
              <a:rPr lang="fr-FR" sz="1400" dirty="0" err="1"/>
              <a:t>tools</a:t>
            </a:r>
            <a:r>
              <a:rPr lang="fr-FR" sz="1400" dirty="0"/>
              <a:t>), </a:t>
            </a:r>
            <a:r>
              <a:rPr lang="fr-FR" sz="1400" dirty="0" err="1"/>
              <a:t>with</a:t>
            </a:r>
            <a:r>
              <a:rPr lang="fr-FR" sz="1400" dirty="0"/>
              <a:t> a </a:t>
            </a:r>
            <a:r>
              <a:rPr lang="fr-FR" sz="1400" dirty="0" err="1"/>
              <a:t>way</a:t>
            </a:r>
            <a:r>
              <a:rPr lang="fr-FR" sz="1400" dirty="0"/>
              <a:t> to expand the </a:t>
            </a:r>
            <a:r>
              <a:rPr lang="fr-FR" sz="1400" dirty="0" err="1"/>
              <a:t>list</a:t>
            </a:r>
            <a:r>
              <a:rPr lang="fr-FR" sz="1400" dirty="0"/>
              <a:t> in </a:t>
            </a:r>
            <a:r>
              <a:rPr lang="fr-FR" sz="1400" dirty="0" err="1"/>
              <a:t>order</a:t>
            </a:r>
            <a:r>
              <a:rPr lang="fr-FR" sz="1400" dirty="0"/>
              <a:t> to select more if </a:t>
            </a:r>
            <a:r>
              <a:rPr lang="fr-FR" sz="1400" dirty="0" err="1"/>
              <a:t>needed</a:t>
            </a:r>
            <a:endParaRPr lang="en-US" sz="1400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F49B09D-BEB0-71B5-9EFE-506D265705DC}"/>
              </a:ext>
            </a:extLst>
          </p:cNvPr>
          <p:cNvSpPr txBox="1"/>
          <p:nvPr/>
        </p:nvSpPr>
        <p:spPr>
          <a:xfrm>
            <a:off x="2050233" y="1489674"/>
            <a:ext cx="222285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FR" dirty="0"/>
              <a:t>2 – Select MCP Tools</a:t>
            </a:r>
            <a:endParaRPr lang="en-US" dirty="0"/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6D303C96-A57C-4CD8-EA74-211CFB296090}"/>
              </a:ext>
            </a:extLst>
          </p:cNvPr>
          <p:cNvSpPr/>
          <p:nvPr/>
        </p:nvSpPr>
        <p:spPr>
          <a:xfrm>
            <a:off x="1680519" y="3793524"/>
            <a:ext cx="6604686" cy="1390135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fr-FR" sz="1400" dirty="0" err="1"/>
              <a:t>Here</a:t>
            </a:r>
            <a:r>
              <a:rPr lang="fr-FR" sz="1400" dirty="0"/>
              <a:t> </a:t>
            </a:r>
            <a:r>
              <a:rPr lang="fr-FR" sz="1400" dirty="0" err="1"/>
              <a:t>we</a:t>
            </a:r>
            <a:r>
              <a:rPr lang="fr-FR" sz="1400" dirty="0"/>
              <a:t> display the </a:t>
            </a:r>
            <a:r>
              <a:rPr lang="fr-FR" sz="1400" dirty="0" err="1"/>
              <a:t>execution</a:t>
            </a:r>
            <a:r>
              <a:rPr lang="fr-FR" sz="1400" dirty="0"/>
              <a:t> pipeline in a </a:t>
            </a:r>
            <a:r>
              <a:rPr lang="fr-FR" sz="1400" dirty="0" err="1"/>
              <a:t>nice</a:t>
            </a:r>
            <a:r>
              <a:rPr lang="fr-FR" sz="1400" dirty="0"/>
              <a:t> </a:t>
            </a:r>
            <a:r>
              <a:rPr lang="fr-FR" sz="1400" dirty="0" err="1"/>
              <a:t>graphical</a:t>
            </a:r>
            <a:r>
              <a:rPr lang="fr-FR" sz="1400" dirty="0"/>
              <a:t> </a:t>
            </a:r>
            <a:r>
              <a:rPr lang="fr-FR" sz="1400" dirty="0" err="1"/>
              <a:t>way</a:t>
            </a:r>
            <a:r>
              <a:rPr lang="fr-FR" sz="1400" dirty="0"/>
              <a:t>, </a:t>
            </a:r>
            <a:r>
              <a:rPr lang="fr-FR" sz="1400" dirty="0" err="1"/>
              <a:t>starting</a:t>
            </a:r>
            <a:r>
              <a:rPr lang="fr-FR" sz="1400" dirty="0"/>
              <a:t> </a:t>
            </a:r>
            <a:r>
              <a:rPr lang="fr-FR" sz="1400" dirty="0" err="1"/>
              <a:t>with</a:t>
            </a:r>
            <a:r>
              <a:rPr lang="fr-FR" sz="1400" dirty="0"/>
              <a:t> the input, </a:t>
            </a:r>
            <a:r>
              <a:rPr lang="fr-FR" sz="1400" dirty="0" err="1"/>
              <a:t>each</a:t>
            </a:r>
            <a:r>
              <a:rPr lang="fr-FR" sz="1400" dirty="0"/>
              <a:t> </a:t>
            </a:r>
            <a:r>
              <a:rPr lang="fr-FR" sz="1400" dirty="0" err="1"/>
              <a:t>step</a:t>
            </a:r>
            <a:r>
              <a:rPr lang="fr-FR" sz="1400" dirty="0"/>
              <a:t> and the output </a:t>
            </a:r>
            <a:r>
              <a:rPr lang="fr-FR" sz="1400" dirty="0" err="1"/>
              <a:t>with</a:t>
            </a:r>
            <a:r>
              <a:rPr lang="fr-FR" sz="1400" dirty="0"/>
              <a:t> the </a:t>
            </a:r>
            <a:r>
              <a:rPr lang="fr-FR" sz="1400" dirty="0" err="1"/>
              <a:t>ability</a:t>
            </a:r>
            <a:r>
              <a:rPr lang="fr-FR" sz="1400" dirty="0"/>
              <a:t> to display and </a:t>
            </a:r>
            <a:r>
              <a:rPr lang="fr-FR" sz="1400" dirty="0" err="1"/>
              <a:t>edit</a:t>
            </a:r>
            <a:r>
              <a:rPr lang="fr-FR" sz="1400" dirty="0"/>
              <a:t> the JSON by </a:t>
            </a:r>
            <a:r>
              <a:rPr lang="fr-FR" sz="1400" dirty="0" err="1"/>
              <a:t>clicking</a:t>
            </a:r>
            <a:r>
              <a:rPr lang="fr-FR" sz="1400" dirty="0"/>
              <a:t> on </a:t>
            </a:r>
            <a:r>
              <a:rPr lang="fr-FR" sz="1400" dirty="0" err="1"/>
              <a:t>each</a:t>
            </a:r>
            <a:r>
              <a:rPr lang="fr-FR" sz="1400" dirty="0"/>
              <a:t> « </a:t>
            </a:r>
            <a:r>
              <a:rPr lang="fr-FR" sz="1400" dirty="0" err="1"/>
              <a:t>node</a:t>
            </a:r>
            <a:r>
              <a:rPr lang="fr-FR" sz="1400" dirty="0"/>
              <a:t> ». </a:t>
            </a:r>
            <a:r>
              <a:rPr lang="fr-FR" sz="1400" dirty="0" err="1"/>
              <a:t>We</a:t>
            </a:r>
            <a:r>
              <a:rPr lang="fr-FR" sz="1400" dirty="0"/>
              <a:t> </a:t>
            </a:r>
            <a:r>
              <a:rPr lang="fr-FR" sz="1400" dirty="0" err="1"/>
              <a:t>still</a:t>
            </a:r>
            <a:r>
              <a:rPr lang="fr-FR" sz="1400" dirty="0"/>
              <a:t> have the « </a:t>
            </a:r>
            <a:r>
              <a:rPr lang="fr-FR" sz="1400" dirty="0" err="1"/>
              <a:t>Generate</a:t>
            </a:r>
            <a:r>
              <a:rPr lang="fr-FR" sz="1400" dirty="0"/>
              <a:t> pipeline » and « </a:t>
            </a:r>
            <a:r>
              <a:rPr lang="fr-FR" sz="1400" dirty="0" err="1"/>
              <a:t>Verify</a:t>
            </a:r>
            <a:r>
              <a:rPr lang="fr-FR" sz="1400" dirty="0"/>
              <a:t> pipeline »</a:t>
            </a:r>
            <a:endParaRPr lang="en-US" sz="1400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1AFFA084-E305-7FE5-9C8F-03170ABEDA96}"/>
              </a:ext>
            </a:extLst>
          </p:cNvPr>
          <p:cNvSpPr txBox="1"/>
          <p:nvPr/>
        </p:nvSpPr>
        <p:spPr>
          <a:xfrm>
            <a:off x="1940011" y="3599932"/>
            <a:ext cx="244329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FR" dirty="0"/>
              <a:t>3 – </a:t>
            </a:r>
            <a:r>
              <a:rPr lang="fr-FR" dirty="0" err="1"/>
              <a:t>Implement</a:t>
            </a:r>
            <a:r>
              <a:rPr lang="fr-FR" dirty="0"/>
              <a:t> Pipeline</a:t>
            </a:r>
            <a:endParaRPr lang="en-US" dirty="0"/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9BDAC12D-9253-2B76-D85B-AE21AE02D186}"/>
              </a:ext>
            </a:extLst>
          </p:cNvPr>
          <p:cNvSpPr/>
          <p:nvPr/>
        </p:nvSpPr>
        <p:spPr>
          <a:xfrm>
            <a:off x="1680519" y="5377251"/>
            <a:ext cx="6604686" cy="1390135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fr-FR" sz="1400" dirty="0"/>
              <a:t>This </a:t>
            </a:r>
            <a:r>
              <a:rPr lang="fr-FR" sz="1400" dirty="0" err="1"/>
              <a:t>is</a:t>
            </a:r>
            <a:r>
              <a:rPr lang="fr-FR" sz="1400" dirty="0"/>
              <a:t> the « </a:t>
            </a:r>
            <a:r>
              <a:rPr lang="fr-FR" sz="1400" dirty="0" err="1"/>
              <a:t>Execute</a:t>
            </a:r>
            <a:r>
              <a:rPr lang="fr-FR" sz="1400" dirty="0"/>
              <a:t> » part. It </a:t>
            </a:r>
            <a:r>
              <a:rPr lang="fr-FR" sz="1400" dirty="0" err="1"/>
              <a:t>should</a:t>
            </a:r>
            <a:r>
              <a:rPr lang="fr-FR" sz="1400" dirty="0"/>
              <a:t> tell </a:t>
            </a:r>
            <a:r>
              <a:rPr lang="fr-FR" sz="1400" dirty="0" err="1"/>
              <a:t>that</a:t>
            </a:r>
            <a:r>
              <a:rPr lang="fr-FR" sz="1400" dirty="0"/>
              <a:t> one can </a:t>
            </a:r>
            <a:r>
              <a:rPr lang="fr-FR" sz="1400" dirty="0" err="1"/>
              <a:t>only</a:t>
            </a:r>
            <a:r>
              <a:rPr lang="fr-FR" sz="1400" dirty="0"/>
              <a:t> </a:t>
            </a:r>
            <a:r>
              <a:rPr lang="fr-FR" sz="1400" dirty="0" err="1"/>
              <a:t>execute</a:t>
            </a:r>
            <a:r>
              <a:rPr lang="fr-FR" sz="1400" dirty="0"/>
              <a:t> if the pipeline has been </a:t>
            </a:r>
            <a:r>
              <a:rPr lang="fr-FR" sz="1400" dirty="0" err="1"/>
              <a:t>successfully</a:t>
            </a:r>
            <a:r>
              <a:rPr lang="fr-FR" sz="1400" dirty="0"/>
              <a:t> </a:t>
            </a:r>
            <a:r>
              <a:rPr lang="fr-FR" sz="1400" dirty="0" err="1"/>
              <a:t>verified</a:t>
            </a:r>
            <a:r>
              <a:rPr lang="fr-FR" sz="1400" dirty="0"/>
              <a:t>. And </a:t>
            </a:r>
            <a:r>
              <a:rPr lang="fr-FR" sz="1400" dirty="0" err="1"/>
              <a:t>that</a:t>
            </a:r>
            <a:r>
              <a:rPr lang="fr-FR" sz="1400" dirty="0"/>
              <a:t> section </a:t>
            </a:r>
            <a:r>
              <a:rPr lang="fr-FR" sz="1400" dirty="0" err="1"/>
              <a:t>activates</a:t>
            </a:r>
            <a:r>
              <a:rPr lang="fr-FR" sz="1400" dirty="0"/>
              <a:t> / </a:t>
            </a:r>
            <a:r>
              <a:rPr lang="fr-FR" sz="1400" dirty="0" err="1"/>
              <a:t>deactives</a:t>
            </a:r>
            <a:r>
              <a:rPr lang="fr-FR" sz="1400" dirty="0"/>
              <a:t> </a:t>
            </a:r>
            <a:r>
              <a:rPr lang="fr-FR" sz="1400" dirty="0" err="1"/>
              <a:t>accordingly</a:t>
            </a:r>
            <a:r>
              <a:rPr lang="fr-FR" sz="1400" dirty="0"/>
              <a:t> </a:t>
            </a:r>
            <a:r>
              <a:rPr lang="fr-FR" sz="1400" dirty="0" err="1"/>
              <a:t>based</a:t>
            </a:r>
            <a:r>
              <a:rPr lang="fr-FR" sz="1400" dirty="0"/>
              <a:t> on the </a:t>
            </a:r>
            <a:r>
              <a:rPr lang="fr-FR" sz="1400" dirty="0" err="1"/>
              <a:t>success</a:t>
            </a:r>
            <a:r>
              <a:rPr lang="fr-FR" sz="1400" dirty="0"/>
              <a:t> </a:t>
            </a:r>
            <a:r>
              <a:rPr lang="fr-FR" sz="1400" dirty="0" err="1"/>
              <a:t>status</a:t>
            </a:r>
            <a:r>
              <a:rPr lang="fr-FR" sz="1400" dirty="0"/>
              <a:t> of the pipeline </a:t>
            </a:r>
            <a:r>
              <a:rPr lang="fr-FR" sz="1400" dirty="0" err="1"/>
              <a:t>verification</a:t>
            </a:r>
            <a:r>
              <a:rPr lang="fr-FR" sz="1400" dirty="0"/>
              <a:t>.</a:t>
            </a:r>
            <a:endParaRPr lang="en-US" sz="1400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FCDA5188-8A9B-2690-8E29-D5A1D1527023}"/>
              </a:ext>
            </a:extLst>
          </p:cNvPr>
          <p:cNvSpPr txBox="1"/>
          <p:nvPr/>
        </p:nvSpPr>
        <p:spPr>
          <a:xfrm>
            <a:off x="1940011" y="5183659"/>
            <a:ext cx="210852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FR" dirty="0"/>
              <a:t>4 – Dry-run Pipeline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4954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C5A58849-9479-7E79-6D66-FB2298766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Bugs</a:t>
            </a:r>
            <a:endParaRPr lang="en-US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7E73109-5251-45B2-B0FD-F35D037F64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914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9BAAE7DA-D036-C0E1-23BC-F7EF0FFE4E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3646" y="2076333"/>
            <a:ext cx="4244708" cy="2705334"/>
          </a:xfrm>
          <a:prstGeom prst="rect">
            <a:avLst/>
          </a:prstGeom>
        </p:spPr>
      </p:pic>
      <p:sp>
        <p:nvSpPr>
          <p:cNvPr id="5" name="Légende : encadrée 4">
            <a:extLst>
              <a:ext uri="{FF2B5EF4-FFF2-40B4-BE49-F238E27FC236}">
                <a16:creationId xmlns:a16="http://schemas.microsoft.com/office/drawing/2014/main" id="{A579008A-0202-972E-8413-349A7CE4AA4E}"/>
              </a:ext>
            </a:extLst>
          </p:cNvPr>
          <p:cNvSpPr/>
          <p:nvPr/>
        </p:nvSpPr>
        <p:spPr>
          <a:xfrm flipH="1">
            <a:off x="1402492" y="2076333"/>
            <a:ext cx="1618736" cy="1352667"/>
          </a:xfrm>
          <a:prstGeom prst="borderCallout1">
            <a:avLst>
              <a:gd name="adj1" fmla="val 18750"/>
              <a:gd name="adj2" fmla="val -8333"/>
              <a:gd name="adj3" fmla="val 98211"/>
              <a:gd name="adj4" fmla="val -77938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200" dirty="0" err="1">
                <a:solidFill>
                  <a:sysClr val="windowText" lastClr="000000"/>
                </a:solidFill>
              </a:rPr>
              <a:t>Should</a:t>
            </a:r>
            <a:r>
              <a:rPr lang="fr-FR" sz="1200" dirty="0">
                <a:solidFill>
                  <a:sysClr val="windowText" lastClr="000000"/>
                </a:solidFill>
              </a:rPr>
              <a:t> display the </a:t>
            </a:r>
            <a:r>
              <a:rPr lang="fr-FR" sz="1200" dirty="0" err="1">
                <a:solidFill>
                  <a:sysClr val="windowText" lastClr="000000"/>
                </a:solidFill>
              </a:rPr>
              <a:t>name</a:t>
            </a:r>
            <a:r>
              <a:rPr lang="fr-FR" sz="1200" dirty="0">
                <a:solidFill>
                  <a:sysClr val="windowText" lastClr="000000"/>
                </a:solidFill>
              </a:rPr>
              <a:t> of the source </a:t>
            </a:r>
            <a:r>
              <a:rPr lang="fr-FR" sz="1200" dirty="0" err="1">
                <a:solidFill>
                  <a:sysClr val="windowText" lastClr="000000"/>
                </a:solidFill>
              </a:rPr>
              <a:t>field</a:t>
            </a:r>
            <a:r>
              <a:rPr lang="fr-FR" sz="1200" dirty="0">
                <a:solidFill>
                  <a:sysClr val="windowText" lastClr="000000"/>
                </a:solidFill>
              </a:rPr>
              <a:t> OR the </a:t>
            </a:r>
            <a:r>
              <a:rPr lang="fr-FR" sz="1200" dirty="0" err="1">
                <a:solidFill>
                  <a:sysClr val="windowText" lastClr="000000"/>
                </a:solidFill>
              </a:rPr>
              <a:t>list</a:t>
            </a:r>
            <a:r>
              <a:rPr lang="fr-FR" sz="1200" dirty="0">
                <a:solidFill>
                  <a:sysClr val="windowText" lastClr="000000"/>
                </a:solidFill>
              </a:rPr>
              <a:t> of possible source </a:t>
            </a:r>
            <a:r>
              <a:rPr lang="fr-FR" sz="1200" dirty="0" err="1">
                <a:solidFill>
                  <a:sysClr val="windowText" lastClr="000000"/>
                </a:solidFill>
              </a:rPr>
              <a:t>fields</a:t>
            </a:r>
            <a:r>
              <a:rPr lang="fr-FR" sz="1200" dirty="0">
                <a:solidFill>
                  <a:sysClr val="windowText" lastClr="000000"/>
                </a:solidFill>
              </a:rPr>
              <a:t> (if </a:t>
            </a:r>
            <a:r>
              <a:rPr lang="fr-FR" sz="1200" dirty="0" err="1">
                <a:solidFill>
                  <a:sysClr val="windowText" lastClr="000000"/>
                </a:solidFill>
              </a:rPr>
              <a:t>there</a:t>
            </a:r>
            <a:r>
              <a:rPr lang="fr-FR" sz="1200" dirty="0">
                <a:solidFill>
                  <a:sysClr val="windowText" lastClr="000000"/>
                </a:solidFill>
              </a:rPr>
              <a:t> are </a:t>
            </a:r>
            <a:r>
              <a:rPr lang="fr-FR" sz="1200" dirty="0" err="1">
                <a:solidFill>
                  <a:sysClr val="windowText" lastClr="000000"/>
                </a:solidFill>
              </a:rPr>
              <a:t>many</a:t>
            </a:r>
            <a:r>
              <a:rPr lang="fr-FR" sz="1200" dirty="0">
                <a:solidFill>
                  <a:sysClr val="windowText" lastClr="000000"/>
                </a:solidFill>
              </a:rPr>
              <a:t>)</a:t>
            </a:r>
            <a:endParaRPr 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6" name="Légende : encadrée 5">
            <a:extLst>
              <a:ext uri="{FF2B5EF4-FFF2-40B4-BE49-F238E27FC236}">
                <a16:creationId xmlns:a16="http://schemas.microsoft.com/office/drawing/2014/main" id="{80CB9F1A-EFAA-9282-5173-79C19A273094}"/>
              </a:ext>
            </a:extLst>
          </p:cNvPr>
          <p:cNvSpPr/>
          <p:nvPr/>
        </p:nvSpPr>
        <p:spPr>
          <a:xfrm>
            <a:off x="8717692" y="1223318"/>
            <a:ext cx="2187147" cy="1352667"/>
          </a:xfrm>
          <a:prstGeom prst="borderCallout1">
            <a:avLst>
              <a:gd name="adj1" fmla="val 18750"/>
              <a:gd name="adj2" fmla="val -8333"/>
              <a:gd name="adj3" fmla="val 147084"/>
              <a:gd name="adj4" fmla="val -65942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200" dirty="0" err="1">
                <a:solidFill>
                  <a:sysClr val="windowText" lastClr="000000"/>
                </a:solidFill>
              </a:rPr>
              <a:t>Should</a:t>
            </a:r>
            <a:r>
              <a:rPr lang="fr-FR" sz="1200" dirty="0">
                <a:solidFill>
                  <a:sysClr val="windowText" lastClr="000000"/>
                </a:solidFill>
              </a:rPr>
              <a:t> display the </a:t>
            </a:r>
            <a:r>
              <a:rPr lang="fr-FR" sz="1200" dirty="0" err="1">
                <a:solidFill>
                  <a:sysClr val="windowText" lastClr="000000"/>
                </a:solidFill>
              </a:rPr>
              <a:t>list</a:t>
            </a:r>
            <a:r>
              <a:rPr lang="fr-FR" sz="1200" dirty="0">
                <a:solidFill>
                  <a:sysClr val="windowText" lastClr="000000"/>
                </a:solidFill>
              </a:rPr>
              <a:t> of input variables for the </a:t>
            </a:r>
            <a:r>
              <a:rPr lang="fr-FR" sz="1200" dirty="0" err="1">
                <a:solidFill>
                  <a:sysClr val="windowText" lastClr="000000"/>
                </a:solidFill>
              </a:rPr>
              <a:t>target</a:t>
            </a:r>
            <a:r>
              <a:rPr lang="fr-FR" sz="1200" dirty="0">
                <a:solidFill>
                  <a:sysClr val="windowText" lastClr="000000"/>
                </a:solidFill>
              </a:rPr>
              <a:t> </a:t>
            </a:r>
            <a:r>
              <a:rPr lang="fr-FR" sz="1200" dirty="0" err="1">
                <a:solidFill>
                  <a:sysClr val="windowText" lastClr="000000"/>
                </a:solidFill>
              </a:rPr>
              <a:t>componen</a:t>
            </a:r>
            <a:r>
              <a:rPr lang="fr-FR" sz="1200" dirty="0">
                <a:solidFill>
                  <a:sysClr val="windowText" lastClr="000000"/>
                </a:solidFill>
              </a:rPr>
              <a:t>( (in the case I </a:t>
            </a:r>
            <a:r>
              <a:rPr lang="fr-FR" sz="1200" dirty="0" err="1">
                <a:solidFill>
                  <a:sysClr val="windowText" lastClr="000000"/>
                </a:solidFill>
              </a:rPr>
              <a:t>am</a:t>
            </a:r>
            <a:r>
              <a:rPr lang="fr-FR" sz="1200" dirty="0">
                <a:solidFill>
                  <a:sysClr val="windowText" lastClr="000000"/>
                </a:solidFill>
              </a:rPr>
              <a:t> </a:t>
            </a:r>
            <a:r>
              <a:rPr lang="fr-FR" sz="1200" dirty="0" err="1">
                <a:solidFill>
                  <a:sysClr val="windowText" lastClr="000000"/>
                </a:solidFill>
              </a:rPr>
              <a:t>testing</a:t>
            </a:r>
            <a:r>
              <a:rPr lang="fr-FR" sz="1200" dirty="0">
                <a:solidFill>
                  <a:sysClr val="windowText" lastClr="000000"/>
                </a:solidFill>
              </a:rPr>
              <a:t> </a:t>
            </a:r>
            <a:r>
              <a:rPr lang="fr-FR" sz="1200" dirty="0" err="1">
                <a:solidFill>
                  <a:sysClr val="windowText" lastClr="000000"/>
                </a:solidFill>
              </a:rPr>
              <a:t>it</a:t>
            </a:r>
            <a:r>
              <a:rPr lang="fr-FR" sz="1200" dirty="0">
                <a:solidFill>
                  <a:sysClr val="windowText" lastClr="000000"/>
                </a:solidFill>
              </a:rPr>
              <a:t> </a:t>
            </a:r>
            <a:r>
              <a:rPr lang="fr-FR" sz="1200" dirty="0" err="1">
                <a:solidFill>
                  <a:sysClr val="windowText" lastClr="000000"/>
                </a:solidFill>
              </a:rPr>
              <a:t>could</a:t>
            </a:r>
            <a:r>
              <a:rPr lang="fr-FR" sz="1200" dirty="0">
                <a:solidFill>
                  <a:sysClr val="windowText" lastClr="000000"/>
                </a:solidFill>
              </a:rPr>
              <a:t> </a:t>
            </a:r>
            <a:r>
              <a:rPr lang="fr-FR" sz="1200" dirty="0" err="1">
                <a:solidFill>
                  <a:sysClr val="windowText" lastClr="000000"/>
                </a:solidFill>
              </a:rPr>
              <a:t>be</a:t>
            </a:r>
            <a:r>
              <a:rPr lang="fr-FR" sz="1200" dirty="0">
                <a:solidFill>
                  <a:sysClr val="windowText" lastClr="000000"/>
                </a:solidFill>
              </a:rPr>
              <a:t> </a:t>
            </a:r>
            <a:r>
              <a:rPr lang="fr-FR" sz="1200" dirty="0" err="1">
                <a:solidFill>
                  <a:sysClr val="windowText" lastClr="000000"/>
                </a:solidFill>
              </a:rPr>
              <a:t>country_name</a:t>
            </a:r>
            <a:r>
              <a:rPr lang="fr-FR" sz="1200" dirty="0">
                <a:solidFill>
                  <a:sysClr val="windowText" lastClr="000000"/>
                </a:solidFill>
              </a:rPr>
              <a:t>, </a:t>
            </a:r>
            <a:r>
              <a:rPr lang="fr-FR" sz="1200" dirty="0" err="1">
                <a:solidFill>
                  <a:sysClr val="windowText" lastClr="000000"/>
                </a:solidFill>
              </a:rPr>
              <a:t>width</a:t>
            </a:r>
            <a:r>
              <a:rPr lang="fr-FR" sz="1200" dirty="0">
                <a:solidFill>
                  <a:sysClr val="windowText" lastClr="000000"/>
                </a:solidFill>
              </a:rPr>
              <a:t>, </a:t>
            </a:r>
            <a:r>
              <a:rPr lang="fr-FR" sz="1200" dirty="0" err="1">
                <a:solidFill>
                  <a:sysClr val="windowText" lastClr="000000"/>
                </a:solidFill>
              </a:rPr>
              <a:t>height</a:t>
            </a:r>
            <a:r>
              <a:rPr lang="fr-FR" sz="1200" dirty="0">
                <a:solidFill>
                  <a:sysClr val="windowText" lastClr="000000"/>
                </a:solidFill>
              </a:rPr>
              <a:t>, etc.)</a:t>
            </a:r>
            <a:endParaRPr lang="en-US" sz="12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65269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D220B31A-78CA-3662-9650-8C51BC4F7D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00" y="420130"/>
            <a:ext cx="9604027" cy="5209732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1FECFCE-7989-96E2-9434-18C472D6EC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9808" y="0"/>
            <a:ext cx="1767464" cy="6858000"/>
          </a:xfrm>
          <a:prstGeom prst="rect">
            <a:avLst/>
          </a:prstGeom>
        </p:spPr>
      </p:pic>
      <p:sp>
        <p:nvSpPr>
          <p:cNvPr id="6" name="Légende : encadrée 5">
            <a:extLst>
              <a:ext uri="{FF2B5EF4-FFF2-40B4-BE49-F238E27FC236}">
                <a16:creationId xmlns:a16="http://schemas.microsoft.com/office/drawing/2014/main" id="{A7FBBEBC-1D43-2EF5-F67F-7577846B9664}"/>
              </a:ext>
            </a:extLst>
          </p:cNvPr>
          <p:cNvSpPr/>
          <p:nvPr/>
        </p:nvSpPr>
        <p:spPr>
          <a:xfrm flipH="1">
            <a:off x="7111314" y="1433782"/>
            <a:ext cx="1618736" cy="969608"/>
          </a:xfrm>
          <a:prstGeom prst="borderCallout1">
            <a:avLst>
              <a:gd name="adj1" fmla="val 18750"/>
              <a:gd name="adj2" fmla="val -8333"/>
              <a:gd name="adj3" fmla="val 98211"/>
              <a:gd name="adj4" fmla="val -77938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ysClr val="windowText" lastClr="000000"/>
                </a:solidFill>
              </a:rPr>
              <a:t>But in the </a:t>
            </a:r>
            <a:r>
              <a:rPr lang="fr-FR" sz="1200" dirty="0" err="1">
                <a:solidFill>
                  <a:sysClr val="windowText" lastClr="000000"/>
                </a:solidFill>
              </a:rPr>
              <a:t>inspector</a:t>
            </a:r>
            <a:r>
              <a:rPr lang="fr-FR" sz="1200" dirty="0">
                <a:solidFill>
                  <a:sysClr val="windowText" lastClr="000000"/>
                </a:solidFill>
              </a:rPr>
              <a:t> (in the Agent Builder) </a:t>
            </a:r>
            <a:r>
              <a:rPr lang="fr-FR" sz="1200" dirty="0" err="1">
                <a:solidFill>
                  <a:sysClr val="windowText" lastClr="000000"/>
                </a:solidFill>
              </a:rPr>
              <a:t>it</a:t>
            </a:r>
            <a:r>
              <a:rPr lang="fr-FR" sz="1200" dirty="0">
                <a:solidFill>
                  <a:sysClr val="windowText" lastClr="000000"/>
                </a:solidFill>
              </a:rPr>
              <a:t> displays « </a:t>
            </a:r>
            <a:r>
              <a:rPr lang="fr-FR" sz="1200" dirty="0" err="1">
                <a:solidFill>
                  <a:sysClr val="windowText" lastClr="000000"/>
                </a:solidFill>
              </a:rPr>
              <a:t>country_name</a:t>
            </a:r>
            <a:r>
              <a:rPr lang="fr-FR" sz="1200" dirty="0">
                <a:solidFill>
                  <a:sysClr val="windowText" lastClr="000000"/>
                </a:solidFill>
              </a:rPr>
              <a:t> »</a:t>
            </a:r>
            <a:endParaRPr lang="en-US" sz="1200" dirty="0">
              <a:solidFill>
                <a:sysClr val="windowText" lastClr="000000"/>
              </a:solidFill>
            </a:endParaRPr>
          </a:p>
        </p:txBody>
      </p:sp>
      <p:sp>
        <p:nvSpPr>
          <p:cNvPr id="9" name="Légende : encadrée 8">
            <a:extLst>
              <a:ext uri="{FF2B5EF4-FFF2-40B4-BE49-F238E27FC236}">
                <a16:creationId xmlns:a16="http://schemas.microsoft.com/office/drawing/2014/main" id="{2E4BAE2B-C60A-9991-F554-4E4B49024DE6}"/>
              </a:ext>
            </a:extLst>
          </p:cNvPr>
          <p:cNvSpPr/>
          <p:nvPr/>
        </p:nvSpPr>
        <p:spPr>
          <a:xfrm>
            <a:off x="3296606" y="2011743"/>
            <a:ext cx="1856162" cy="969608"/>
          </a:xfrm>
          <a:prstGeom prst="borderCallout1">
            <a:avLst>
              <a:gd name="adj1" fmla="val 18750"/>
              <a:gd name="adj2" fmla="val -8333"/>
              <a:gd name="adj3" fmla="val 98211"/>
              <a:gd name="adj4" fmla="val -77938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ysClr val="windowText" lastClr="000000"/>
                </a:solidFill>
              </a:rPr>
              <a:t>In the Tool Builder, the </a:t>
            </a:r>
            <a:r>
              <a:rPr lang="fr-FR" sz="1200" dirty="0" err="1">
                <a:solidFill>
                  <a:sysClr val="windowText" lastClr="000000"/>
                </a:solidFill>
              </a:rPr>
              <a:t>schema</a:t>
            </a:r>
            <a:r>
              <a:rPr lang="fr-FR" sz="1200" dirty="0">
                <a:solidFill>
                  <a:sysClr val="windowText" lastClr="000000"/>
                </a:solidFill>
              </a:rPr>
              <a:t> </a:t>
            </a:r>
            <a:r>
              <a:rPr lang="fr-FR" sz="1200" dirty="0" err="1">
                <a:solidFill>
                  <a:sysClr val="windowText" lastClr="000000"/>
                </a:solidFill>
              </a:rPr>
              <a:t>that</a:t>
            </a:r>
            <a:r>
              <a:rPr lang="fr-FR" sz="1200" dirty="0">
                <a:solidFill>
                  <a:sysClr val="windowText" lastClr="000000"/>
                </a:solidFill>
              </a:rPr>
              <a:t> has been </a:t>
            </a:r>
            <a:r>
              <a:rPr lang="fr-FR" sz="1200" dirty="0" err="1">
                <a:solidFill>
                  <a:sysClr val="windowText" lastClr="000000"/>
                </a:solidFill>
              </a:rPr>
              <a:t>generated</a:t>
            </a:r>
            <a:r>
              <a:rPr lang="fr-FR" sz="1200" dirty="0">
                <a:solidFill>
                  <a:sysClr val="windowText" lastClr="000000"/>
                </a:solidFill>
              </a:rPr>
              <a:t> shows « </a:t>
            </a:r>
            <a:r>
              <a:rPr lang="fr-FR" sz="1200" dirty="0" err="1">
                <a:solidFill>
                  <a:sysClr val="windowText" lastClr="000000"/>
                </a:solidFill>
              </a:rPr>
              <a:t>name</a:t>
            </a:r>
            <a:r>
              <a:rPr lang="fr-FR" sz="1200" dirty="0">
                <a:solidFill>
                  <a:sysClr val="windowText" lastClr="000000"/>
                </a:solidFill>
              </a:rPr>
              <a:t> » as input variable </a:t>
            </a:r>
            <a:endParaRPr lang="en-US" sz="12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34715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AA553FC9-4ECA-4552-2A86-F8B8BDE2D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Verify</a:t>
            </a:r>
            <a:r>
              <a:rPr lang="fr-FR" dirty="0"/>
              <a:t> pipeline</a:t>
            </a:r>
            <a:endParaRPr lang="en-US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D3F48D2-DAD5-6E6B-4C93-E9203B13C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123" y="1690688"/>
            <a:ext cx="5154475" cy="4563188"/>
          </a:xfrm>
          <a:prstGeom prst="rect">
            <a:avLst/>
          </a:prstGeom>
        </p:spPr>
      </p:pic>
      <p:sp>
        <p:nvSpPr>
          <p:cNvPr id="7" name="Légende : encadrée 6">
            <a:extLst>
              <a:ext uri="{FF2B5EF4-FFF2-40B4-BE49-F238E27FC236}">
                <a16:creationId xmlns:a16="http://schemas.microsoft.com/office/drawing/2014/main" id="{64E3F3B2-6C29-C0A5-7C85-F67040549A96}"/>
              </a:ext>
            </a:extLst>
          </p:cNvPr>
          <p:cNvSpPr/>
          <p:nvPr/>
        </p:nvSpPr>
        <p:spPr>
          <a:xfrm>
            <a:off x="5817385" y="1619927"/>
            <a:ext cx="2548140" cy="969608"/>
          </a:xfrm>
          <a:prstGeom prst="borderCallout1">
            <a:avLst>
              <a:gd name="adj1" fmla="val 18750"/>
              <a:gd name="adj2" fmla="val -8333"/>
              <a:gd name="adj3" fmla="val 177861"/>
              <a:gd name="adj4" fmla="val -4860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000" dirty="0" err="1">
                <a:solidFill>
                  <a:sysClr val="windowText" lastClr="000000"/>
                </a:solidFill>
              </a:rPr>
              <a:t>Currently</a:t>
            </a:r>
            <a:r>
              <a:rPr lang="fr-FR" sz="1000" dirty="0">
                <a:solidFill>
                  <a:sysClr val="windowText" lastClr="000000"/>
                </a:solidFill>
              </a:rPr>
              <a:t>, the application displays the output of the </a:t>
            </a:r>
            <a:r>
              <a:rPr lang="fr-FR" sz="1000" dirty="0" err="1">
                <a:solidFill>
                  <a:sysClr val="windowText" lastClr="000000"/>
                </a:solidFill>
              </a:rPr>
              <a:t>each</a:t>
            </a:r>
            <a:r>
              <a:rPr lang="fr-FR" sz="1000" dirty="0">
                <a:solidFill>
                  <a:sysClr val="windowText" lastClr="000000"/>
                </a:solidFill>
              </a:rPr>
              <a:t> last </a:t>
            </a:r>
            <a:r>
              <a:rPr lang="fr-FR" sz="1000" dirty="0" err="1">
                <a:solidFill>
                  <a:sysClr val="windowText" lastClr="000000"/>
                </a:solidFill>
              </a:rPr>
              <a:t>step</a:t>
            </a:r>
            <a:r>
              <a:rPr lang="fr-FR" sz="1000" dirty="0">
                <a:solidFill>
                  <a:sysClr val="windowText" lastClr="000000"/>
                </a:solidFill>
              </a:rPr>
              <a:t> (in </a:t>
            </a:r>
            <a:r>
              <a:rPr lang="fr-FR" sz="1000" dirty="0" err="1">
                <a:solidFill>
                  <a:sysClr val="windowText" lastClr="000000"/>
                </a:solidFill>
              </a:rPr>
              <a:t>this</a:t>
            </a:r>
            <a:r>
              <a:rPr lang="fr-FR" sz="1000" dirty="0">
                <a:solidFill>
                  <a:sysClr val="windowText" lastClr="000000"/>
                </a:solidFill>
              </a:rPr>
              <a:t> </a:t>
            </a:r>
            <a:r>
              <a:rPr lang="fr-FR" sz="1000" dirty="0" err="1">
                <a:solidFill>
                  <a:sysClr val="windowText" lastClr="000000"/>
                </a:solidFill>
              </a:rPr>
              <a:t>example</a:t>
            </a:r>
            <a:r>
              <a:rPr lang="fr-FR" sz="1000" dirty="0">
                <a:solidFill>
                  <a:sysClr val="windowText" lastClr="000000"/>
                </a:solidFill>
              </a:rPr>
              <a:t> « </a:t>
            </a:r>
            <a:r>
              <a:rPr lang="fr-FR" sz="1000" dirty="0" err="1">
                <a:solidFill>
                  <a:sysClr val="windowText" lastClr="000000"/>
                </a:solidFill>
              </a:rPr>
              <a:t>Step</a:t>
            </a:r>
            <a:r>
              <a:rPr lang="fr-FR" sz="1000" dirty="0">
                <a:solidFill>
                  <a:sysClr val="windowText" lastClr="000000"/>
                </a:solidFill>
              </a:rPr>
              <a:t> 2 »). OK</a:t>
            </a:r>
            <a:endParaRPr 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8" name="Légende : encadrée 7">
            <a:extLst>
              <a:ext uri="{FF2B5EF4-FFF2-40B4-BE49-F238E27FC236}">
                <a16:creationId xmlns:a16="http://schemas.microsoft.com/office/drawing/2014/main" id="{EA229ACB-2DCA-4C73-CF27-0D7A8772B059}"/>
              </a:ext>
            </a:extLst>
          </p:cNvPr>
          <p:cNvSpPr/>
          <p:nvPr/>
        </p:nvSpPr>
        <p:spPr>
          <a:xfrm>
            <a:off x="5747598" y="3196975"/>
            <a:ext cx="2548140" cy="969608"/>
          </a:xfrm>
          <a:prstGeom prst="borderCallout1">
            <a:avLst>
              <a:gd name="adj1" fmla="val 18750"/>
              <a:gd name="adj2" fmla="val -8333"/>
              <a:gd name="adj3" fmla="val 163843"/>
              <a:gd name="adj4" fmla="val -46175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000" dirty="0">
                <a:solidFill>
                  <a:sysClr val="windowText" lastClr="000000"/>
                </a:solidFill>
              </a:rPr>
              <a:t>Once the user has </a:t>
            </a:r>
            <a:r>
              <a:rPr lang="fr-FR" sz="1000" dirty="0" err="1">
                <a:solidFill>
                  <a:sysClr val="windowText" lastClr="000000"/>
                </a:solidFill>
              </a:rPr>
              <a:t>mapped</a:t>
            </a:r>
            <a:r>
              <a:rPr lang="fr-FR" sz="1000" dirty="0">
                <a:solidFill>
                  <a:sysClr val="windowText" lastClr="000000"/>
                </a:solidFill>
              </a:rPr>
              <a:t> the Output variables of Last </a:t>
            </a:r>
            <a:r>
              <a:rPr lang="fr-FR" sz="1000" dirty="0" err="1">
                <a:solidFill>
                  <a:sysClr val="windowText" lastClr="000000"/>
                </a:solidFill>
              </a:rPr>
              <a:t>Step</a:t>
            </a:r>
            <a:r>
              <a:rPr lang="fr-FR" sz="1000" dirty="0">
                <a:solidFill>
                  <a:sysClr val="windowText" lastClr="000000"/>
                </a:solidFill>
              </a:rPr>
              <a:t> Output Variable to Pipeline Output </a:t>
            </a:r>
            <a:r>
              <a:rPr lang="fr-FR" sz="1000" dirty="0" err="1">
                <a:solidFill>
                  <a:sysClr val="windowText" lastClr="000000"/>
                </a:solidFill>
              </a:rPr>
              <a:t>Schema</a:t>
            </a:r>
            <a:r>
              <a:rPr lang="fr-FR" sz="1000" dirty="0">
                <a:solidFill>
                  <a:sysClr val="windowText" lastClr="000000"/>
                </a:solidFill>
              </a:rPr>
              <a:t> and </a:t>
            </a:r>
            <a:r>
              <a:rPr lang="fr-FR" sz="1000" dirty="0" err="1">
                <a:solidFill>
                  <a:sysClr val="windowText" lastClr="000000"/>
                </a:solidFill>
              </a:rPr>
              <a:t>clicked</a:t>
            </a:r>
            <a:r>
              <a:rPr lang="fr-FR" sz="1000" dirty="0">
                <a:solidFill>
                  <a:sysClr val="windowText" lastClr="000000"/>
                </a:solidFill>
              </a:rPr>
              <a:t> « </a:t>
            </a:r>
            <a:r>
              <a:rPr lang="fr-FR" sz="1000" dirty="0" err="1">
                <a:solidFill>
                  <a:sysClr val="windowText" lastClr="000000"/>
                </a:solidFill>
              </a:rPr>
              <a:t>Accept</a:t>
            </a:r>
            <a:r>
              <a:rPr lang="fr-FR" sz="1000" dirty="0">
                <a:solidFill>
                  <a:sysClr val="windowText" lastClr="000000"/>
                </a:solidFill>
              </a:rPr>
              <a:t> &amp; Continue » , </a:t>
            </a:r>
            <a:r>
              <a:rPr lang="fr-FR" sz="1000" dirty="0" err="1">
                <a:solidFill>
                  <a:sysClr val="windowText" lastClr="000000"/>
                </a:solidFill>
              </a:rPr>
              <a:t>we</a:t>
            </a:r>
            <a:r>
              <a:rPr lang="fr-FR" sz="1000" dirty="0">
                <a:solidFill>
                  <a:sysClr val="windowText" lastClr="000000"/>
                </a:solidFill>
              </a:rPr>
              <a:t> know </a:t>
            </a:r>
            <a:r>
              <a:rPr lang="fr-FR" sz="1000" dirty="0" err="1">
                <a:solidFill>
                  <a:sysClr val="windowText" lastClr="000000"/>
                </a:solidFill>
              </a:rPr>
              <a:t>what</a:t>
            </a:r>
            <a:r>
              <a:rPr lang="fr-FR" sz="1000" dirty="0">
                <a:solidFill>
                  <a:sysClr val="windowText" lastClr="000000"/>
                </a:solidFill>
              </a:rPr>
              <a:t> </a:t>
            </a:r>
            <a:r>
              <a:rPr lang="fr-FR" sz="1000" dirty="0" err="1">
                <a:solidFill>
                  <a:sysClr val="windowText" lastClr="000000"/>
                </a:solidFill>
              </a:rPr>
              <a:t>is</a:t>
            </a:r>
            <a:r>
              <a:rPr lang="fr-FR" sz="1000" dirty="0">
                <a:solidFill>
                  <a:sysClr val="windowText" lastClr="000000"/>
                </a:solidFill>
              </a:rPr>
              <a:t> the final mapping</a:t>
            </a:r>
            <a:endParaRPr lang="en-US" sz="1000" dirty="0">
              <a:solidFill>
                <a:sysClr val="windowText" lastClr="000000"/>
              </a:solidFill>
            </a:endParaRPr>
          </a:p>
        </p:txBody>
      </p: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4E2B5D1C-F035-48E0-A08A-8D4A7533AA29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5424616" y="4166583"/>
            <a:ext cx="1597052" cy="18264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égende : encadrée 10">
            <a:extLst>
              <a:ext uri="{FF2B5EF4-FFF2-40B4-BE49-F238E27FC236}">
                <a16:creationId xmlns:a16="http://schemas.microsoft.com/office/drawing/2014/main" id="{E25DE2ED-466D-5C8B-F549-6DF1614404F2}"/>
              </a:ext>
            </a:extLst>
          </p:cNvPr>
          <p:cNvSpPr/>
          <p:nvPr/>
        </p:nvSpPr>
        <p:spPr>
          <a:xfrm flipH="1">
            <a:off x="593123" y="6110416"/>
            <a:ext cx="1818150" cy="673443"/>
          </a:xfrm>
          <a:prstGeom prst="borderCallout1">
            <a:avLst>
              <a:gd name="adj1" fmla="val 18750"/>
              <a:gd name="adj2" fmla="val -8333"/>
              <a:gd name="adj3" fmla="val -63718"/>
              <a:gd name="adj4" fmla="val -1407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000" dirty="0">
                <a:solidFill>
                  <a:sysClr val="windowText" lastClr="000000"/>
                </a:solidFill>
              </a:rPr>
              <a:t>Be </a:t>
            </a:r>
            <a:r>
              <a:rPr lang="fr-FR" sz="1000" dirty="0" err="1">
                <a:solidFill>
                  <a:sysClr val="windowText" lastClr="000000"/>
                </a:solidFill>
              </a:rPr>
              <a:t>careful</a:t>
            </a:r>
            <a:r>
              <a:rPr lang="fr-FR" sz="1000" dirty="0">
                <a:solidFill>
                  <a:sysClr val="windowText" lastClr="000000"/>
                </a:solidFill>
              </a:rPr>
              <a:t>, DO NOT CHANGE </a:t>
            </a:r>
            <a:r>
              <a:rPr lang="fr-FR" sz="1000" dirty="0" err="1">
                <a:solidFill>
                  <a:sysClr val="windowText" lastClr="000000"/>
                </a:solidFill>
              </a:rPr>
              <a:t>any</a:t>
            </a:r>
            <a:r>
              <a:rPr lang="fr-FR" sz="1000" dirty="0">
                <a:solidFill>
                  <a:sysClr val="windowText" lastClr="000000"/>
                </a:solidFill>
              </a:rPr>
              <a:t> process </a:t>
            </a:r>
            <a:r>
              <a:rPr lang="fr-FR" sz="1000" dirty="0" err="1">
                <a:solidFill>
                  <a:sysClr val="windowText" lastClr="000000"/>
                </a:solidFill>
              </a:rPr>
              <a:t>related</a:t>
            </a:r>
            <a:r>
              <a:rPr lang="fr-FR" sz="1000" dirty="0">
                <a:solidFill>
                  <a:sysClr val="windowText" lastClr="000000"/>
                </a:solidFill>
              </a:rPr>
              <a:t> to </a:t>
            </a:r>
            <a:r>
              <a:rPr lang="fr-FR" sz="1000" dirty="0" err="1">
                <a:solidFill>
                  <a:sysClr val="windowText" lastClr="000000"/>
                </a:solidFill>
              </a:rPr>
              <a:t>these</a:t>
            </a:r>
            <a:r>
              <a:rPr lang="fr-FR" sz="1000" dirty="0">
                <a:solidFill>
                  <a:sysClr val="windowText" lastClr="000000"/>
                </a:solidFill>
              </a:rPr>
              <a:t> </a:t>
            </a:r>
            <a:r>
              <a:rPr lang="fr-FR" sz="1000" dirty="0" err="1">
                <a:solidFill>
                  <a:sysClr val="windowText" lastClr="000000"/>
                </a:solidFill>
              </a:rPr>
              <a:t>dropdowns</a:t>
            </a:r>
            <a:endParaRPr lang="en-US" sz="1000" dirty="0">
              <a:solidFill>
                <a:sysClr val="windowText" lastClr="000000"/>
              </a:solidFill>
            </a:endParaRP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89D036E9-75C1-B9EF-3B97-BD1B5D1EF5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4371" y="4664194"/>
            <a:ext cx="4139116" cy="1931246"/>
          </a:xfrm>
          <a:prstGeom prst="rect">
            <a:avLst/>
          </a:prstGeom>
        </p:spPr>
      </p:pic>
      <p:sp>
        <p:nvSpPr>
          <p:cNvPr id="17" name="Légende : encadrée 16">
            <a:extLst>
              <a:ext uri="{FF2B5EF4-FFF2-40B4-BE49-F238E27FC236}">
                <a16:creationId xmlns:a16="http://schemas.microsoft.com/office/drawing/2014/main" id="{246B0C5F-0572-6ECB-BCBB-DA41FB7D28DC}"/>
              </a:ext>
            </a:extLst>
          </p:cNvPr>
          <p:cNvSpPr/>
          <p:nvPr/>
        </p:nvSpPr>
        <p:spPr>
          <a:xfrm flipH="1">
            <a:off x="9083923" y="2566780"/>
            <a:ext cx="1818150" cy="673443"/>
          </a:xfrm>
          <a:prstGeom prst="borderCallout1">
            <a:avLst>
              <a:gd name="adj1" fmla="val 18750"/>
              <a:gd name="adj2" fmla="val -8333"/>
              <a:gd name="adj3" fmla="val 423438"/>
              <a:gd name="adj4" fmla="val 59323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000" dirty="0">
                <a:solidFill>
                  <a:sysClr val="windowText" lastClr="000000"/>
                </a:solidFill>
              </a:rPr>
              <a:t>The Output of the pipeline MUST BE </a:t>
            </a:r>
            <a:r>
              <a:rPr lang="fr-FR" sz="1000" dirty="0" err="1">
                <a:solidFill>
                  <a:sysClr val="windowText" lastClr="000000"/>
                </a:solidFill>
              </a:rPr>
              <a:t>displayed</a:t>
            </a:r>
            <a:r>
              <a:rPr lang="fr-FR" sz="1000" dirty="0">
                <a:solidFill>
                  <a:sysClr val="windowText" lastClr="000000"/>
                </a:solidFill>
              </a:rPr>
              <a:t> at </a:t>
            </a:r>
            <a:r>
              <a:rPr lang="fr-FR" sz="1000" dirty="0" err="1">
                <a:solidFill>
                  <a:sysClr val="windowText" lastClr="000000"/>
                </a:solidFill>
              </a:rPr>
              <a:t>this</a:t>
            </a:r>
            <a:r>
              <a:rPr lang="fr-FR" sz="1000" dirty="0">
                <a:solidFill>
                  <a:sysClr val="windowText" lastClr="000000"/>
                </a:solidFill>
              </a:rPr>
              <a:t> last phase, </a:t>
            </a:r>
            <a:r>
              <a:rPr lang="fr-FR" sz="1000" dirty="0" err="1">
                <a:solidFill>
                  <a:sysClr val="windowText" lastClr="000000"/>
                </a:solidFill>
              </a:rPr>
              <a:t>with</a:t>
            </a:r>
            <a:r>
              <a:rPr lang="fr-FR" sz="1000" dirty="0">
                <a:solidFill>
                  <a:sysClr val="windowText" lastClr="000000"/>
                </a:solidFill>
              </a:rPr>
              <a:t> all mapping </a:t>
            </a:r>
            <a:r>
              <a:rPr lang="fr-FR" sz="1000" dirty="0" err="1">
                <a:solidFill>
                  <a:sysClr val="windowText" lastClr="000000"/>
                </a:solidFill>
              </a:rPr>
              <a:t>complete</a:t>
            </a:r>
            <a:endParaRPr lang="en-US" sz="10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24385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49C269-BAFA-DD37-05E3-998D73E2C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Verify</a:t>
            </a:r>
            <a:r>
              <a:rPr lang="fr-FR" dirty="0"/>
              <a:t> pipeline</a:t>
            </a:r>
            <a:endParaRPr lang="en-US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DBD6DB2-B187-6844-539E-E30023B8A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71564"/>
            <a:ext cx="10851292" cy="4783176"/>
          </a:xfrm>
          <a:prstGeom prst="rect">
            <a:avLst/>
          </a:prstGeom>
        </p:spPr>
      </p:pic>
      <p:sp>
        <p:nvSpPr>
          <p:cNvPr id="5" name="Légende : encadrée 4">
            <a:extLst>
              <a:ext uri="{FF2B5EF4-FFF2-40B4-BE49-F238E27FC236}">
                <a16:creationId xmlns:a16="http://schemas.microsoft.com/office/drawing/2014/main" id="{5EADD661-9AB1-DE38-054B-B4E6772F24C8}"/>
              </a:ext>
            </a:extLst>
          </p:cNvPr>
          <p:cNvSpPr/>
          <p:nvPr/>
        </p:nvSpPr>
        <p:spPr>
          <a:xfrm>
            <a:off x="5347827" y="2094470"/>
            <a:ext cx="3722031" cy="1334530"/>
          </a:xfrm>
          <a:prstGeom prst="borderCallout1">
            <a:avLst>
              <a:gd name="adj1" fmla="val 18750"/>
              <a:gd name="adj2" fmla="val -8333"/>
              <a:gd name="adj3" fmla="val 177861"/>
              <a:gd name="adj4" fmla="val -4860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000" dirty="0" err="1">
                <a:solidFill>
                  <a:sysClr val="windowText" lastClr="000000"/>
                </a:solidFill>
              </a:rPr>
              <a:t>During</a:t>
            </a:r>
            <a:r>
              <a:rPr lang="fr-FR" sz="1000" dirty="0">
                <a:solidFill>
                  <a:sysClr val="windowText" lastClr="000000"/>
                </a:solidFill>
              </a:rPr>
              <a:t> </a:t>
            </a:r>
            <a:r>
              <a:rPr lang="fr-FR" sz="1000" dirty="0" err="1">
                <a:solidFill>
                  <a:sysClr val="windowText" lastClr="000000"/>
                </a:solidFill>
              </a:rPr>
              <a:t>each</a:t>
            </a:r>
            <a:r>
              <a:rPr lang="fr-FR" sz="1000" dirty="0">
                <a:solidFill>
                  <a:sysClr val="windowText" lastClr="000000"/>
                </a:solidFill>
              </a:rPr>
              <a:t> </a:t>
            </a:r>
            <a:r>
              <a:rPr lang="fr-FR" sz="1000" dirty="0" err="1">
                <a:solidFill>
                  <a:sysClr val="windowText" lastClr="000000"/>
                </a:solidFill>
              </a:rPr>
              <a:t>step</a:t>
            </a:r>
            <a:r>
              <a:rPr lang="fr-FR" sz="1000" dirty="0">
                <a:solidFill>
                  <a:sysClr val="windowText" lastClr="000000"/>
                </a:solidFill>
              </a:rPr>
              <a:t> of the « </a:t>
            </a:r>
            <a:r>
              <a:rPr lang="fr-FR" sz="1000" dirty="0" err="1">
                <a:solidFill>
                  <a:sysClr val="windowText" lastClr="000000"/>
                </a:solidFill>
              </a:rPr>
              <a:t>Verify</a:t>
            </a:r>
            <a:r>
              <a:rPr lang="fr-FR" sz="1000" dirty="0">
                <a:solidFill>
                  <a:sysClr val="windowText" lastClr="000000"/>
                </a:solidFill>
              </a:rPr>
              <a:t> Pipeline » process, </a:t>
            </a:r>
            <a:r>
              <a:rPr lang="fr-FR" sz="1000" dirty="0" err="1">
                <a:solidFill>
                  <a:sysClr val="windowText" lastClr="000000"/>
                </a:solidFill>
              </a:rPr>
              <a:t>we</a:t>
            </a:r>
            <a:r>
              <a:rPr lang="fr-FR" sz="1000" dirty="0">
                <a:solidFill>
                  <a:sysClr val="windowText" lastClr="000000"/>
                </a:solidFill>
              </a:rPr>
              <a:t> </a:t>
            </a:r>
            <a:r>
              <a:rPr lang="fr-FR" sz="1000" dirty="0" err="1">
                <a:solidFill>
                  <a:sysClr val="windowText" lastClr="000000"/>
                </a:solidFill>
              </a:rPr>
              <a:t>map</a:t>
            </a:r>
            <a:r>
              <a:rPr lang="fr-FR" sz="1000" dirty="0">
                <a:solidFill>
                  <a:sysClr val="windowText" lastClr="000000"/>
                </a:solidFill>
              </a:rPr>
              <a:t> </a:t>
            </a:r>
            <a:r>
              <a:rPr lang="fr-FR" sz="1000" dirty="0" err="1">
                <a:solidFill>
                  <a:sysClr val="windowText" lastClr="000000"/>
                </a:solidFill>
              </a:rPr>
              <a:t>each</a:t>
            </a:r>
            <a:r>
              <a:rPr lang="fr-FR" sz="1000" dirty="0">
                <a:solidFill>
                  <a:sysClr val="windowText" lastClr="000000"/>
                </a:solidFill>
              </a:rPr>
              <a:t> output variable of </a:t>
            </a:r>
            <a:r>
              <a:rPr lang="fr-FR" sz="1000" dirty="0" err="1">
                <a:solidFill>
                  <a:sysClr val="windowText" lastClr="000000"/>
                </a:solidFill>
              </a:rPr>
              <a:t>each</a:t>
            </a:r>
            <a:r>
              <a:rPr lang="fr-FR" sz="1000" dirty="0">
                <a:solidFill>
                  <a:sysClr val="windowText" lastClr="000000"/>
                </a:solidFill>
              </a:rPr>
              <a:t> </a:t>
            </a:r>
            <a:r>
              <a:rPr lang="fr-FR" sz="1000" dirty="0" err="1">
                <a:solidFill>
                  <a:sysClr val="windowText" lastClr="000000"/>
                </a:solidFill>
              </a:rPr>
              <a:t>step</a:t>
            </a:r>
            <a:r>
              <a:rPr lang="fr-FR" sz="1000" dirty="0">
                <a:solidFill>
                  <a:sysClr val="windowText" lastClr="000000"/>
                </a:solidFill>
              </a:rPr>
              <a:t> to one JSON item of the Output </a:t>
            </a:r>
            <a:r>
              <a:rPr lang="fr-FR" sz="1000" dirty="0" err="1">
                <a:solidFill>
                  <a:sysClr val="windowText" lastClr="000000"/>
                </a:solidFill>
              </a:rPr>
              <a:t>Schema</a:t>
            </a:r>
            <a:r>
              <a:rPr lang="fr-FR" sz="1000" dirty="0">
                <a:solidFill>
                  <a:sysClr val="windowText" lastClr="000000"/>
                </a:solidFill>
              </a:rPr>
              <a:t> of the pipeline. This output </a:t>
            </a:r>
            <a:r>
              <a:rPr lang="fr-FR" sz="1000" dirty="0" err="1">
                <a:solidFill>
                  <a:sysClr val="windowText" lastClr="000000"/>
                </a:solidFill>
              </a:rPr>
              <a:t>schema</a:t>
            </a:r>
            <a:r>
              <a:rPr lang="fr-FR" sz="1000" dirty="0">
                <a:solidFill>
                  <a:sysClr val="windowText" lastClr="000000"/>
                </a:solidFill>
              </a:rPr>
              <a:t> </a:t>
            </a:r>
            <a:r>
              <a:rPr lang="fr-FR" sz="1000" dirty="0" err="1">
                <a:solidFill>
                  <a:sysClr val="windowText" lastClr="000000"/>
                </a:solidFill>
              </a:rPr>
              <a:t>is</a:t>
            </a:r>
            <a:r>
              <a:rPr lang="fr-FR" sz="1000" dirty="0">
                <a:solidFill>
                  <a:sysClr val="windowText" lastClr="000000"/>
                </a:solidFill>
              </a:rPr>
              <a:t> </a:t>
            </a:r>
            <a:r>
              <a:rPr lang="fr-FR" sz="1000" dirty="0" err="1">
                <a:solidFill>
                  <a:sysClr val="windowText" lastClr="000000"/>
                </a:solidFill>
              </a:rPr>
              <a:t>defined</a:t>
            </a:r>
            <a:r>
              <a:rPr lang="fr-FR" sz="1000" dirty="0">
                <a:solidFill>
                  <a:sysClr val="windowText" lastClr="000000"/>
                </a:solidFill>
              </a:rPr>
              <a:t> in the « Output </a:t>
            </a:r>
            <a:r>
              <a:rPr lang="fr-FR" sz="1000" dirty="0" err="1">
                <a:solidFill>
                  <a:sysClr val="windowText" lastClr="000000"/>
                </a:solidFill>
              </a:rPr>
              <a:t>Schema</a:t>
            </a:r>
            <a:r>
              <a:rPr lang="fr-FR" sz="1000" dirty="0">
                <a:solidFill>
                  <a:sysClr val="windowText" lastClr="000000"/>
                </a:solidFill>
              </a:rPr>
              <a:t> » </a:t>
            </a:r>
            <a:r>
              <a:rPr lang="fr-FR" sz="1000" dirty="0" err="1">
                <a:solidFill>
                  <a:sysClr val="windowText" lastClr="000000"/>
                </a:solidFill>
              </a:rPr>
              <a:t>text</a:t>
            </a:r>
            <a:r>
              <a:rPr lang="fr-FR" sz="1000" dirty="0">
                <a:solidFill>
                  <a:sysClr val="windowText" lastClr="000000"/>
                </a:solidFill>
              </a:rPr>
              <a:t> box.</a:t>
            </a:r>
          </a:p>
          <a:p>
            <a:pPr algn="ctr"/>
            <a:endParaRPr lang="fr-FR" sz="1000" dirty="0">
              <a:solidFill>
                <a:sysClr val="windowText" lastClr="000000"/>
              </a:solidFill>
            </a:endParaRPr>
          </a:p>
          <a:p>
            <a:pPr algn="ctr"/>
            <a:r>
              <a:rPr lang="fr-FR" sz="1000" dirty="0" err="1">
                <a:solidFill>
                  <a:sysClr val="windowText" lastClr="000000"/>
                </a:solidFill>
              </a:rPr>
              <a:t>My</a:t>
            </a:r>
            <a:r>
              <a:rPr lang="fr-FR" sz="1000" dirty="0">
                <a:solidFill>
                  <a:sysClr val="windowText" lastClr="000000"/>
                </a:solidFill>
              </a:rPr>
              <a:t> expectation </a:t>
            </a:r>
            <a:r>
              <a:rPr lang="fr-FR" sz="1000" dirty="0" err="1">
                <a:solidFill>
                  <a:sysClr val="windowText" lastClr="000000"/>
                </a:solidFill>
              </a:rPr>
              <a:t>is</a:t>
            </a:r>
            <a:r>
              <a:rPr lang="fr-FR" sz="1000" dirty="0">
                <a:solidFill>
                  <a:sysClr val="windowText" lastClr="000000"/>
                </a:solidFill>
              </a:rPr>
              <a:t> </a:t>
            </a:r>
            <a:r>
              <a:rPr lang="fr-FR" sz="1000" dirty="0" err="1">
                <a:solidFill>
                  <a:sysClr val="windowText" lastClr="000000"/>
                </a:solidFill>
              </a:rPr>
              <a:t>that</a:t>
            </a:r>
            <a:r>
              <a:rPr lang="fr-FR" sz="1000" dirty="0">
                <a:solidFill>
                  <a:sysClr val="windowText" lastClr="000000"/>
                </a:solidFill>
              </a:rPr>
              <a:t> at the end of the « Pipeline </a:t>
            </a:r>
            <a:r>
              <a:rPr lang="fr-FR" sz="1000" dirty="0" err="1">
                <a:solidFill>
                  <a:sysClr val="windowText" lastClr="000000"/>
                </a:solidFill>
              </a:rPr>
              <a:t>Verify</a:t>
            </a:r>
            <a:r>
              <a:rPr lang="fr-FR" sz="1000" dirty="0">
                <a:solidFill>
                  <a:sysClr val="windowText" lastClr="000000"/>
                </a:solidFill>
              </a:rPr>
              <a:t> », </a:t>
            </a:r>
            <a:r>
              <a:rPr lang="fr-FR" sz="1000" dirty="0" err="1">
                <a:solidFill>
                  <a:sysClr val="windowText" lastClr="000000"/>
                </a:solidFill>
              </a:rPr>
              <a:t>we</a:t>
            </a:r>
            <a:r>
              <a:rPr lang="fr-FR" sz="1000" dirty="0">
                <a:solidFill>
                  <a:sysClr val="windowText" lastClr="000000"/>
                </a:solidFill>
              </a:rPr>
              <a:t> have the </a:t>
            </a:r>
            <a:r>
              <a:rPr lang="fr-FR" sz="1000" dirty="0" err="1">
                <a:solidFill>
                  <a:sysClr val="windowText" lastClr="000000"/>
                </a:solidFill>
              </a:rPr>
              <a:t>complete</a:t>
            </a:r>
            <a:r>
              <a:rPr lang="fr-FR" sz="1000" dirty="0">
                <a:solidFill>
                  <a:sysClr val="windowText" lastClr="000000"/>
                </a:solidFill>
              </a:rPr>
              <a:t> Output </a:t>
            </a:r>
            <a:r>
              <a:rPr lang="fr-FR" sz="1000" dirty="0" err="1">
                <a:solidFill>
                  <a:sysClr val="windowText" lastClr="000000"/>
                </a:solidFill>
              </a:rPr>
              <a:t>schema</a:t>
            </a:r>
            <a:r>
              <a:rPr lang="fr-FR" sz="1000" dirty="0">
                <a:solidFill>
                  <a:sysClr val="windowText" lastClr="000000"/>
                </a:solidFill>
              </a:rPr>
              <a:t> o </a:t>
            </a:r>
            <a:r>
              <a:rPr lang="fr-FR" sz="1000" dirty="0" err="1">
                <a:solidFill>
                  <a:sysClr val="windowText" lastClr="000000"/>
                </a:solidFill>
              </a:rPr>
              <a:t>fthe</a:t>
            </a:r>
            <a:r>
              <a:rPr lang="fr-FR" sz="1000" dirty="0">
                <a:solidFill>
                  <a:sysClr val="windowText" lastClr="000000"/>
                </a:solidFill>
              </a:rPr>
              <a:t> pipeline </a:t>
            </a:r>
            <a:r>
              <a:rPr lang="fr-FR" sz="1000" dirty="0" err="1">
                <a:solidFill>
                  <a:sysClr val="windowText" lastClr="000000"/>
                </a:solidFill>
              </a:rPr>
              <a:t>mapped</a:t>
            </a:r>
            <a:r>
              <a:rPr lang="fr-FR" sz="1000" dirty="0">
                <a:solidFill>
                  <a:sysClr val="windowText" lastClr="000000"/>
                </a:solidFill>
              </a:rPr>
              <a:t>. </a:t>
            </a:r>
            <a:r>
              <a:rPr lang="fr-FR" sz="1000" dirty="0" err="1">
                <a:solidFill>
                  <a:sysClr val="windowText" lastClr="000000"/>
                </a:solidFill>
              </a:rPr>
              <a:t>Instead</a:t>
            </a:r>
            <a:r>
              <a:rPr lang="fr-FR" sz="1000" dirty="0">
                <a:solidFill>
                  <a:sysClr val="windowText" lastClr="000000"/>
                </a:solidFill>
              </a:rPr>
              <a:t> </a:t>
            </a:r>
            <a:r>
              <a:rPr lang="fr-FR" sz="1000" dirty="0" err="1">
                <a:solidFill>
                  <a:sysClr val="windowText" lastClr="000000"/>
                </a:solidFill>
              </a:rPr>
              <a:t>we</a:t>
            </a:r>
            <a:r>
              <a:rPr lang="fr-FR" sz="1000" dirty="0">
                <a:solidFill>
                  <a:sysClr val="windowText" lastClr="000000"/>
                </a:solidFill>
              </a:rPr>
              <a:t> </a:t>
            </a:r>
            <a:r>
              <a:rPr lang="fr-FR" sz="1000" dirty="0" err="1">
                <a:solidFill>
                  <a:sysClr val="windowText" lastClr="000000"/>
                </a:solidFill>
              </a:rPr>
              <a:t>get</a:t>
            </a:r>
            <a:r>
              <a:rPr lang="fr-FR" sz="1000" dirty="0">
                <a:solidFill>
                  <a:sysClr val="windowText" lastClr="000000"/>
                </a:solidFill>
              </a:rPr>
              <a:t> {}.</a:t>
            </a:r>
            <a:endParaRPr lang="en-US" sz="10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5610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ECCA3F-DDFF-AA27-61FE-70D59ABAA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Execute</a:t>
            </a:r>
            <a:r>
              <a:rPr lang="fr-FR" dirty="0"/>
              <a:t> pipeline</a:t>
            </a:r>
            <a:endParaRPr lang="en-US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BBDBD56-CEA4-822A-15A6-0BB573BFE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16" y="1748481"/>
            <a:ext cx="7713313" cy="2593005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C459D162-41B8-2968-BFB9-4370AA0CE3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6529" y="3439443"/>
            <a:ext cx="6095999" cy="2956989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Légende : encadrée 6">
            <a:extLst>
              <a:ext uri="{FF2B5EF4-FFF2-40B4-BE49-F238E27FC236}">
                <a16:creationId xmlns:a16="http://schemas.microsoft.com/office/drawing/2014/main" id="{10F62E15-BA06-A917-E5D8-768514256A9C}"/>
              </a:ext>
            </a:extLst>
          </p:cNvPr>
          <p:cNvSpPr/>
          <p:nvPr/>
        </p:nvSpPr>
        <p:spPr>
          <a:xfrm>
            <a:off x="3430373" y="2270498"/>
            <a:ext cx="2272271" cy="589134"/>
          </a:xfrm>
          <a:prstGeom prst="borderCallout1">
            <a:avLst>
              <a:gd name="adj1" fmla="val 18750"/>
              <a:gd name="adj2" fmla="val -8333"/>
              <a:gd name="adj3" fmla="val 177861"/>
              <a:gd name="adj4" fmla="val -48600"/>
            </a:avLst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000" dirty="0" err="1">
                <a:solidFill>
                  <a:srgbClr val="FF0000"/>
                </a:solidFill>
              </a:rPr>
              <a:t>Here</a:t>
            </a:r>
            <a:r>
              <a:rPr lang="fr-FR" sz="1000" dirty="0">
                <a:solidFill>
                  <a:srgbClr val="FF0000"/>
                </a:solidFill>
              </a:rPr>
              <a:t> </a:t>
            </a:r>
            <a:r>
              <a:rPr lang="fr-FR" sz="1000" dirty="0" err="1">
                <a:solidFill>
                  <a:srgbClr val="FF0000"/>
                </a:solidFill>
              </a:rPr>
              <a:t>is</a:t>
            </a:r>
            <a:r>
              <a:rPr lang="fr-FR" sz="1000" dirty="0">
                <a:solidFill>
                  <a:srgbClr val="FF0000"/>
                </a:solidFill>
              </a:rPr>
              <a:t> the </a:t>
            </a:r>
            <a:r>
              <a:rPr lang="fr-FR" sz="1000" dirty="0" err="1">
                <a:solidFill>
                  <a:srgbClr val="FF0000"/>
                </a:solidFill>
              </a:rPr>
              <a:t>schema</a:t>
            </a:r>
            <a:r>
              <a:rPr lang="fr-FR" sz="1000" dirty="0">
                <a:solidFill>
                  <a:srgbClr val="FF0000"/>
                </a:solidFill>
              </a:rPr>
              <a:t> </a:t>
            </a:r>
            <a:r>
              <a:rPr lang="fr-FR" sz="1000" dirty="0" err="1">
                <a:solidFill>
                  <a:srgbClr val="FF0000"/>
                </a:solidFill>
              </a:rPr>
              <a:t>defined</a:t>
            </a:r>
            <a:r>
              <a:rPr lang="fr-FR" sz="1000" dirty="0">
                <a:solidFill>
                  <a:srgbClr val="FF0000"/>
                </a:solidFill>
              </a:rPr>
              <a:t> for the output of the pipeline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8" name="Légende : encadrée 7">
            <a:extLst>
              <a:ext uri="{FF2B5EF4-FFF2-40B4-BE49-F238E27FC236}">
                <a16:creationId xmlns:a16="http://schemas.microsoft.com/office/drawing/2014/main" id="{0D2D553E-A94F-6C0C-FC4A-2E5A9CB68763}"/>
              </a:ext>
            </a:extLst>
          </p:cNvPr>
          <p:cNvSpPr/>
          <p:nvPr/>
        </p:nvSpPr>
        <p:spPr>
          <a:xfrm flipH="1">
            <a:off x="2607275" y="4439388"/>
            <a:ext cx="2180968" cy="848229"/>
          </a:xfrm>
          <a:prstGeom prst="borderCallout1">
            <a:avLst>
              <a:gd name="adj1" fmla="val 18750"/>
              <a:gd name="adj2" fmla="val -8333"/>
              <a:gd name="adj3" fmla="val 177861"/>
              <a:gd name="adj4" fmla="val -48600"/>
            </a:avLst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000" dirty="0" err="1">
                <a:solidFill>
                  <a:srgbClr val="FF0000"/>
                </a:solidFill>
              </a:rPr>
              <a:t>Here</a:t>
            </a:r>
            <a:r>
              <a:rPr lang="fr-FR" sz="1000" dirty="0">
                <a:solidFill>
                  <a:srgbClr val="FF0000"/>
                </a:solidFill>
              </a:rPr>
              <a:t> </a:t>
            </a:r>
            <a:r>
              <a:rPr lang="fr-FR" sz="1000" dirty="0" err="1">
                <a:solidFill>
                  <a:srgbClr val="FF0000"/>
                </a:solidFill>
              </a:rPr>
              <a:t>is</a:t>
            </a:r>
            <a:r>
              <a:rPr lang="fr-FR" sz="1000" dirty="0">
                <a:solidFill>
                  <a:srgbClr val="FF0000"/>
                </a:solidFill>
              </a:rPr>
              <a:t> the </a:t>
            </a:r>
            <a:r>
              <a:rPr lang="fr-FR" sz="1000" dirty="0" err="1">
                <a:solidFill>
                  <a:srgbClr val="FF0000"/>
                </a:solidFill>
              </a:rPr>
              <a:t>result</a:t>
            </a:r>
            <a:r>
              <a:rPr lang="fr-FR" sz="1000" dirty="0">
                <a:solidFill>
                  <a:srgbClr val="FF0000"/>
                </a:solidFill>
              </a:rPr>
              <a:t> of the </a:t>
            </a:r>
            <a:r>
              <a:rPr lang="fr-FR" sz="1000" dirty="0" err="1">
                <a:solidFill>
                  <a:srgbClr val="FF0000"/>
                </a:solidFill>
              </a:rPr>
              <a:t>execution</a:t>
            </a:r>
            <a:r>
              <a:rPr lang="fr-FR" sz="1000" dirty="0">
                <a:solidFill>
                  <a:srgbClr val="FF0000"/>
                </a:solidFill>
              </a:rPr>
              <a:t>. The </a:t>
            </a:r>
            <a:r>
              <a:rPr lang="fr-FR" sz="1000" dirty="0" err="1">
                <a:solidFill>
                  <a:srgbClr val="FF0000"/>
                </a:solidFill>
              </a:rPr>
              <a:t>result</a:t>
            </a:r>
            <a:r>
              <a:rPr lang="fr-FR" sz="1000" dirty="0">
                <a:solidFill>
                  <a:srgbClr val="FF0000"/>
                </a:solidFill>
              </a:rPr>
              <a:t> DOES NOT Match the </a:t>
            </a:r>
            <a:r>
              <a:rPr lang="fr-FR" sz="1000" dirty="0" err="1">
                <a:solidFill>
                  <a:srgbClr val="FF0000"/>
                </a:solidFill>
              </a:rPr>
              <a:t>schema</a:t>
            </a:r>
            <a:r>
              <a:rPr lang="fr-FR" sz="1000" dirty="0">
                <a:solidFill>
                  <a:srgbClr val="FF0000"/>
                </a:solidFill>
              </a:rPr>
              <a:t>. WRONG: </a:t>
            </a:r>
            <a:r>
              <a:rPr lang="fr-FR" sz="1000" dirty="0" err="1">
                <a:solidFill>
                  <a:srgbClr val="FF0000"/>
                </a:solidFill>
              </a:rPr>
              <a:t>it</a:t>
            </a:r>
            <a:r>
              <a:rPr lang="fr-FR" sz="1000" dirty="0">
                <a:solidFill>
                  <a:srgbClr val="FF0000"/>
                </a:solidFill>
              </a:rPr>
              <a:t> </a:t>
            </a:r>
            <a:r>
              <a:rPr lang="fr-FR" sz="1000" dirty="0" err="1">
                <a:solidFill>
                  <a:srgbClr val="FF0000"/>
                </a:solidFill>
              </a:rPr>
              <a:t>should</a:t>
            </a:r>
            <a:r>
              <a:rPr lang="fr-FR" sz="1000" dirty="0">
                <a:solidFill>
                  <a:srgbClr val="FF0000"/>
                </a:solidFill>
              </a:rPr>
              <a:t> use the mapping </a:t>
            </a:r>
            <a:r>
              <a:rPr lang="fr-FR" sz="1000" dirty="0" err="1">
                <a:solidFill>
                  <a:srgbClr val="FF0000"/>
                </a:solidFill>
              </a:rPr>
              <a:t>done</a:t>
            </a:r>
            <a:r>
              <a:rPr lang="fr-FR" sz="1000" dirty="0">
                <a:solidFill>
                  <a:srgbClr val="FF0000"/>
                </a:solidFill>
              </a:rPr>
              <a:t> </a:t>
            </a:r>
            <a:r>
              <a:rPr lang="fr-FR" sz="1000" dirty="0" err="1">
                <a:solidFill>
                  <a:srgbClr val="FF0000"/>
                </a:solidFill>
              </a:rPr>
              <a:t>during</a:t>
            </a:r>
            <a:r>
              <a:rPr lang="fr-FR" sz="1000" dirty="0">
                <a:solidFill>
                  <a:srgbClr val="FF0000"/>
                </a:solidFill>
              </a:rPr>
              <a:t> the « </a:t>
            </a:r>
            <a:r>
              <a:rPr lang="fr-FR" sz="1000" dirty="0" err="1">
                <a:solidFill>
                  <a:srgbClr val="FF0000"/>
                </a:solidFill>
              </a:rPr>
              <a:t>Verify</a:t>
            </a:r>
            <a:r>
              <a:rPr lang="fr-FR" sz="1000" dirty="0">
                <a:solidFill>
                  <a:srgbClr val="FF0000"/>
                </a:solidFill>
              </a:rPr>
              <a:t> </a:t>
            </a:r>
            <a:r>
              <a:rPr lang="fr-FR" sz="1000" dirty="0" err="1">
                <a:solidFill>
                  <a:srgbClr val="FF0000"/>
                </a:solidFill>
              </a:rPr>
              <a:t>Piepeline</a:t>
            </a:r>
            <a:r>
              <a:rPr lang="fr-FR" sz="1000" dirty="0">
                <a:solidFill>
                  <a:srgbClr val="FF0000"/>
                </a:solidFill>
              </a:rPr>
              <a:t> process »</a:t>
            </a:r>
            <a:endParaRPr lang="en-US" sz="1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082371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</TotalTime>
  <Words>630</Words>
  <Application>Microsoft Office PowerPoint</Application>
  <PresentationFormat>Grand écran</PresentationFormat>
  <Paragraphs>70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Thème Office</vt:lpstr>
      <vt:lpstr>Présentation PowerPoint</vt:lpstr>
      <vt:lpstr>Présentation PowerPoint</vt:lpstr>
      <vt:lpstr>Bugs</vt:lpstr>
      <vt:lpstr>Présentation PowerPoint</vt:lpstr>
      <vt:lpstr>Présentation PowerPoint</vt:lpstr>
      <vt:lpstr>Verify pipeline</vt:lpstr>
      <vt:lpstr>Verify pipeline</vt:lpstr>
      <vt:lpstr>Execute pipeline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olivier polette</dc:creator>
  <cp:lastModifiedBy>olivier polette</cp:lastModifiedBy>
  <cp:revision>12</cp:revision>
  <dcterms:created xsi:type="dcterms:W3CDTF">2025-11-21T07:51:02Z</dcterms:created>
  <dcterms:modified xsi:type="dcterms:W3CDTF">2026-01-15T09:09:48Z</dcterms:modified>
</cp:coreProperties>
</file>