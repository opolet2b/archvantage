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-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AAD18A-2D59-7378-6CFD-F7FFFAA36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4FEB1C-6631-5A4D-680D-B63DFB0C0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5ECD69-EDB8-B7F4-FBC2-C7FDD61A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8399F1-E4EE-E819-F86D-6BF85A0C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E7BBC-A509-4556-86E9-D8068CFA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1784A-3FD1-39A9-3431-5C0D68FD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C3A4A6-BE6F-DA89-6320-AC9258FE2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406619-942B-5F1A-054C-9AC0D54C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20C750-D421-A59C-7478-1C77B298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B3E53C-F7C7-C14C-7DC6-A508865A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7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51C0-F16D-BC8E-4B1A-59EF1C50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003418-7AF0-4FC9-8FA2-8D75139B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59A550-F261-1009-14BC-F12AD8FC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A01EF8-CFD9-B055-8B9A-921FD00D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909FD4-9BBA-DD56-C98F-4946E46E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2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2A2A9-6666-1DC7-6018-18651E4A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3EC0CC-56AC-664C-DD12-0C97EE407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6B5AE6-76F3-559D-ABEF-75B0908C4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F17400-5329-B916-2D80-D65C2382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2A9033-67AD-4D40-4D54-F81AAFE6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EBF9AC-40C1-26FC-3257-C8ED9C28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6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5325F-D80A-69C8-F080-95780954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48A5EB-EE85-032E-AFB8-637B1B52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905191-C4C0-2DEE-B370-19F3D5E06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35E37D-4009-5115-F31C-28C83BB1B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6C208A-0832-2828-965E-1CDC74EC3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B3D1258-14B0-6D21-EBBC-167A7CA3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92E92B-43B2-471A-719A-9E13D202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DEFC14-9499-6AF1-2D2E-BA65A8AC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2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8802E3-FC3D-20D8-A82A-E1BED9C8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61A80C-EDA8-3387-A7AD-38830752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D25DE3F-2CE2-CF09-1C29-50D912D8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F8DD31-4F03-74B7-E162-DE7B7349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1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078116-F7D8-392B-6F79-24664CA6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F72B27-D1D6-43F8-1170-5BE8FB98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755FD5-5BAA-B09C-3028-64F376F5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3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34443-8589-A897-8919-9AFC708C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A5A6B4-13D4-9116-32C3-279DD663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9F567F-26BC-0F7D-FDDB-73860AF1F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381A87-BDB7-590F-0CF0-9F65CB02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EBA81A-199C-56E2-EAD0-7A7FCEFB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1E1970-0501-AFFA-F914-7F8B7467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3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05B0D-7F96-9D4D-508C-5C112AC6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F259554-6448-CAFC-B2DE-E4199D028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6326F2-FF1F-5A10-90E5-104248513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73976D-5451-E09A-B00E-88C7298C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2C4C86-73B1-6403-11FA-FD4E841A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63BD83-C149-80DC-C7EF-03F2B535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2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2A9D5-62BD-A624-D02E-C233D29A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0C7B38-2C96-E557-B52A-10FF2332A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D3C075-4899-57D4-165F-A350D70C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A92A4B-464E-BF90-68D5-A86536BA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20A5DB-B53D-2072-8FED-05982BAC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C9831A-B549-F90F-BBFE-ED2881022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A196F4-4D22-1232-07B5-492C11E91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C2CE3F-A4CC-88DC-368C-BCC74D5C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B105B2-B725-F684-546A-A1576139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D3A9BD-93E4-8608-D1F0-1BE1E485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2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5BA352-1151-796F-6559-AE51533E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3046F7-4A3F-96F4-90CB-8C910734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378B9-62BA-50B8-3C4F-5F21FAE21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6A27D-1BB8-41A7-A0BD-E3953FF0748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8ADCF9-DF81-A664-1E72-FF064F7CB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91AB3F-FE2D-7263-2FC0-AB10055EA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379E4-B455-416B-862C-A0E77263448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B5786D6-22D3-939F-E07D-47422BB0D514}"/>
              </a:ext>
            </a:extLst>
          </p:cNvPr>
          <p:cNvSpPr/>
          <p:nvPr/>
        </p:nvSpPr>
        <p:spPr>
          <a:xfrm>
            <a:off x="2564027" y="920579"/>
            <a:ext cx="4411362" cy="611660"/>
          </a:xfrm>
          <a:prstGeom prst="roundRect">
            <a:avLst>
              <a:gd name="adj" fmla="val 2162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LOOP EXECUTION GRAPH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24BF0B9-B08B-A75B-8B46-239AC13F953F}"/>
              </a:ext>
            </a:extLst>
          </p:cNvPr>
          <p:cNvSpPr/>
          <p:nvPr/>
        </p:nvSpPr>
        <p:spPr>
          <a:xfrm>
            <a:off x="2564027" y="2403390"/>
            <a:ext cx="4411362" cy="611660"/>
          </a:xfrm>
          <a:prstGeom prst="roundRect">
            <a:avLst>
              <a:gd name="adj" fmla="val 21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EA4C6E-C943-0AF7-BB43-E2912AB5F1E4}"/>
              </a:ext>
            </a:extLst>
          </p:cNvPr>
          <p:cNvSpPr/>
          <p:nvPr/>
        </p:nvSpPr>
        <p:spPr>
          <a:xfrm>
            <a:off x="2564027" y="1359242"/>
            <a:ext cx="4411362" cy="13777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2221ADA-05CF-8D1B-5D0B-0CE319289294}"/>
              </a:ext>
            </a:extLst>
          </p:cNvPr>
          <p:cNvSpPr/>
          <p:nvPr/>
        </p:nvSpPr>
        <p:spPr>
          <a:xfrm>
            <a:off x="5925065" y="1068859"/>
            <a:ext cx="797011" cy="16681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STATEFUL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0C79006-CACD-8E2F-A8A1-78624CD10F67}"/>
              </a:ext>
            </a:extLst>
          </p:cNvPr>
          <p:cNvSpPr/>
          <p:nvPr/>
        </p:nvSpPr>
        <p:spPr>
          <a:xfrm>
            <a:off x="2879124" y="1655805"/>
            <a:ext cx="605481" cy="60548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8CB92CA-9BD7-DC37-5147-C73D52F7BEE6}"/>
              </a:ext>
            </a:extLst>
          </p:cNvPr>
          <p:cNvSpPr/>
          <p:nvPr/>
        </p:nvSpPr>
        <p:spPr>
          <a:xfrm>
            <a:off x="4466967" y="1655804"/>
            <a:ext cx="605481" cy="60548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AAF4270-4DAF-9AD5-88CB-A3E2138E91B7}"/>
              </a:ext>
            </a:extLst>
          </p:cNvPr>
          <p:cNvSpPr/>
          <p:nvPr/>
        </p:nvSpPr>
        <p:spPr>
          <a:xfrm>
            <a:off x="6054810" y="1655803"/>
            <a:ext cx="605481" cy="60548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89FCED2-0782-AF8C-1D80-E1C3BC38021B}"/>
              </a:ext>
            </a:extLst>
          </p:cNvPr>
          <p:cNvSpPr/>
          <p:nvPr/>
        </p:nvSpPr>
        <p:spPr>
          <a:xfrm>
            <a:off x="4782918" y="1519880"/>
            <a:ext cx="673444" cy="27184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QUALITY CHECK</a:t>
            </a:r>
            <a:endParaRPr lang="en-US" sz="8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E2DD707-6608-5D79-8927-E189C2A07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92" y="1738184"/>
            <a:ext cx="393705" cy="39370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0365E1C-11F1-6BAE-0F75-FC10E40DA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270" y="1810265"/>
            <a:ext cx="321624" cy="32162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036D064-E777-DE1D-2B57-FAF1FCD07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411" y="1769247"/>
            <a:ext cx="378591" cy="378591"/>
          </a:xfrm>
          <a:prstGeom prst="rect">
            <a:avLst/>
          </a:prstGeom>
        </p:spPr>
      </p:pic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00890283-94C8-2EC3-8E3D-D81C06AC6C67}"/>
              </a:ext>
            </a:extLst>
          </p:cNvPr>
          <p:cNvSpPr/>
          <p:nvPr/>
        </p:nvSpPr>
        <p:spPr>
          <a:xfrm>
            <a:off x="3768811" y="1716226"/>
            <a:ext cx="444843" cy="48463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0A689A71-05CF-482F-B074-14E157E83F04}"/>
              </a:ext>
            </a:extLst>
          </p:cNvPr>
          <p:cNvSpPr/>
          <p:nvPr/>
        </p:nvSpPr>
        <p:spPr>
          <a:xfrm>
            <a:off x="5464775" y="1719319"/>
            <a:ext cx="444843" cy="48463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8B44F93-80B4-D825-A771-5BDB52603750}"/>
              </a:ext>
            </a:extLst>
          </p:cNvPr>
          <p:cNvSpPr txBox="1"/>
          <p:nvPr/>
        </p:nvSpPr>
        <p:spPr>
          <a:xfrm>
            <a:off x="2539308" y="2324383"/>
            <a:ext cx="1184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Generates content based on canvas context.</a:t>
            </a:r>
            <a:endParaRPr lang="en-US" sz="8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5B591B0-D1BD-D8B6-4236-39D732BAC11E}"/>
              </a:ext>
            </a:extLst>
          </p:cNvPr>
          <p:cNvSpPr txBox="1"/>
          <p:nvPr/>
        </p:nvSpPr>
        <p:spPr>
          <a:xfrm>
            <a:off x="4127967" y="2324384"/>
            <a:ext cx="1283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Critiques the draft for accuracy, tone, and logical consistency.</a:t>
            </a:r>
            <a:endParaRPr lang="en-US" sz="8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D4A6A2D-865E-2EDF-149B-B088FF85FE92}"/>
              </a:ext>
            </a:extLst>
          </p:cNvPr>
          <p:cNvSpPr txBox="1"/>
          <p:nvPr/>
        </p:nvSpPr>
        <p:spPr>
          <a:xfrm>
            <a:off x="5640858" y="2324424"/>
            <a:ext cx="1327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The system iterates until a </a:t>
            </a:r>
            <a:r>
              <a:rPr lang="en-US" sz="8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Minimum Quality Score </a:t>
            </a:r>
            <a:r>
              <a:rPr lang="en-U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(MQS)—typically 85%—is achieved or the iteration limit is reached.</a:t>
            </a:r>
            <a:endParaRPr lang="en-US" sz="8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C6401C-6351-9DAA-0BD9-364927BEB9D9}"/>
              </a:ext>
            </a:extLst>
          </p:cNvPr>
          <p:cNvSpPr/>
          <p:nvPr/>
        </p:nvSpPr>
        <p:spPr>
          <a:xfrm>
            <a:off x="8149279" y="599301"/>
            <a:ext cx="1845276" cy="55105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F76C209-D6CC-D3DE-33E5-02C3D862BBCC}"/>
              </a:ext>
            </a:extLst>
          </p:cNvPr>
          <p:cNvSpPr txBox="1"/>
          <p:nvPr/>
        </p:nvSpPr>
        <p:spPr>
          <a:xfrm>
            <a:off x="8413225" y="631571"/>
            <a:ext cx="15813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cap="all" dirty="0">
                <a:solidFill>
                  <a:srgbClr val="1E293B"/>
                </a:solidFill>
                <a:effectLst/>
                <a:latin typeface="ui-sans-serif"/>
              </a:rPr>
              <a:t>Agent Orchestration</a:t>
            </a:r>
            <a:endParaRPr lang="en-US" sz="10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CB25226-01C6-0B40-3B39-D1A90ED11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52" y="642900"/>
            <a:ext cx="228600" cy="228600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5EE82FD1-D253-76F8-C3BD-E11A6457590F}"/>
              </a:ext>
            </a:extLst>
          </p:cNvPr>
          <p:cNvSpPr txBox="1"/>
          <p:nvPr/>
        </p:nvSpPr>
        <p:spPr>
          <a:xfrm>
            <a:off x="8166952" y="915098"/>
            <a:ext cx="11661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cap="all" dirty="0">
                <a:solidFill>
                  <a:srgbClr val="4338CA"/>
                </a:solidFill>
                <a:effectLst/>
                <a:latin typeface="ui-sans-serif"/>
              </a:rPr>
              <a:t>Agent Blueprints</a:t>
            </a:r>
            <a:endParaRPr lang="en-US" sz="8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0D0C92B-9DC6-16EC-A875-8F7D61841CF9}"/>
              </a:ext>
            </a:extLst>
          </p:cNvPr>
          <p:cNvSpPr txBox="1"/>
          <p:nvPr/>
        </p:nvSpPr>
        <p:spPr>
          <a:xfrm>
            <a:off x="8268895" y="1070402"/>
            <a:ext cx="16110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JSON execution graphs mapping action primitives: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ui-monospace"/>
              </a:rPr>
              <a:t> </a:t>
            </a:r>
            <a:r>
              <a:rPr lang="en-US" sz="8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AskAI</a:t>
            </a:r>
            <a:r>
              <a:rPr 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 (Reasoning)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 Logic (Branching)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 Extractor (Entities)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 Visualizer (Charts)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CBAD38-BE72-FCB4-1DC8-6386FB8EF1C6}"/>
              </a:ext>
            </a:extLst>
          </p:cNvPr>
          <p:cNvSpPr/>
          <p:nvPr/>
        </p:nvSpPr>
        <p:spPr>
          <a:xfrm>
            <a:off x="8240585" y="1938469"/>
            <a:ext cx="1662664" cy="13581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FF1A842-4D18-35F2-0283-8E10A90872D1}"/>
              </a:ext>
            </a:extLst>
          </p:cNvPr>
          <p:cNvSpPr txBox="1"/>
          <p:nvPr/>
        </p:nvSpPr>
        <p:spPr>
          <a:xfrm>
            <a:off x="8266411" y="1973218"/>
            <a:ext cx="1611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cap="all" dirty="0">
                <a:effectLst/>
                <a:latin typeface="ui-sans-serif"/>
              </a:rPr>
              <a:t>AUTOMATION ZONES</a:t>
            </a:r>
          </a:p>
          <a:p>
            <a:pPr algn="just"/>
            <a:r>
              <a:rPr lang="en-US" sz="800" b="0" i="0" dirty="0">
                <a:effectLst/>
                <a:latin typeface="ui-sans-serif"/>
              </a:rPr>
              <a:t>Domains can be designated as </a:t>
            </a:r>
            <a:r>
              <a:rPr lang="en-US" sz="800" b="1" i="0" dirty="0">
                <a:effectLst/>
                <a:latin typeface="ui-sans-serif"/>
              </a:rPr>
              <a:t>ON_DROP</a:t>
            </a:r>
            <a:r>
              <a:rPr lang="en-US" sz="800" b="0" i="0" dirty="0">
                <a:effectLst/>
                <a:latin typeface="ui-sans-serif"/>
              </a:rPr>
              <a:t> triggers. Dropping a PDF into an 'Extraction' domain automatically launches the associated Agent Blueprint for parsing and graph mapping. (e.g., dropping a receipt into an "Expense" domain triggers extraction and DB logging).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E2696EDE-051C-1AEC-109C-E87420F74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422" y="1998680"/>
            <a:ext cx="151606" cy="15160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3CF3B7D-E839-AB80-4B80-3453E5B199BD}"/>
              </a:ext>
            </a:extLst>
          </p:cNvPr>
          <p:cNvSpPr/>
          <p:nvPr/>
        </p:nvSpPr>
        <p:spPr>
          <a:xfrm>
            <a:off x="8242562" y="4826441"/>
            <a:ext cx="1662664" cy="52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848A17-B092-8BD6-F8BD-6518E575A02C}"/>
              </a:ext>
            </a:extLst>
          </p:cNvPr>
          <p:cNvSpPr/>
          <p:nvPr/>
        </p:nvSpPr>
        <p:spPr>
          <a:xfrm>
            <a:off x="8242562" y="5451290"/>
            <a:ext cx="1662664" cy="5232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9DFF287-C2F8-39CF-FF03-9B1B49475910}"/>
              </a:ext>
            </a:extLst>
          </p:cNvPr>
          <p:cNvSpPr txBox="1"/>
          <p:nvPr/>
        </p:nvSpPr>
        <p:spPr>
          <a:xfrm>
            <a:off x="8268389" y="4826620"/>
            <a:ext cx="1611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b="1" i="0" cap="all" dirty="0">
                <a:solidFill>
                  <a:srgbClr val="1E293B"/>
                </a:solidFill>
                <a:effectLst/>
                <a:latin typeface="ui-sans-serif"/>
              </a:rPr>
              <a:t>Source Grounding</a:t>
            </a:r>
          </a:p>
          <a:p>
            <a:pPr algn="l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Clickable citations that highlight source text directly in the 'Thing' on the canvas.</a:t>
            </a:r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BBD2A80-4BB9-787F-B6F7-9329A413CB91}"/>
              </a:ext>
            </a:extLst>
          </p:cNvPr>
          <p:cNvSpPr txBox="1"/>
          <p:nvPr/>
        </p:nvSpPr>
        <p:spPr>
          <a:xfrm>
            <a:off x="8240585" y="5451289"/>
            <a:ext cx="1666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b="1" i="0" cap="all" dirty="0">
                <a:solidFill>
                  <a:srgbClr val="1E293B"/>
                </a:solidFill>
                <a:effectLst/>
                <a:latin typeface="ui-sans-serif"/>
              </a:rPr>
              <a:t>Vector Isolation</a:t>
            </a:r>
          </a:p>
          <a:p>
            <a:pPr algn="l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Multi-tenant namespace separation within </a:t>
            </a:r>
            <a:r>
              <a:rPr lang="en-US" sz="7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ChromaDB</a:t>
            </a:r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 prevents cross-canvas context leakage.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C0C2D25-0983-B3F1-0869-7A530D6B73FD}"/>
              </a:ext>
            </a:extLst>
          </p:cNvPr>
          <p:cNvSpPr txBox="1"/>
          <p:nvPr/>
        </p:nvSpPr>
        <p:spPr>
          <a:xfrm>
            <a:off x="8425331" y="3325712"/>
            <a:ext cx="1569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cap="all" dirty="0">
                <a:solidFill>
                  <a:srgbClr val="1E293B"/>
                </a:solidFill>
                <a:effectLst/>
                <a:latin typeface="ui-sans-serif"/>
              </a:rPr>
              <a:t>Data Governance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48DB580D-EDA4-E06A-553D-B2A373C82E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52" y="3338366"/>
            <a:ext cx="228600" cy="228600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717710BB-BD79-788C-7615-EEF2C67C6408}"/>
              </a:ext>
            </a:extLst>
          </p:cNvPr>
          <p:cNvSpPr txBox="1"/>
          <p:nvPr/>
        </p:nvSpPr>
        <p:spPr>
          <a:xfrm>
            <a:off x="8166952" y="3668415"/>
            <a:ext cx="15329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1" i="0" cap="all">
                <a:solidFill>
                  <a:srgbClr val="4338CA"/>
                </a:solidFill>
                <a:effectLst/>
                <a:latin typeface="ui-sans-serif"/>
              </a:defRPr>
            </a:lvl1pPr>
          </a:lstStyle>
          <a:p>
            <a:r>
              <a:rPr lang="en-US" dirty="0"/>
              <a:t>Triple-Store Storage Layer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59E72C8F-7698-D7F6-1424-82B73D0B8333}"/>
              </a:ext>
            </a:extLst>
          </p:cNvPr>
          <p:cNvSpPr txBox="1"/>
          <p:nvPr/>
        </p:nvSpPr>
        <p:spPr>
          <a:xfrm>
            <a:off x="8168668" y="3814977"/>
            <a:ext cx="18258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0" i="0" dirty="0">
                <a:solidFill>
                  <a:srgbClr val="64748B"/>
                </a:solidFill>
                <a:effectLst/>
                <a:latin typeface="ui-monospace"/>
              </a:rPr>
              <a:t>Hybrid Persistence Hierarchy</a:t>
            </a:r>
            <a:endParaRPr lang="en-US" sz="700" dirty="0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6F4FBAD2-7CAB-CC14-79C5-8EB2B3F2DDC6}"/>
              </a:ext>
            </a:extLst>
          </p:cNvPr>
          <p:cNvSpPr/>
          <p:nvPr/>
        </p:nvSpPr>
        <p:spPr>
          <a:xfrm>
            <a:off x="8240585" y="4068366"/>
            <a:ext cx="415323" cy="4153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800" b="1" dirty="0">
                <a:solidFill>
                  <a:schemeClr val="tx1"/>
                </a:solidFill>
              </a:rPr>
              <a:t>SQL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1CEE6E1C-36DC-DF53-1564-D7C90F52EF0A}"/>
              </a:ext>
            </a:extLst>
          </p:cNvPr>
          <p:cNvSpPr/>
          <p:nvPr/>
        </p:nvSpPr>
        <p:spPr>
          <a:xfrm>
            <a:off x="8864255" y="4068366"/>
            <a:ext cx="415323" cy="4153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800" b="1" dirty="0">
                <a:solidFill>
                  <a:schemeClr val="accent5">
                    <a:lumMod val="75000"/>
                  </a:schemeClr>
                </a:solidFill>
              </a:rPr>
              <a:t>VEC</a:t>
            </a:r>
            <a:endParaRPr 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11E8AF4D-E7F8-F6D5-5AEA-9F1E57CA605A}"/>
              </a:ext>
            </a:extLst>
          </p:cNvPr>
          <p:cNvSpPr/>
          <p:nvPr/>
        </p:nvSpPr>
        <p:spPr>
          <a:xfrm>
            <a:off x="9492216" y="4069671"/>
            <a:ext cx="415323" cy="4153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800" b="1" dirty="0">
                <a:solidFill>
                  <a:schemeClr val="accent6">
                    <a:lumMod val="75000"/>
                  </a:schemeClr>
                </a:solidFill>
              </a:rPr>
              <a:t>GRPH</a:t>
            </a:r>
            <a:endParaRPr lang="en-US" sz="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481E2064-CCD0-0D8D-C694-14010FC47C0C}"/>
              </a:ext>
            </a:extLst>
          </p:cNvPr>
          <p:cNvSpPr txBox="1"/>
          <p:nvPr/>
        </p:nvSpPr>
        <p:spPr>
          <a:xfrm>
            <a:off x="8096802" y="4482178"/>
            <a:ext cx="720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Metadata &amp; Session</a:t>
            </a:r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D04CCC8B-97DE-A0CC-54D7-E32515840673}"/>
              </a:ext>
            </a:extLst>
          </p:cNvPr>
          <p:cNvSpPr txBox="1"/>
          <p:nvPr/>
        </p:nvSpPr>
        <p:spPr>
          <a:xfrm>
            <a:off x="8726398" y="4482178"/>
            <a:ext cx="710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Embeddings &amp; RAG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5CC35CAB-24D8-28B0-41D7-ACFA6C0C6B35}"/>
              </a:ext>
            </a:extLst>
          </p:cNvPr>
          <p:cNvSpPr txBox="1"/>
          <p:nvPr/>
        </p:nvSpPr>
        <p:spPr>
          <a:xfrm>
            <a:off x="9348790" y="4482178"/>
            <a:ext cx="6904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sans-serif"/>
              </a:rPr>
              <a:t>Ontology &amp; Links</a:t>
            </a:r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52EB30C-A92A-1DC4-4B4B-0769E61B2639}"/>
              </a:ext>
            </a:extLst>
          </p:cNvPr>
          <p:cNvSpPr/>
          <p:nvPr/>
        </p:nvSpPr>
        <p:spPr>
          <a:xfrm>
            <a:off x="436993" y="3668416"/>
            <a:ext cx="3432384" cy="15995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57FB23B3-8356-464B-099E-CB379F408BCC}"/>
              </a:ext>
            </a:extLst>
          </p:cNvPr>
          <p:cNvSpPr txBox="1"/>
          <p:nvPr/>
        </p:nvSpPr>
        <p:spPr>
          <a:xfrm>
            <a:off x="448042" y="3674517"/>
            <a:ext cx="1913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cap="all" dirty="0">
                <a:solidFill>
                  <a:srgbClr val="065F46"/>
                </a:solidFill>
                <a:effectLst/>
                <a:latin typeface="ui-sans-serif"/>
              </a:rPr>
              <a:t>Graph Elements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0AF3AA86-26DE-8E30-0F58-9CEF1EAB6007}"/>
              </a:ext>
            </a:extLst>
          </p:cNvPr>
          <p:cNvSpPr txBox="1"/>
          <p:nvPr/>
        </p:nvSpPr>
        <p:spPr>
          <a:xfrm>
            <a:off x="448042" y="3949156"/>
            <a:ext cx="3432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  <a:t>Classes</a:t>
            </a:r>
            <a:b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</a:br>
            <a:r>
              <a:rPr lang="en-US" sz="800" b="0" i="0" dirty="0">
                <a:effectLst/>
                <a:latin typeface="ui-sans-serif"/>
              </a:rPr>
              <a:t>Formal definitions: Project, Risk, Client, Stakeholder. </a:t>
            </a:r>
          </a:p>
          <a:p>
            <a:pPr algn="l"/>
            <a:endParaRPr lang="en-US" sz="800" b="1" i="0" dirty="0">
              <a:solidFill>
                <a:srgbClr val="047857"/>
              </a:solidFill>
              <a:effectLst/>
              <a:latin typeface="ui-sans-serif"/>
            </a:endParaRPr>
          </a:p>
          <a:p>
            <a:pPr algn="l"/>
            <a: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  <a:t>Predicates (Typed Links)</a:t>
            </a:r>
            <a:b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</a:br>
            <a:r>
              <a:rPr lang="en-US" sz="800" b="0" i="0" dirty="0">
                <a:effectLst/>
                <a:latin typeface="ui-sans-serif"/>
              </a:rPr>
              <a:t>Relationships: 'Mitigates', 'Impacts', '</a:t>
            </a:r>
            <a:r>
              <a:rPr lang="en-US" sz="800" b="0" i="0" dirty="0" err="1">
                <a:effectLst/>
                <a:latin typeface="ui-sans-serif"/>
              </a:rPr>
              <a:t>OwnedBy</a:t>
            </a:r>
            <a:r>
              <a:rPr lang="en-US" sz="800" b="0" i="0" dirty="0">
                <a:effectLst/>
                <a:latin typeface="ui-sans-serif"/>
              </a:rPr>
              <a:t>’. (e.g., "Stakeholder A" Opposes "Project B").</a:t>
            </a:r>
          </a:p>
          <a:p>
            <a:pPr algn="l"/>
            <a:endParaRPr lang="en-US" sz="800" b="1" i="0" dirty="0">
              <a:solidFill>
                <a:srgbClr val="047857"/>
              </a:solidFill>
              <a:effectLst/>
              <a:latin typeface="ui-sans-serif"/>
            </a:endParaRPr>
          </a:p>
          <a:p>
            <a:pPr algn="l"/>
            <a: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  <a:t>Properties</a:t>
            </a:r>
            <a:br>
              <a:rPr lang="en-US" sz="800" b="1" i="0" dirty="0">
                <a:solidFill>
                  <a:srgbClr val="047857"/>
                </a:solidFill>
                <a:effectLst/>
                <a:latin typeface="ui-sans-serif"/>
              </a:rPr>
            </a:br>
            <a:r>
              <a:rPr lang="en-US" sz="800" b="0" i="0" dirty="0">
                <a:effectLst/>
                <a:latin typeface="ui-sans-serif"/>
              </a:rPr>
              <a:t>Metadata values: Probability (High), Impact (Severe). (e.g., a "Risk" has a "Mitigation Strategy" property).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94ACD7-8821-D19C-269F-26C237FDFEE8}"/>
              </a:ext>
            </a:extLst>
          </p:cNvPr>
          <p:cNvSpPr/>
          <p:nvPr/>
        </p:nvSpPr>
        <p:spPr>
          <a:xfrm>
            <a:off x="4040208" y="3673086"/>
            <a:ext cx="3432384" cy="159951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A6A0DCEE-62C8-F27E-A74E-E6AE5BAF153D}"/>
              </a:ext>
            </a:extLst>
          </p:cNvPr>
          <p:cNvSpPr txBox="1"/>
          <p:nvPr/>
        </p:nvSpPr>
        <p:spPr>
          <a:xfrm>
            <a:off x="4029159" y="3683990"/>
            <a:ext cx="1913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cap="all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ui-sans-serif"/>
              </a:rPr>
              <a:t>Graph Traversal vs RAG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BA18BDE4-5020-F5FF-B5B0-61D86FDC7540}"/>
              </a:ext>
            </a:extLst>
          </p:cNvPr>
          <p:cNvSpPr txBox="1"/>
          <p:nvPr/>
        </p:nvSpPr>
        <p:spPr>
          <a:xfrm>
            <a:off x="4055171" y="4076527"/>
            <a:ext cx="3417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dirty="0">
                <a:solidFill>
                  <a:schemeClr val="bg1"/>
                </a:solidFill>
                <a:effectLst/>
                <a:latin typeface="ui-sans-serif"/>
              </a:rPr>
              <a:t>&gt;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ui-sans-serif"/>
              </a:rPr>
              <a:t> RAG finds text that </a:t>
            </a:r>
            <a:r>
              <a:rPr lang="en-US" sz="800" b="0" i="1" dirty="0">
                <a:solidFill>
                  <a:schemeClr val="bg1"/>
                </a:solidFill>
                <a:effectLst/>
                <a:latin typeface="ui-sans-serif"/>
              </a:rPr>
              <a:t>looks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ui-sans-serif"/>
              </a:rPr>
              <a:t> like your query.</a:t>
            </a:r>
          </a:p>
          <a:p>
            <a:pPr algn="l"/>
            <a:endParaRPr lang="en-US" sz="800" b="0" i="0" dirty="0">
              <a:solidFill>
                <a:schemeClr val="bg1"/>
              </a:solidFill>
              <a:effectLst/>
              <a:latin typeface="ui-sans-serif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bg1"/>
                </a:solidFill>
                <a:effectLst/>
                <a:latin typeface="ui-sans-serif"/>
              </a:rPr>
              <a:t>Graph finds things that are </a:t>
            </a:r>
            <a:r>
              <a:rPr lang="en-US" sz="800" b="0" i="1" dirty="0">
                <a:solidFill>
                  <a:schemeClr val="bg1"/>
                </a:solidFill>
                <a:effectLst/>
                <a:latin typeface="ui-sans-serif"/>
              </a:rPr>
              <a:t>connected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ui-sans-serif"/>
              </a:rPr>
              <a:t> logically (e.g., “Find the risks related to clients via a project path” or  "Find all Milestones impacted by Risks with a high financial property“).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bg1"/>
                </a:solidFill>
                <a:effectLst/>
                <a:latin typeface="ui-sans-serif"/>
              </a:rPr>
              <a:t>Extraction agents automatically suggest new links during ingestion.</a:t>
            </a:r>
          </a:p>
        </p:txBody>
      </p: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27456F9A-6BEA-4BC1-669A-D9DF55CE0DD3}"/>
              </a:ext>
            </a:extLst>
          </p:cNvPr>
          <p:cNvCxnSpPr>
            <a:cxnSpLocks/>
          </p:cNvCxnSpPr>
          <p:nvPr/>
        </p:nvCxnSpPr>
        <p:spPr>
          <a:xfrm>
            <a:off x="517525" y="3930211"/>
            <a:ext cx="32512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1F42F3BD-3682-8B5E-DED9-F6226CCE2BC9}"/>
              </a:ext>
            </a:extLst>
          </p:cNvPr>
          <p:cNvCxnSpPr>
            <a:cxnSpLocks/>
          </p:cNvCxnSpPr>
          <p:nvPr/>
        </p:nvCxnSpPr>
        <p:spPr>
          <a:xfrm>
            <a:off x="4127967" y="3949156"/>
            <a:ext cx="3284215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1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E18FF92-1C5D-4151-FDA0-FF7509ECD53F}"/>
              </a:ext>
            </a:extLst>
          </p:cNvPr>
          <p:cNvSpPr/>
          <p:nvPr/>
        </p:nvSpPr>
        <p:spPr>
          <a:xfrm>
            <a:off x="2978713" y="3262445"/>
            <a:ext cx="1724897" cy="1071000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2C64966-7FEF-F0ED-096C-7F65278A778A}"/>
              </a:ext>
            </a:extLst>
          </p:cNvPr>
          <p:cNvSpPr/>
          <p:nvPr/>
        </p:nvSpPr>
        <p:spPr>
          <a:xfrm>
            <a:off x="4772864" y="3262445"/>
            <a:ext cx="1724897" cy="1071000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1FF5021-C91D-DBC2-B1DA-919663C4EA0B}"/>
              </a:ext>
            </a:extLst>
          </p:cNvPr>
          <p:cNvSpPr txBox="1"/>
          <p:nvPr/>
        </p:nvSpPr>
        <p:spPr>
          <a:xfrm>
            <a:off x="2978712" y="3262447"/>
            <a:ext cx="1724897" cy="107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VLM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During ingestion, visual assets (charts, diagrams, infographics) are processed via VLMs to generate descriptive text, ensuring that visual data is searchable via the vector and graph layers.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FC3402B-A3A6-28E6-2968-C118B054B0BE}"/>
              </a:ext>
            </a:extLst>
          </p:cNvPr>
          <p:cNvSpPr txBox="1"/>
          <p:nvPr/>
        </p:nvSpPr>
        <p:spPr>
          <a:xfrm>
            <a:off x="4772862" y="3262446"/>
            <a:ext cx="1724899" cy="1049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Spatial Anchoring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maintains persistent locations, allowing knowledge workers to use 'loci' techniques for managing project documentation.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endParaRPr lang="en-US" sz="700" b="1" kern="100" dirty="0">
              <a:solidFill>
                <a:schemeClr val="bg1"/>
              </a:solidFill>
              <a:effectLst/>
              <a:latin typeface="Verdana" panose="020B0604030504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66AF3DF-B497-4199-C542-8690D05EBEB0}"/>
              </a:ext>
            </a:extLst>
          </p:cNvPr>
          <p:cNvSpPr/>
          <p:nvPr/>
        </p:nvSpPr>
        <p:spPr>
          <a:xfrm>
            <a:off x="1184562" y="3262449"/>
            <a:ext cx="1724897" cy="1071000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tx2">
                  <a:lumMod val="90000"/>
                  <a:lumOff val="10000"/>
                  <a:shade val="30000"/>
                  <a:satMod val="115000"/>
                </a:schemeClr>
              </a:gs>
              <a:gs pos="50000">
                <a:schemeClr val="tx2">
                  <a:lumMod val="90000"/>
                  <a:lumOff val="10000"/>
                  <a:shade val="67500"/>
                  <a:satMod val="115000"/>
                </a:schemeClr>
              </a:gs>
              <a:gs pos="100000">
                <a:schemeClr val="tx2">
                  <a:lumMod val="90000"/>
                  <a:lumOff val="1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6AF2903-D770-C9F3-2FCF-56FE2DEF1812}"/>
              </a:ext>
            </a:extLst>
          </p:cNvPr>
          <p:cNvSpPr txBox="1"/>
          <p:nvPr/>
        </p:nvSpPr>
        <p:spPr>
          <a:xfrm>
            <a:off x="1184562" y="3262447"/>
            <a:ext cx="1724897" cy="947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Conversion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Raw URLs are scraped and converted into summarized Markdown (“Things”); text snippets can be "promoted" to structured entities (“Things of Things”).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42EE814-432A-D168-01C0-9D3BB1AA5136}"/>
              </a:ext>
            </a:extLst>
          </p:cNvPr>
          <p:cNvSpPr/>
          <p:nvPr/>
        </p:nvSpPr>
        <p:spPr>
          <a:xfrm>
            <a:off x="1184564" y="671945"/>
            <a:ext cx="1302327" cy="755073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AA8A068-EFCE-F800-335E-AC056CA8636F}"/>
              </a:ext>
            </a:extLst>
          </p:cNvPr>
          <p:cNvSpPr/>
          <p:nvPr/>
        </p:nvSpPr>
        <p:spPr>
          <a:xfrm>
            <a:off x="2583873" y="671945"/>
            <a:ext cx="1302327" cy="755073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4C8BD64-F032-9534-B79D-770427068852}"/>
              </a:ext>
            </a:extLst>
          </p:cNvPr>
          <p:cNvSpPr/>
          <p:nvPr/>
        </p:nvSpPr>
        <p:spPr>
          <a:xfrm>
            <a:off x="3983182" y="671944"/>
            <a:ext cx="1302327" cy="755073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86A1281-E747-B4E1-6125-52EB085EC9BD}"/>
              </a:ext>
            </a:extLst>
          </p:cNvPr>
          <p:cNvSpPr txBox="1"/>
          <p:nvPr/>
        </p:nvSpPr>
        <p:spPr>
          <a:xfrm>
            <a:off x="1184563" y="671944"/>
            <a:ext cx="1302327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Macro Level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Global Cluster Views. High-level domain labels and cross-workspace links are prioritized.</a:t>
            </a:r>
            <a:endParaRPr lang="en-US" sz="7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981BF2-F10B-4F65-DA67-ECC41860E81A}"/>
              </a:ext>
            </a:extLst>
          </p:cNvPr>
          <p:cNvSpPr txBox="1"/>
          <p:nvPr/>
        </p:nvSpPr>
        <p:spPr>
          <a:xfrm>
            <a:off x="2583872" y="671944"/>
            <a:ext cx="1302328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Meso</a:t>
            </a: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Level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Entity Layer. One-liner summaries and primary metadata attributes revealed.</a:t>
            </a:r>
            <a:endParaRPr lang="en-US" sz="7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94AA24D-60B4-47EE-5E05-A9AE47BCBBEB}"/>
              </a:ext>
            </a:extLst>
          </p:cNvPr>
          <p:cNvSpPr txBox="1"/>
          <p:nvPr/>
        </p:nvSpPr>
        <p:spPr>
          <a:xfrm>
            <a:off x="3983181" y="671943"/>
            <a:ext cx="1302327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 Level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 Focus. Full Markdown, interactive UI, and agent invocation handles rendered.</a:t>
            </a:r>
            <a:endParaRPr lang="en-US" sz="7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BB1FC25-764D-DB96-30A0-FDBB0450C67D}"/>
              </a:ext>
            </a:extLst>
          </p:cNvPr>
          <p:cNvSpPr/>
          <p:nvPr/>
        </p:nvSpPr>
        <p:spPr>
          <a:xfrm>
            <a:off x="1184563" y="1988127"/>
            <a:ext cx="1302327" cy="755073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B88A760-CF85-F826-24B8-6F9EC13439EA}"/>
              </a:ext>
            </a:extLst>
          </p:cNvPr>
          <p:cNvSpPr/>
          <p:nvPr/>
        </p:nvSpPr>
        <p:spPr>
          <a:xfrm>
            <a:off x="2583873" y="1988127"/>
            <a:ext cx="1766455" cy="755073"/>
          </a:xfrm>
          <a:prstGeom prst="roundRect">
            <a:avLst>
              <a:gd name="adj" fmla="val 7493"/>
            </a:avLst>
          </a:prstGeom>
          <a:gradFill flip="none" rotWithShape="1">
            <a:gsLst>
              <a:gs pos="0">
                <a:schemeClr val="tx2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422F28-0FA4-A0AA-290B-3429677E1AB5}"/>
              </a:ext>
            </a:extLst>
          </p:cNvPr>
          <p:cNvSpPr txBox="1"/>
          <p:nvPr/>
        </p:nvSpPr>
        <p:spPr>
          <a:xfrm>
            <a:off x="1184562" y="1988126"/>
            <a:ext cx="1302327" cy="6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Nesting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Domains can contain other Domains, creating a parent-child inheritance structure.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46BE47F-E730-62ED-CF7A-2D28A88799C2}"/>
              </a:ext>
            </a:extLst>
          </p:cNvPr>
          <p:cNvSpPr txBox="1"/>
          <p:nvPr/>
        </p:nvSpPr>
        <p:spPr>
          <a:xfrm>
            <a:off x="2597724" y="1988126"/>
            <a:ext cx="1752604" cy="6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Contextual Rules</a:t>
            </a:r>
            <a:br>
              <a:rPr lang="en-US" sz="700" b="1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700" kern="1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Moving a node into a "Legal" domain can automatically apply specific redaction rules or ground-truth constraints to that node.</a:t>
            </a:r>
          </a:p>
        </p:txBody>
      </p:sp>
    </p:spTree>
    <p:extLst>
      <p:ext uri="{BB962C8B-B14F-4D97-AF65-F5344CB8AC3E}">
        <p14:creationId xmlns:p14="http://schemas.microsoft.com/office/powerpoint/2010/main" val="171224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A90FF12-A62A-32EF-5398-A7124D130E69}"/>
              </a:ext>
            </a:extLst>
          </p:cNvPr>
          <p:cNvSpPr/>
          <p:nvPr/>
        </p:nvSpPr>
        <p:spPr>
          <a:xfrm>
            <a:off x="1025236" y="1212273"/>
            <a:ext cx="2382982" cy="658091"/>
          </a:xfrm>
          <a:prstGeom prst="roundRect">
            <a:avLst>
              <a:gd name="adj" fmla="val 512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739ECD3-3114-A75B-7A41-214DC9AED605}"/>
              </a:ext>
            </a:extLst>
          </p:cNvPr>
          <p:cNvSpPr txBox="1"/>
          <p:nvPr/>
        </p:nvSpPr>
        <p:spPr>
          <a:xfrm>
            <a:off x="1025236" y="1212273"/>
            <a:ext cx="2382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cap="all" dirty="0">
                <a:solidFill>
                  <a:srgbClr val="1E293B"/>
                </a:solidFill>
                <a:effectLst/>
                <a:latin typeface="ui-sans-serif"/>
              </a:rPr>
              <a:t>Dynamic Tool Discovery</a:t>
            </a:r>
          </a:p>
          <a:p>
            <a:pPr algn="just"/>
            <a:r>
              <a:rPr lang="en-US" sz="800" b="0" i="0" dirty="0">
                <a:solidFill>
                  <a:srgbClr val="64748B"/>
                </a:solidFill>
                <a:effectLst/>
                <a:latin typeface="ui-sans-serif"/>
              </a:rPr>
              <a:t>Agents identify and activate MCP servers for real-time web search, SQL interaction, and local file management.</a:t>
            </a:r>
            <a:endParaRPr lang="en-US" sz="80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EB31FBA-E619-65E6-2DD5-D3FCB2F73974}"/>
              </a:ext>
            </a:extLst>
          </p:cNvPr>
          <p:cNvSpPr/>
          <p:nvPr/>
        </p:nvSpPr>
        <p:spPr>
          <a:xfrm>
            <a:off x="1025236" y="2008909"/>
            <a:ext cx="2382982" cy="658091"/>
          </a:xfrm>
          <a:prstGeom prst="roundRect">
            <a:avLst>
              <a:gd name="adj" fmla="val 512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398223B-A850-B795-7BC6-E64C71EF5AA7}"/>
              </a:ext>
            </a:extLst>
          </p:cNvPr>
          <p:cNvSpPr txBox="1"/>
          <p:nvPr/>
        </p:nvSpPr>
        <p:spPr>
          <a:xfrm>
            <a:off x="1025236" y="2008909"/>
            <a:ext cx="2382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cap="all" dirty="0">
                <a:solidFill>
                  <a:srgbClr val="1E293B"/>
                </a:solidFill>
                <a:effectLst/>
                <a:latin typeface="ui-sans-serif"/>
              </a:rPr>
              <a:t>Adaptive GUI Forms</a:t>
            </a:r>
          </a:p>
          <a:p>
            <a:pPr algn="just"/>
            <a:r>
              <a:rPr lang="en-US" sz="800" b="0" i="0" dirty="0">
                <a:solidFill>
                  <a:srgbClr val="64748B"/>
                </a:solidFill>
                <a:effectLst/>
                <a:latin typeface="ui-sans-serif"/>
              </a:rPr>
              <a:t>Agents can dynamically render 'Form Things' to request structured input or validation from the human user during multi-step blueprints.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F3B66BB-3642-67A0-1831-4B378A29114F}"/>
              </a:ext>
            </a:extLst>
          </p:cNvPr>
          <p:cNvSpPr/>
          <p:nvPr/>
        </p:nvSpPr>
        <p:spPr>
          <a:xfrm>
            <a:off x="6172200" y="919885"/>
            <a:ext cx="1758950" cy="2178915"/>
          </a:xfrm>
          <a:prstGeom prst="roundRect">
            <a:avLst>
              <a:gd name="adj" fmla="val 296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B52013-D104-B31F-B5C2-2CFDFCF2A28C}"/>
              </a:ext>
            </a:extLst>
          </p:cNvPr>
          <p:cNvSpPr/>
          <p:nvPr/>
        </p:nvSpPr>
        <p:spPr>
          <a:xfrm>
            <a:off x="6273800" y="1212273"/>
            <a:ext cx="1574800" cy="867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8A989E9-35B9-C634-D275-533368AE1DAC}"/>
              </a:ext>
            </a:extLst>
          </p:cNvPr>
          <p:cNvSpPr txBox="1"/>
          <p:nvPr/>
        </p:nvSpPr>
        <p:spPr>
          <a:xfrm>
            <a:off x="6273800" y="1222953"/>
            <a:ext cx="1517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1" i="0" cap="all">
                <a:solidFill>
                  <a:srgbClr val="1E293B"/>
                </a:solidFill>
                <a:effectLst/>
                <a:latin typeface="ui-sans-serif"/>
              </a:defRPr>
            </a:lvl1pPr>
          </a:lstStyle>
          <a:p>
            <a:r>
              <a:rPr lang="en-US" dirty="0"/>
              <a:t>React Flow Customization</a:t>
            </a:r>
            <a:br>
              <a:rPr lang="en-US" dirty="0"/>
            </a:br>
            <a:endParaRPr lang="en-US" dirty="0"/>
          </a:p>
          <a:p>
            <a:r>
              <a:rPr lang="en-US" b="0" cap="none" dirty="0"/>
              <a:t>Optimized viewport management for nodes using custom LOD hooks to prevent main-thread blocking</a:t>
            </a:r>
            <a:r>
              <a:rPr lang="en-US" b="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066938-C467-BDB5-90DC-1089F1F3BC9E}"/>
              </a:ext>
            </a:extLst>
          </p:cNvPr>
          <p:cNvSpPr/>
          <p:nvPr/>
        </p:nvSpPr>
        <p:spPr>
          <a:xfrm>
            <a:off x="6273800" y="2159857"/>
            <a:ext cx="1574800" cy="867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6993A29-8290-A29B-644B-7ADAFF6CD5F0}"/>
              </a:ext>
            </a:extLst>
          </p:cNvPr>
          <p:cNvSpPr txBox="1"/>
          <p:nvPr/>
        </p:nvSpPr>
        <p:spPr>
          <a:xfrm>
            <a:off x="6273800" y="2159857"/>
            <a:ext cx="157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1" i="0" cap="all">
                <a:solidFill>
                  <a:srgbClr val="1E293B"/>
                </a:solidFill>
                <a:effectLst/>
                <a:latin typeface="ui-sans-serif"/>
              </a:defRPr>
            </a:lvl1pPr>
          </a:lstStyle>
          <a:p>
            <a:r>
              <a:rPr lang="en-US" dirty="0"/>
              <a:t>Hierarchical Domains</a:t>
            </a:r>
          </a:p>
          <a:p>
            <a:endParaRPr lang="en-US" dirty="0"/>
          </a:p>
          <a:p>
            <a:r>
              <a:rPr lang="en-US" b="0" cap="none" dirty="0"/>
              <a:t>Nested containers with recursive metadata inheritance. Parent domain rules (e.g., 'Finance') apply to all child nodes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BE3F3ED-08B3-CED9-003B-417E59332DE3}"/>
              </a:ext>
            </a:extLst>
          </p:cNvPr>
          <p:cNvSpPr txBox="1"/>
          <p:nvPr/>
        </p:nvSpPr>
        <p:spPr>
          <a:xfrm>
            <a:off x="6216650" y="936220"/>
            <a:ext cx="1714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 cap="all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i-monospace"/>
              </a:rPr>
              <a:t>Interface Specs</a:t>
            </a:r>
          </a:p>
        </p:txBody>
      </p:sp>
    </p:spTree>
    <p:extLst>
      <p:ext uri="{BB962C8B-B14F-4D97-AF65-F5344CB8AC3E}">
        <p14:creationId xmlns:p14="http://schemas.microsoft.com/office/powerpoint/2010/main" val="21545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57E7778-A7C0-A619-D6AE-482DD91A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21" y="222250"/>
            <a:ext cx="2979929" cy="342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5074DF7-FC94-2ACD-1FA6-4227B1C0E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445" y="1212117"/>
            <a:ext cx="4415783" cy="19699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0360A54-3BBA-D38D-5F5D-6B44EBBD5E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94" t="10109"/>
          <a:stretch/>
        </p:blipFill>
        <p:spPr>
          <a:xfrm>
            <a:off x="1720850" y="2549525"/>
            <a:ext cx="4121391" cy="2203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9611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Grand écran</PresentationFormat>
  <Paragraphs>57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ui-monospace</vt:lpstr>
      <vt:lpstr>ui-sans-serif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polette</dc:creator>
  <cp:lastModifiedBy>olivier polette</cp:lastModifiedBy>
  <cp:revision>1</cp:revision>
  <dcterms:created xsi:type="dcterms:W3CDTF">2026-03-16T10:08:21Z</dcterms:created>
  <dcterms:modified xsi:type="dcterms:W3CDTF">2026-03-16T10:08:45Z</dcterms:modified>
</cp:coreProperties>
</file>