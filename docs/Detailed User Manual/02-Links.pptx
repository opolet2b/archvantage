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65" r:id="rId6"/>
    <p:sldId id="262" r:id="rId7"/>
    <p:sldId id="264" r:id="rId8"/>
    <p:sldId id="263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571"/>
    <a:srgbClr val="9CD2F6"/>
    <a:srgbClr val="A5EAED"/>
    <a:srgbClr val="C198E0"/>
    <a:srgbClr val="AA72D4"/>
    <a:srgbClr val="873AC0"/>
    <a:srgbClr val="CC00CC"/>
    <a:srgbClr val="9966FF"/>
    <a:srgbClr val="9933FF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 autoAdjust="0"/>
    <p:restoredTop sz="87986" autoAdjust="0"/>
  </p:normalViewPr>
  <p:slideViewPr>
    <p:cSldViewPr snapToGrid="0">
      <p:cViewPr varScale="1">
        <p:scale>
          <a:sx n="136" d="100"/>
          <a:sy n="136" d="100"/>
        </p:scale>
        <p:origin x="3474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2" d="100"/>
        <a:sy n="62" d="100"/>
      </p:scale>
      <p:origin x="0" y="-1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B5C66-071E-44FE-9AD3-44BA55FD9994}" type="datetimeFigureOut">
              <a:rPr lang="de-DE" smtClean="0"/>
              <a:t>20.05.2026</a:t>
            </a:fld>
            <a:endParaRPr lang="de-D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543DF-F8A5-4D85-8686-6B71F3A38493}" type="slidenum">
              <a:rPr lang="de-DE" smtClean="0"/>
              <a:t>‹N°›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358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543DF-F8A5-4D85-8686-6B71F3A38493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9681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543DF-F8A5-4D85-8686-6B71F3A38493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8668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543DF-F8A5-4D85-8686-6B71F3A38493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4177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543DF-F8A5-4D85-8686-6B71F3A38493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8432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Content Placeholder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9969"/>
            <a:ext cx="12192000" cy="75803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6313851" y="6169821"/>
            <a:ext cx="5738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transform business to technology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9924" y="1695449"/>
            <a:ext cx="7458075" cy="1814513"/>
          </a:xfrm>
          <a:prstGeom prst="rect">
            <a:avLst/>
          </a:prstGeom>
        </p:spPr>
        <p:txBody>
          <a:bodyPr anchor="t"/>
          <a:lstStyle>
            <a:lvl1pPr algn="l">
              <a:defRPr sz="4000" i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924" y="3602038"/>
            <a:ext cx="74580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de-DE" dirty="0"/>
          </a:p>
        </p:txBody>
      </p:sp>
      <p:sp>
        <p:nvSpPr>
          <p:cNvPr id="28" name="TextBox 27"/>
          <p:cNvSpPr txBox="1"/>
          <p:nvPr userDrawn="1"/>
        </p:nvSpPr>
        <p:spPr>
          <a:xfrm>
            <a:off x="6313851" y="6169821"/>
            <a:ext cx="5738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transform business to technology</a:t>
            </a:r>
          </a:p>
        </p:txBody>
      </p:sp>
      <p:sp>
        <p:nvSpPr>
          <p:cNvPr id="37" name="Picture Placeholder 2"/>
          <p:cNvSpPr>
            <a:spLocks noGrp="1"/>
          </p:cNvSpPr>
          <p:nvPr>
            <p:ph type="pic" idx="10"/>
          </p:nvPr>
        </p:nvSpPr>
        <p:spPr>
          <a:xfrm>
            <a:off x="0" y="0"/>
            <a:ext cx="2571750" cy="68676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49446" y="6173478"/>
            <a:ext cx="1559680" cy="64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1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  <a:prstGeom prst="rect">
            <a:avLst/>
          </a:prstGeom>
        </p:spPr>
        <p:txBody>
          <a:bodyPr/>
          <a:lstStyle>
            <a:lvl1pPr>
              <a:defRPr sz="3600" i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/>
              <a:t>Page </a:t>
            </a:r>
            <a:fld id="{FAB7DDFC-9A08-4D1A-8A9A-A189ECE46181}" type="slidenum">
              <a:rPr lang="de-DE" smtClean="0"/>
              <a:pPr/>
              <a:t>‹N°›</a:t>
            </a:fld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266825"/>
            <a:ext cx="10515600" cy="4781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926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/>
              <a:t>Page </a:t>
            </a:r>
            <a:fld id="{FAB7DDFC-9A08-4D1A-8A9A-A189ECE46181}" type="slidenum">
              <a:rPr lang="de-DE" smtClean="0"/>
              <a:pPr/>
              <a:t>‹N°›</a:t>
            </a:fld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  <a:prstGeom prst="rect">
            <a:avLst/>
          </a:prstGeom>
        </p:spPr>
        <p:txBody>
          <a:bodyPr/>
          <a:lstStyle>
            <a:lvl1pPr>
              <a:defRPr sz="3600" i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716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62075"/>
            <a:ext cx="5181600" cy="47529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62075"/>
            <a:ext cx="5181600" cy="47529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  <a:prstGeom prst="rect">
            <a:avLst/>
          </a:prstGeom>
        </p:spPr>
        <p:txBody>
          <a:bodyPr/>
          <a:lstStyle>
            <a:lvl1pPr>
              <a:defRPr sz="3600" i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000" y="6446311"/>
            <a:ext cx="21590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FAB7DDFC-9A08-4D1A-8A9A-A189ECE46181}" type="slidenum">
              <a:rPr lang="de-DE" smtClean="0"/>
              <a:pPr/>
              <a:t>‹N°›</a:t>
            </a:fld>
            <a:endParaRPr lang="de-DE" dirty="0"/>
          </a:p>
        </p:txBody>
      </p:sp>
      <p:sp>
        <p:nvSpPr>
          <p:cNvPr id="8" name="Footer Placeholder 25"/>
          <p:cNvSpPr>
            <a:spLocks noGrp="1"/>
          </p:cNvSpPr>
          <p:nvPr>
            <p:ph type="ftr" sz="quarter" idx="3"/>
          </p:nvPr>
        </p:nvSpPr>
        <p:spPr>
          <a:xfrm>
            <a:off x="4038600" y="6446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6244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000" y="6446311"/>
            <a:ext cx="21590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FAB7DDFC-9A08-4D1A-8A9A-A189ECE46181}" type="slidenum">
              <a:rPr lang="de-DE" smtClean="0"/>
              <a:pPr/>
              <a:t>‹N°›</a:t>
            </a:fld>
            <a:endParaRPr lang="de-DE" dirty="0"/>
          </a:p>
        </p:txBody>
      </p:sp>
      <p:sp>
        <p:nvSpPr>
          <p:cNvPr id="7" name="Footer Placeholder 25"/>
          <p:cNvSpPr>
            <a:spLocks noGrp="1"/>
          </p:cNvSpPr>
          <p:nvPr>
            <p:ph type="ftr" sz="quarter" idx="3"/>
          </p:nvPr>
        </p:nvSpPr>
        <p:spPr>
          <a:xfrm>
            <a:off x="4038600" y="6446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677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1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6387044"/>
            <a:ext cx="12192000" cy="47095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3851"/>
            <a:ext cx="10515600" cy="5786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000" y="6446311"/>
            <a:ext cx="21590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FAB7DDFC-9A08-4D1A-8A9A-A189ECE46181}" type="slidenum">
              <a:rPr lang="de-DE" smtClean="0"/>
              <a:pPr/>
              <a:t>‹N°›</a:t>
            </a:fld>
            <a:endParaRPr lang="de-DE" dirty="0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3"/>
          </p:nvPr>
        </p:nvSpPr>
        <p:spPr>
          <a:xfrm>
            <a:off x="4038600" y="6446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383054" y="6442273"/>
            <a:ext cx="933782" cy="38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6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2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SzPct val="90000"/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30E072F-98EB-4EED-BA50-64785FED2357}"/>
              </a:ext>
            </a:extLst>
          </p:cNvPr>
          <p:cNvSpPr txBox="1"/>
          <p:nvPr/>
        </p:nvSpPr>
        <p:spPr>
          <a:xfrm>
            <a:off x="682282" y="1040227"/>
            <a:ext cx="110009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The </a:t>
            </a:r>
            <a:r>
              <a:rPr lang="en-US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Semantic Workbench </a:t>
            </a:r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transitions raw information management from traditional, linear chat interfaces into a </a:t>
            </a:r>
            <a:r>
              <a:rPr lang="en-US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spatial computing and knowledge synthesis engine</a:t>
            </a:r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. Within this spatial metaphor, </a:t>
            </a:r>
            <a:r>
              <a:rPr lang="en-US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Links (Connections)</a:t>
            </a:r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 are not merely visual decoration—they represent the </a:t>
            </a:r>
            <a:r>
              <a:rPr lang="en-US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cognitive scaffolding</a:t>
            </a:r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 of the workspace. </a:t>
            </a:r>
          </a:p>
          <a:p>
            <a:endParaRPr lang="en-US" b="0" dirty="0">
              <a:solidFill>
                <a:schemeClr val="bg2">
                  <a:lumMod val="2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Graph-Guided Retrieval outperforms standard keyword vector search by traversing logical connections.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099902-8B98-A092-C257-D673459FD35A}"/>
              </a:ext>
            </a:extLst>
          </p:cNvPr>
          <p:cNvSpPr txBox="1"/>
          <p:nvPr/>
        </p:nvSpPr>
        <p:spPr>
          <a:xfrm>
            <a:off x="801859" y="267286"/>
            <a:ext cx="56092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Links: The Engine of RAG</a:t>
            </a:r>
          </a:p>
          <a:p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1117BA-C556-4B0C-37FC-E093E6F00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82" y="2526982"/>
            <a:ext cx="11049000" cy="4063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55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9F5A6C9-FBCB-2E07-3253-1C940FADF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135" y="2558305"/>
            <a:ext cx="5252118" cy="249599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30E072F-98EB-4EED-BA50-64785FED2357}"/>
              </a:ext>
            </a:extLst>
          </p:cNvPr>
          <p:cNvSpPr txBox="1"/>
          <p:nvPr/>
        </p:nvSpPr>
        <p:spPr>
          <a:xfrm>
            <a:off x="682282" y="1040227"/>
            <a:ext cx="11000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Links establish explicit, machine-readable, and human-interpretable relationships between disparate pieces of information ("Things").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099902-8B98-A092-C257-D673459FD35A}"/>
              </a:ext>
            </a:extLst>
          </p:cNvPr>
          <p:cNvSpPr txBox="1"/>
          <p:nvPr/>
        </p:nvSpPr>
        <p:spPr>
          <a:xfrm>
            <a:off x="801859" y="267286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Links</a:t>
            </a:r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8BFA284-3081-B488-565C-44E8C3408996}"/>
              </a:ext>
            </a:extLst>
          </p:cNvPr>
          <p:cNvSpPr/>
          <p:nvPr/>
        </p:nvSpPr>
        <p:spPr>
          <a:xfrm>
            <a:off x="1150032" y="3697027"/>
            <a:ext cx="2862776" cy="1364567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6DD224-8705-9357-1191-29602B6E62DF}"/>
              </a:ext>
            </a:extLst>
          </p:cNvPr>
          <p:cNvSpPr txBox="1"/>
          <p:nvPr/>
        </p:nvSpPr>
        <p:spPr>
          <a:xfrm>
            <a:off x="1222129" y="3697028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Create a Link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37A913-4446-0659-D1E7-5C079AD27B0C}"/>
              </a:ext>
            </a:extLst>
          </p:cNvPr>
          <p:cNvSpPr txBox="1"/>
          <p:nvPr/>
        </p:nvSpPr>
        <p:spPr>
          <a:xfrm>
            <a:off x="1222129" y="4015043"/>
            <a:ext cx="27414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Click a handle and drag to another node to create a link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2C79AB7-338C-1576-800B-70013487DB41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4012808" y="3618637"/>
            <a:ext cx="3527475" cy="760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112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8A58D9EC-0105-5926-4A96-144D20380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513" y="1435915"/>
            <a:ext cx="2743975" cy="524724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30E072F-98EB-4EED-BA50-64785FED2357}"/>
              </a:ext>
            </a:extLst>
          </p:cNvPr>
          <p:cNvSpPr txBox="1"/>
          <p:nvPr/>
        </p:nvSpPr>
        <p:spPr>
          <a:xfrm>
            <a:off x="682282" y="1040227"/>
            <a:ext cx="11000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Links’ properties are used for RAG and document analysis. </a:t>
            </a:r>
          </a:p>
          <a:p>
            <a:endParaRPr lang="en-US" b="0" dirty="0">
              <a:solidFill>
                <a:schemeClr val="bg2">
                  <a:lumMod val="2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099902-8B98-A092-C257-D673459FD35A}"/>
              </a:ext>
            </a:extLst>
          </p:cNvPr>
          <p:cNvSpPr txBox="1"/>
          <p:nvPr/>
        </p:nvSpPr>
        <p:spPr>
          <a:xfrm>
            <a:off x="801859" y="267286"/>
            <a:ext cx="6287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Customizing</a:t>
            </a:r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 Link </a:t>
            </a:r>
            <a:r>
              <a:rPr lang="fr-FR" sz="32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Properties</a:t>
            </a:r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8BFA284-3081-B488-565C-44E8C3408996}"/>
              </a:ext>
            </a:extLst>
          </p:cNvPr>
          <p:cNvSpPr/>
          <p:nvPr/>
        </p:nvSpPr>
        <p:spPr>
          <a:xfrm>
            <a:off x="256733" y="1574656"/>
            <a:ext cx="2862776" cy="1627595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6DD224-8705-9357-1191-29602B6E62DF}"/>
              </a:ext>
            </a:extLst>
          </p:cNvPr>
          <p:cNvSpPr txBox="1"/>
          <p:nvPr/>
        </p:nvSpPr>
        <p:spPr>
          <a:xfrm>
            <a:off x="328830" y="1574657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Link Configuration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37A913-4446-0659-D1E7-5C079AD27B0C}"/>
              </a:ext>
            </a:extLst>
          </p:cNvPr>
          <p:cNvSpPr txBox="1"/>
          <p:nvPr/>
        </p:nvSpPr>
        <p:spPr>
          <a:xfrm>
            <a:off x="328830" y="1892672"/>
            <a:ext cx="2741441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Relationship Type</a:t>
            </a:r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: Change the predicate (e.g., from 'related' to 'refutes').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Custom Labels</a:t>
            </a:r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: Update the floating text card for immediate clarity.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Description Context</a:t>
            </a:r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: Provide the mandatory "why" behind the connection.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2C79AB7-338C-1576-800B-70013487DB41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119509" y="2388454"/>
            <a:ext cx="483004" cy="425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48361EEC-3C1A-7A70-075D-367FAFA3E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158" y="4186025"/>
            <a:ext cx="4993709" cy="1772737"/>
          </a:xfrm>
          <a:prstGeom prst="rect">
            <a:avLst/>
          </a:prstGeom>
        </p:spPr>
      </p:pic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D9554A3-F385-A36B-1877-3976F852EAA7}"/>
              </a:ext>
            </a:extLst>
          </p:cNvPr>
          <p:cNvSpPr/>
          <p:nvPr/>
        </p:nvSpPr>
        <p:spPr>
          <a:xfrm>
            <a:off x="8092438" y="1630607"/>
            <a:ext cx="2862776" cy="908611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88CA706-71D2-6C59-DF0E-101E94C8516B}"/>
              </a:ext>
            </a:extLst>
          </p:cNvPr>
          <p:cNvSpPr txBox="1"/>
          <p:nvPr/>
        </p:nvSpPr>
        <p:spPr>
          <a:xfrm>
            <a:off x="8164535" y="1630608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Link Configuration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3FA7006-4BCD-4F63-353D-23E962A90C69}"/>
              </a:ext>
            </a:extLst>
          </p:cNvPr>
          <p:cNvSpPr txBox="1"/>
          <p:nvPr/>
        </p:nvSpPr>
        <p:spPr>
          <a:xfrm>
            <a:off x="8164535" y="1948623"/>
            <a:ext cx="27414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Click on the link’s label to edit properties</a:t>
            </a:r>
            <a:endParaRPr lang="en-US" sz="1050" b="0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CA16EA0D-570C-D2FC-F376-150F6290303E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9523826" y="2539218"/>
            <a:ext cx="62187" cy="2377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20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2312E34-6210-0FB3-16C8-0ACDC3DC1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011" y="1686558"/>
            <a:ext cx="3264975" cy="286034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30E072F-98EB-4EED-BA50-64785FED2357}"/>
              </a:ext>
            </a:extLst>
          </p:cNvPr>
          <p:cNvSpPr txBox="1"/>
          <p:nvPr/>
        </p:nvSpPr>
        <p:spPr>
          <a:xfrm>
            <a:off x="682282" y="1040227"/>
            <a:ext cx="11000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Leverage the system's intelligence to find hidden relationships. </a:t>
            </a:r>
          </a:p>
          <a:p>
            <a:endParaRPr lang="en-US" b="0" dirty="0">
              <a:solidFill>
                <a:schemeClr val="bg2">
                  <a:lumMod val="2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099902-8B98-A092-C257-D673459FD35A}"/>
              </a:ext>
            </a:extLst>
          </p:cNvPr>
          <p:cNvSpPr txBox="1"/>
          <p:nvPr/>
        </p:nvSpPr>
        <p:spPr>
          <a:xfrm>
            <a:off x="801859" y="267286"/>
            <a:ext cx="6287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Discovering</a:t>
            </a:r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fr-FR" sz="32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Implicit</a:t>
            </a:r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 Links</a:t>
            </a:r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8BFA284-3081-B488-565C-44E8C3408996}"/>
              </a:ext>
            </a:extLst>
          </p:cNvPr>
          <p:cNvSpPr/>
          <p:nvPr/>
        </p:nvSpPr>
        <p:spPr>
          <a:xfrm>
            <a:off x="256733" y="1574656"/>
            <a:ext cx="2862776" cy="1627595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6DD224-8705-9357-1191-29602B6E62DF}"/>
              </a:ext>
            </a:extLst>
          </p:cNvPr>
          <p:cNvSpPr txBox="1"/>
          <p:nvPr/>
        </p:nvSpPr>
        <p:spPr>
          <a:xfrm>
            <a:off x="328830" y="1574657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Discovery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37A913-4446-0659-D1E7-5C079AD27B0C}"/>
              </a:ext>
            </a:extLst>
          </p:cNvPr>
          <p:cNvSpPr txBox="1"/>
          <p:nvPr/>
        </p:nvSpPr>
        <p:spPr>
          <a:xfrm>
            <a:off x="328830" y="1892672"/>
            <a:ext cx="2741441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Discovery Icon</a:t>
            </a:r>
            <a:r>
              <a:rPr lang="en-US" sz="105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: Right-Click on the canvas and select “Discove</a:t>
            </a:r>
            <a:r>
              <a:rPr lang="en-US" sz="1050" dirty="0">
                <a:solidFill>
                  <a:srgbClr val="CBD5E1"/>
                </a:solidFill>
                <a:latin typeface="Lato" panose="020F0502020204030203" pitchFamily="34" charset="0"/>
              </a:rPr>
              <a:t>r Links</a:t>
            </a:r>
            <a:r>
              <a:rPr lang="en-US" sz="105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" to activate AI link analysis.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AI Suggestion: </a:t>
            </a:r>
            <a:r>
              <a:rPr lang="en-US" sz="105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Suggested links appear as ghost edges for your confirmation</a:t>
            </a:r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.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2C79AB7-338C-1576-800B-70013487DB41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119509" y="2388454"/>
            <a:ext cx="491724" cy="1040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8C0426CD-BB3D-1435-F8F7-FB573ABD3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214" y="1759323"/>
            <a:ext cx="5128643" cy="4192172"/>
          </a:xfrm>
          <a:prstGeom prst="rect">
            <a:avLst/>
          </a:prstGeom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BE54392A-8E00-95DE-5E67-46EE2C8B44D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119509" y="2388454"/>
            <a:ext cx="6622368" cy="404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536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832B1E5-F5A5-AE30-5599-23905F4BE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FAB7DDFC-9A08-4D1A-8A9A-A189ECE46181}" type="slidenum">
              <a:rPr lang="de-DE" smtClean="0"/>
              <a:pPr/>
              <a:t>5</a:t>
            </a:fld>
            <a:endParaRPr lang="de-DE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5979910-079E-E993-FE59-312F48BBD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214" y="1759323"/>
            <a:ext cx="5128643" cy="419217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90F5536-9B11-F3FD-F41F-A0DDD93CA4D2}"/>
              </a:ext>
            </a:extLst>
          </p:cNvPr>
          <p:cNvSpPr txBox="1"/>
          <p:nvPr/>
        </p:nvSpPr>
        <p:spPr>
          <a:xfrm>
            <a:off x="682282" y="1040227"/>
            <a:ext cx="11000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Leverage the system's intelligence to find hidden relationships. </a:t>
            </a:r>
          </a:p>
          <a:p>
            <a:endParaRPr lang="en-US" b="0" dirty="0">
              <a:solidFill>
                <a:schemeClr val="bg2">
                  <a:lumMod val="2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1CB1C33-5B69-49D3-A09C-5F1FD938C08C}"/>
              </a:ext>
            </a:extLst>
          </p:cNvPr>
          <p:cNvSpPr txBox="1"/>
          <p:nvPr/>
        </p:nvSpPr>
        <p:spPr>
          <a:xfrm>
            <a:off x="801859" y="267286"/>
            <a:ext cx="6287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Discovering</a:t>
            </a:r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fr-FR" sz="32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Implicit</a:t>
            </a:r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 Links</a:t>
            </a:r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3DE749E-BC1D-7AB0-0638-0EB88B7FE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58" y="2011680"/>
            <a:ext cx="1656432" cy="3481754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153AD83-E75C-16C7-10A7-4A7AF282B9BE}"/>
              </a:ext>
            </a:extLst>
          </p:cNvPr>
          <p:cNvSpPr/>
          <p:nvPr/>
        </p:nvSpPr>
        <p:spPr>
          <a:xfrm>
            <a:off x="2936205" y="1827014"/>
            <a:ext cx="2862776" cy="1141270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649E424-2A42-D305-166C-4FC581463BD5}"/>
              </a:ext>
            </a:extLst>
          </p:cNvPr>
          <p:cNvSpPr txBox="1"/>
          <p:nvPr/>
        </p:nvSpPr>
        <p:spPr>
          <a:xfrm>
            <a:off x="3008302" y="1827014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Discovery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20E8B3A-2D72-848F-590E-8F41D7D7BC26}"/>
              </a:ext>
            </a:extLst>
          </p:cNvPr>
          <p:cNvSpPr txBox="1"/>
          <p:nvPr/>
        </p:nvSpPr>
        <p:spPr>
          <a:xfrm>
            <a:off x="3008302" y="2145029"/>
            <a:ext cx="274144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Labels and Description</a:t>
            </a:r>
            <a:r>
              <a:rPr lang="en-US" sz="105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: Discovered links include detailed label and description for use in RAG</a:t>
            </a:r>
            <a:endParaRPr lang="en-US" sz="1050" b="0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7ABA064C-860A-DAD9-33CB-89EC711431D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87526" y="2397649"/>
            <a:ext cx="748679" cy="1942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436A1E5-F340-1BC4-7D00-FF782E21F8EF}"/>
              </a:ext>
            </a:extLst>
          </p:cNvPr>
          <p:cNvSpPr/>
          <p:nvPr/>
        </p:nvSpPr>
        <p:spPr>
          <a:xfrm>
            <a:off x="2936205" y="3933442"/>
            <a:ext cx="2862776" cy="1141270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4F3985F-A0AF-D1D9-FEE6-D986B4A4082D}"/>
              </a:ext>
            </a:extLst>
          </p:cNvPr>
          <p:cNvSpPr txBox="1"/>
          <p:nvPr/>
        </p:nvSpPr>
        <p:spPr>
          <a:xfrm>
            <a:off x="3008302" y="3933442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Rainbow Layout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A0C4693-4414-3771-E94F-3B16A9564507}"/>
              </a:ext>
            </a:extLst>
          </p:cNvPr>
          <p:cNvSpPr txBox="1"/>
          <p:nvPr/>
        </p:nvSpPr>
        <p:spPr>
          <a:xfrm>
            <a:off x="3008302" y="4251457"/>
            <a:ext cx="27414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Calculates perpendicular vectors to prevent overlapping lines.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C42C536-2263-759F-54AB-038B96126826}"/>
              </a:ext>
            </a:extLst>
          </p:cNvPr>
          <p:cNvCxnSpPr>
            <a:cxnSpLocks/>
          </p:cNvCxnSpPr>
          <p:nvPr/>
        </p:nvCxnSpPr>
        <p:spPr>
          <a:xfrm flipV="1">
            <a:off x="5821840" y="3193152"/>
            <a:ext cx="3680886" cy="1157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13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E8B9CE6-F8D8-4858-5B4E-B30C2D21D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FAB7DDFC-9A08-4D1A-8A9A-A189ECE46181}" type="slidenum">
              <a:rPr lang="de-DE" smtClean="0"/>
              <a:pPr/>
              <a:t>6</a:t>
            </a:fld>
            <a:endParaRPr lang="de-DE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DE1202A-73CF-07FA-6355-3F9F5B8E3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59" y="3318196"/>
            <a:ext cx="3673158" cy="249957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C8E772F-E963-40D9-E576-6C778ACFC02A}"/>
              </a:ext>
            </a:extLst>
          </p:cNvPr>
          <p:cNvSpPr txBox="1"/>
          <p:nvPr/>
        </p:nvSpPr>
        <p:spPr>
          <a:xfrm>
            <a:off x="801859" y="267286"/>
            <a:ext cx="8095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Managing Clutter: Show &amp; Hide Links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C8F0137-184B-4CF9-31A8-2BC2C94BA206}"/>
              </a:ext>
            </a:extLst>
          </p:cNvPr>
          <p:cNvSpPr/>
          <p:nvPr/>
        </p:nvSpPr>
        <p:spPr>
          <a:xfrm>
            <a:off x="973762" y="1686558"/>
            <a:ext cx="2862776" cy="1141270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68F2695-B6FD-B143-6140-4A6D8E8E11EA}"/>
              </a:ext>
            </a:extLst>
          </p:cNvPr>
          <p:cNvSpPr txBox="1"/>
          <p:nvPr/>
        </p:nvSpPr>
        <p:spPr>
          <a:xfrm>
            <a:off x="1045859" y="1686558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Global Toggle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C97B165-4494-3784-3141-7D7ADAE9262A}"/>
              </a:ext>
            </a:extLst>
          </p:cNvPr>
          <p:cNvSpPr txBox="1"/>
          <p:nvPr/>
        </p:nvSpPr>
        <p:spPr>
          <a:xfrm>
            <a:off x="1045859" y="2004573"/>
            <a:ext cx="27414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Hide all links across the entire canvas with a single action to clear visual noise and focus purely on spatial layout.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50" b="1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6A514E1-4385-8611-6861-101399A30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858" y="2961249"/>
            <a:ext cx="3721571" cy="2940584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8E13792-E1D3-0A4A-CA5A-E18D60390892}"/>
              </a:ext>
            </a:extLst>
          </p:cNvPr>
          <p:cNvSpPr/>
          <p:nvPr/>
        </p:nvSpPr>
        <p:spPr>
          <a:xfrm>
            <a:off x="7571510" y="1686558"/>
            <a:ext cx="2862776" cy="1141270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6CA7130-2B4B-C02C-6C00-13069D4DE029}"/>
              </a:ext>
            </a:extLst>
          </p:cNvPr>
          <p:cNvSpPr txBox="1"/>
          <p:nvPr/>
        </p:nvSpPr>
        <p:spPr>
          <a:xfrm>
            <a:off x="7643607" y="1686558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Local Isolation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4E7338D-5BD5-DE7D-4D00-C3777E3DFD4C}"/>
              </a:ext>
            </a:extLst>
          </p:cNvPr>
          <p:cNvSpPr txBox="1"/>
          <p:nvPr/>
        </p:nvSpPr>
        <p:spPr>
          <a:xfrm>
            <a:off x="7643607" y="2004573"/>
            <a:ext cx="27414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Select a single "thing" or node and use the “Hide/Show </a:t>
            </a:r>
            <a:r>
              <a:rPr lang="en-US" sz="1050" b="1" dirty="0">
                <a:solidFill>
                  <a:srgbClr val="CBD5E1"/>
                </a:solidFill>
                <a:latin typeface="Lato" panose="020F0502020204030203" pitchFamily="34" charset="0"/>
              </a:rPr>
              <a:t>Link” icon to </a:t>
            </a: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toggle visibility to hide only the links connected specifically to that object.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728218BA-4303-6586-22B4-F1010290E6E1}"/>
              </a:ext>
            </a:extLst>
          </p:cNvPr>
          <p:cNvCxnSpPr>
            <a:stCxn id="7" idx="2"/>
          </p:cNvCxnSpPr>
          <p:nvPr/>
        </p:nvCxnSpPr>
        <p:spPr>
          <a:xfrm>
            <a:off x="2405150" y="2827828"/>
            <a:ext cx="703810" cy="1462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41BE02D8-D41E-4B28-8A1E-7C4330736ABD}"/>
              </a:ext>
            </a:extLst>
          </p:cNvPr>
          <p:cNvCxnSpPr>
            <a:stCxn id="12" idx="2"/>
          </p:cNvCxnSpPr>
          <p:nvPr/>
        </p:nvCxnSpPr>
        <p:spPr>
          <a:xfrm>
            <a:off x="9002898" y="2827828"/>
            <a:ext cx="42628" cy="64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22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CA5448B-96BA-0970-9F23-8FD3617F9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FAB7DDFC-9A08-4D1A-8A9A-A189ECE46181}" type="slidenum">
              <a:rPr lang="de-DE" smtClean="0"/>
              <a:pPr/>
              <a:t>7</a:t>
            </a:fld>
            <a:endParaRPr lang="de-DE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924792-A926-0827-10FC-AEC133F4E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41" y="2996951"/>
            <a:ext cx="4154061" cy="267742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2B7CCE2-6AB7-1E28-4CB3-F08F9D103B21}"/>
              </a:ext>
            </a:extLst>
          </p:cNvPr>
          <p:cNvSpPr txBox="1"/>
          <p:nvPr/>
        </p:nvSpPr>
        <p:spPr>
          <a:xfrm>
            <a:off x="682282" y="1040227"/>
            <a:ext cx="11000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Link to specific sections inside objects rather than just the whole node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B54F91E-B610-F842-6D95-E18537276272}"/>
              </a:ext>
            </a:extLst>
          </p:cNvPr>
          <p:cNvSpPr txBox="1"/>
          <p:nvPr/>
        </p:nvSpPr>
        <p:spPr>
          <a:xfrm>
            <a:off x="801859" y="267286"/>
            <a:ext cx="4479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Deep Link Fragments</a:t>
            </a:r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87CFED3-FF79-83C4-A788-7C8FD743E6E9}"/>
              </a:ext>
            </a:extLst>
          </p:cNvPr>
          <p:cNvSpPr/>
          <p:nvPr/>
        </p:nvSpPr>
        <p:spPr>
          <a:xfrm>
            <a:off x="1045444" y="1597725"/>
            <a:ext cx="2862776" cy="1141270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C8234FB-A1E2-18D5-D99C-C69580C87541}"/>
              </a:ext>
            </a:extLst>
          </p:cNvPr>
          <p:cNvSpPr txBox="1"/>
          <p:nvPr/>
        </p:nvSpPr>
        <p:spPr>
          <a:xfrm>
            <a:off x="1117541" y="1597725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Fragments links</a:t>
            </a:r>
            <a:endParaRPr lang="en-US" b="1" i="0" dirty="0">
              <a:solidFill>
                <a:srgbClr val="22C55E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0439CB1-5852-E52C-ECD5-6A1F9779C6F3}"/>
              </a:ext>
            </a:extLst>
          </p:cNvPr>
          <p:cNvSpPr txBox="1"/>
          <p:nvPr/>
        </p:nvSpPr>
        <p:spPr>
          <a:xfrm>
            <a:off x="1117541" y="1915740"/>
            <a:ext cx="27414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Lato" panose="020F0502020204030203" pitchFamily="34" charset="0"/>
              </a:rPr>
              <a:t>Link to another node</a:t>
            </a:r>
            <a:r>
              <a:rPr lang="en-US" sz="105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: </a:t>
            </a:r>
            <a:r>
              <a:rPr lang="en-US" sz="1050" dirty="0">
                <a:solidFill>
                  <a:srgbClr val="CBD5E1"/>
                </a:solidFill>
                <a:latin typeface="Lato" panose="020F0502020204030203" pitchFamily="34" charset="0"/>
              </a:rPr>
              <a:t>Select a fragment in a document (text or graphic) and use the “Link to another node” contextual icon. Then select the target node.</a:t>
            </a:r>
            <a:endParaRPr lang="en-US" sz="1050" b="0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CBB82A2-0FDB-986A-8328-C7E164500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647" y="2654404"/>
            <a:ext cx="2807102" cy="3149276"/>
          </a:xfrm>
          <a:prstGeom prst="rect">
            <a:avLst/>
          </a:prstGeom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CC18405B-E59E-0E3B-BEBE-DC86E54C7B39}"/>
              </a:ext>
            </a:extLst>
          </p:cNvPr>
          <p:cNvSpPr/>
          <p:nvPr/>
        </p:nvSpPr>
        <p:spPr>
          <a:xfrm>
            <a:off x="5380892" y="4114800"/>
            <a:ext cx="587755" cy="3165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36FDF92-6E7D-23E2-064E-ED2123E8DF3E}"/>
              </a:ext>
            </a:extLst>
          </p:cNvPr>
          <p:cNvCxnSpPr>
            <a:stCxn id="7" idx="2"/>
          </p:cNvCxnSpPr>
          <p:nvPr/>
        </p:nvCxnSpPr>
        <p:spPr>
          <a:xfrm>
            <a:off x="2476832" y="2738995"/>
            <a:ext cx="1159666" cy="1214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236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9DEEAF9-4E78-8082-4541-81AA3C25F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FAB7DDFC-9A08-4D1A-8A9A-A189ECE46181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8A0B57-AD71-2F80-D82D-8B3FDF12AB1C}"/>
              </a:ext>
            </a:extLst>
          </p:cNvPr>
          <p:cNvSpPr txBox="1"/>
          <p:nvPr/>
        </p:nvSpPr>
        <p:spPr>
          <a:xfrm>
            <a:off x="682282" y="1040227"/>
            <a:ext cx="11000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Clicking a fragment-based link doesn't just open a document; it takes you exactly where the evidence lies.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A5DD04B-D9F0-7F73-345D-47C74D5D1716}"/>
              </a:ext>
            </a:extLst>
          </p:cNvPr>
          <p:cNvSpPr txBox="1"/>
          <p:nvPr/>
        </p:nvSpPr>
        <p:spPr>
          <a:xfrm>
            <a:off x="801859" y="267286"/>
            <a:ext cx="67393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Deep Link Fragment Navigation</a:t>
            </a:r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7936F66-2822-23BD-7541-91AA708C8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453441"/>
            <a:ext cx="7045144" cy="3821875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DE09879-9066-5936-A124-D1C476DFBEDE}"/>
              </a:ext>
            </a:extLst>
          </p:cNvPr>
          <p:cNvSpPr/>
          <p:nvPr/>
        </p:nvSpPr>
        <p:spPr>
          <a:xfrm>
            <a:off x="849176" y="2453441"/>
            <a:ext cx="2862776" cy="2203380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79F4012-876A-C04A-121B-2BEC973902A3}"/>
              </a:ext>
            </a:extLst>
          </p:cNvPr>
          <p:cNvSpPr txBox="1"/>
          <p:nvPr/>
        </p:nvSpPr>
        <p:spPr>
          <a:xfrm>
            <a:off x="921273" y="2453441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Fragments links</a:t>
            </a:r>
            <a:endParaRPr lang="en-US" b="1" i="0" dirty="0">
              <a:solidFill>
                <a:srgbClr val="22C55E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E2A67A0-7FF9-4F5A-E4C1-CA07E393237A}"/>
              </a:ext>
            </a:extLst>
          </p:cNvPr>
          <p:cNvSpPr txBox="1"/>
          <p:nvPr/>
        </p:nvSpPr>
        <p:spPr>
          <a:xfrm>
            <a:off x="921273" y="2771456"/>
            <a:ext cx="27414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Lato" panose="020F0502020204030203" pitchFamily="34" charset="0"/>
              </a:rPr>
              <a:t>Auto-Scroll &amp; Focus: </a:t>
            </a:r>
            <a:r>
              <a:rPr lang="en-US" sz="1050" dirty="0">
                <a:solidFill>
                  <a:srgbClr val="CBD5E1"/>
                </a:solidFill>
                <a:latin typeface="Lato" panose="020F0502020204030203" pitchFamily="34" charset="0"/>
              </a:rPr>
              <a:t>Opens the document in the source node and automatically jumps to the exact page where the fragment is located.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Persistent Highlight: </a:t>
            </a:r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A distinct visual highlight/label marks the precise text or region bounding box.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Interactive Hover Tooltip: </a:t>
            </a:r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Hovering over this highlight reveals contextual metadata, displaying details of the connected target node.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50" b="0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48DC3754-10EA-112C-F5BA-B3E09E177B72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711952" y="3130062"/>
            <a:ext cx="1155470" cy="425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91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servative" id="{0C7A4E6F-F984-4F66-911F-CD095E19336D}" vid="{8A23C2B8-F788-4BB9-B2F4-F3AE32D6E7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b741aa-60be-4cf3-80a3-4bfd08a318e4" xsi:nil="true"/>
    <lcf76f155ced4ddcb4097134ff3c332f xmlns="de423252-1d24-42e4-aba6-7788bf73d32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59082297F78944A8F13A7E8EACBADF" ma:contentTypeVersion="15" ma:contentTypeDescription="Create a new document." ma:contentTypeScope="" ma:versionID="9e013374cfe600fbed38d9a0ab5081eb">
  <xsd:schema xmlns:xsd="http://www.w3.org/2001/XMLSchema" xmlns:xs="http://www.w3.org/2001/XMLSchema" xmlns:p="http://schemas.microsoft.com/office/2006/metadata/properties" xmlns:ns2="de423252-1d24-42e4-aba6-7788bf73d329" xmlns:ns3="20b741aa-60be-4cf3-80a3-4bfd08a318e4" targetNamespace="http://schemas.microsoft.com/office/2006/metadata/properties" ma:root="true" ma:fieldsID="fdc853455c52e3c094e54e7f5f4a50b7" ns2:_="" ns3:_="">
    <xsd:import namespace="de423252-1d24-42e4-aba6-7788bf73d329"/>
    <xsd:import namespace="20b741aa-60be-4cf3-80a3-4bfd08a318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23252-1d24-42e4-aba6-7788bf73d3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be32800-d054-45a8-84a2-d69ca6cadf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b741aa-60be-4cf3-80a3-4bfd08a318e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5e6e02f-ae7c-4f00-b5df-367a218ef3d4}" ma:internalName="TaxCatchAll" ma:showField="CatchAllData" ma:web="20b741aa-60be-4cf3-80a3-4bfd08a318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491CE6-E96D-411F-89A7-DA930D0EB5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1100BB-EC2C-4189-A76C-E62D16FB7771}">
  <ds:schemaRefs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20b741aa-60be-4cf3-80a3-4bfd08a318e4"/>
    <ds:schemaRef ds:uri="de423252-1d24-42e4-aba6-7788bf73d329"/>
  </ds:schemaRefs>
</ds:datastoreItem>
</file>

<file path=customXml/itemProps3.xml><?xml version="1.0" encoding="utf-8"?>
<ds:datastoreItem xmlns:ds="http://schemas.openxmlformats.org/officeDocument/2006/customXml" ds:itemID="{B7FC96B0-A823-4F2F-A44A-FBA734966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423252-1d24-42e4-aba6-7788bf73d329"/>
    <ds:schemaRef ds:uri="20b741aa-60be-4cf3-80a3-4bfd08a318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1071</TotalTime>
  <Words>463</Words>
  <Application>Microsoft Office PowerPoint</Application>
  <PresentationFormat>Grand écran</PresentationFormat>
  <Paragraphs>50</Paragraphs>
  <Slides>8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Arial</vt:lpstr>
      <vt:lpstr>Calibri</vt:lpstr>
      <vt:lpstr>Consolas</vt:lpstr>
      <vt:lpstr>Lato</vt:lpstr>
      <vt:lpstr>Poppins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>t2b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t2b AI platform</dc:title>
  <dc:creator>Patrick Toenz (t2b)</dc:creator>
  <cp:lastModifiedBy>olivier polette</cp:lastModifiedBy>
  <cp:revision>446</cp:revision>
  <dcterms:created xsi:type="dcterms:W3CDTF">2015-02-08T08:15:00Z</dcterms:created>
  <dcterms:modified xsi:type="dcterms:W3CDTF">2026-05-20T13:03:50Z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0x0101000659082297F78944A8F13A7E8EACBADF</vt:lpwstr>
  </property>
  <property fmtid="{D5CDD505-2E9C-101B-9397-08002B2CF9AE}" pid="3" name="MediaServiceImageTags">
    <vt:lpwstr/>
  </property>
</Properties>
</file>