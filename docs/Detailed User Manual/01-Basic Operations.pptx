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571"/>
    <a:srgbClr val="9CD2F6"/>
    <a:srgbClr val="A5EAED"/>
    <a:srgbClr val="C198E0"/>
    <a:srgbClr val="AA72D4"/>
    <a:srgbClr val="873AC0"/>
    <a:srgbClr val="CC00CC"/>
    <a:srgbClr val="9966FF"/>
    <a:srgbClr val="9933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 autoAdjust="0"/>
    <p:restoredTop sz="87986" autoAdjust="0"/>
  </p:normalViewPr>
  <p:slideViewPr>
    <p:cSldViewPr snapToGrid="0">
      <p:cViewPr varScale="1">
        <p:scale>
          <a:sx n="136" d="100"/>
          <a:sy n="136" d="100"/>
        </p:scale>
        <p:origin x="121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2" d="100"/>
        <a:sy n="62" d="100"/>
      </p:scale>
      <p:origin x="0" y="-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B5C66-071E-44FE-9AD3-44BA55FD9994}" type="datetimeFigureOut">
              <a:rPr lang="de-DE" smtClean="0"/>
              <a:t>11.05.2026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543DF-F8A5-4D85-8686-6B71F3A38493}" type="slidenum">
              <a:rPr lang="de-DE" smtClean="0"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358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968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6462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124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864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543DF-F8A5-4D85-8686-6B71F3A38493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478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9969"/>
            <a:ext cx="12192000" cy="75803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6313851" y="6169821"/>
            <a:ext cx="573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transform business to technology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924" y="1695449"/>
            <a:ext cx="7458075" cy="1814513"/>
          </a:xfrm>
          <a:prstGeom prst="rect">
            <a:avLst/>
          </a:prstGeom>
        </p:spPr>
        <p:txBody>
          <a:bodyPr anchor="t"/>
          <a:lstStyle>
            <a:lvl1pPr algn="l">
              <a:defRPr sz="40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924" y="3602038"/>
            <a:ext cx="74580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6313851" y="6169821"/>
            <a:ext cx="573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transform business to technology</a:t>
            </a:r>
          </a:p>
        </p:txBody>
      </p:sp>
      <p:sp>
        <p:nvSpPr>
          <p:cNvPr id="37" name="Picture Placeholder 2"/>
          <p:cNvSpPr>
            <a:spLocks noGrp="1"/>
          </p:cNvSpPr>
          <p:nvPr>
            <p:ph type="pic" idx="10"/>
          </p:nvPr>
        </p:nvSpPr>
        <p:spPr>
          <a:xfrm>
            <a:off x="0" y="0"/>
            <a:ext cx="2571750" cy="68676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49446" y="6173478"/>
            <a:ext cx="1559680" cy="6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4781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26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71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62075"/>
            <a:ext cx="5181600" cy="47529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62075"/>
            <a:ext cx="5181600" cy="47529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/>
          <a:lstStyle>
            <a:lvl1pPr>
              <a:defRPr sz="3600" i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8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6244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7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677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1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387044"/>
            <a:ext cx="12192000" cy="47095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3851"/>
            <a:ext cx="10515600" cy="578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000" y="6446311"/>
            <a:ext cx="21590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FAB7DDFC-9A08-4D1A-8A9A-A189ECE46181}" type="slidenum">
              <a:rPr lang="de-DE" smtClean="0"/>
              <a:pPr/>
              <a:t>‹N°›</a:t>
            </a:fld>
            <a:endParaRPr lang="de-DE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3"/>
          </p:nvPr>
        </p:nvSpPr>
        <p:spPr>
          <a:xfrm>
            <a:off x="4038600" y="6446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383054" y="6442273"/>
            <a:ext cx="933782" cy="38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6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2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SzPct val="90000"/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D4B11727-02A7-E07E-0EE1-3A998299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65" y="831458"/>
            <a:ext cx="11139529" cy="551946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30E072F-98EB-4EED-BA50-64785FED2357}"/>
              </a:ext>
            </a:extLst>
          </p:cNvPr>
          <p:cNvSpPr txBox="1"/>
          <p:nvPr/>
        </p:nvSpPr>
        <p:spPr>
          <a:xfrm>
            <a:off x="1948375" y="1430383"/>
            <a:ext cx="8764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The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b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 is an infinite, spatial workspace where notes, files, and data transform into structured intelligence through direct manipulation.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2444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The Canvas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2373922" y="2466104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2446019" y="2466105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Create a Workspace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2446019" y="2784120"/>
            <a:ext cx="274144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Launch your investigation by clicking the </a:t>
            </a:r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"+"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 icon next to Canvases in the Sidebar navigation hub.</a:t>
            </a: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Every canvas is a fresh start for non-linear thinking and complex organization.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094A2B8-F174-8D30-9DEB-87B45F8EC7E6}"/>
              </a:ext>
            </a:extLst>
          </p:cNvPr>
          <p:cNvSpPr/>
          <p:nvPr/>
        </p:nvSpPr>
        <p:spPr>
          <a:xfrm>
            <a:off x="2373922" y="4053632"/>
            <a:ext cx="2862776" cy="1584738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89F40F-D01B-8CF6-7893-AA5F64487CB1}"/>
              </a:ext>
            </a:extLst>
          </p:cNvPr>
          <p:cNvSpPr txBox="1"/>
          <p:nvPr/>
        </p:nvSpPr>
        <p:spPr>
          <a:xfrm>
            <a:off x="2446019" y="4053633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Identity &amp; History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894F882-2143-5EA8-04AA-60435B20DDB0}"/>
              </a:ext>
            </a:extLst>
          </p:cNvPr>
          <p:cNvSpPr txBox="1"/>
          <p:nvPr/>
        </p:nvSpPr>
        <p:spPr>
          <a:xfrm>
            <a:off x="2434589" y="4331765"/>
            <a:ext cx="27414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Rename your canvas easily via the Sidebar history. Simply click on the 3-dots or to edit its label.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Your work is saved automatically, accessible anytime from the secure History panel.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/>
          <p:nvPr/>
        </p:nvCxnSpPr>
        <p:spPr>
          <a:xfrm flipH="1" flipV="1">
            <a:off x="1723292" y="1661216"/>
            <a:ext cx="650630" cy="147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A01F1DE-2DC7-3496-981F-78905383ACB9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1488699" y="1753549"/>
            <a:ext cx="885223" cy="309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55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1A4A4779-3053-0493-9883-9133B21E9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70" y="852061"/>
            <a:ext cx="11143957" cy="55414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5609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Populating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the Workspace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2373922" y="2466104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2446019" y="2466105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Drag &amp; Drop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2446019" y="2784120"/>
            <a:ext cx="2741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Instantly add PDFs, images, or text files directly onto the canvas surface.</a:t>
            </a:r>
          </a:p>
          <a:p>
            <a:pPr algn="l"/>
            <a:endParaRPr lang="en-US" sz="1050" dirty="0">
              <a:solidFill>
                <a:srgbClr val="CBD5E1"/>
              </a:solidFill>
              <a:latin typeface="Lato" panose="020F0502020204030203" pitchFamily="34" charset="0"/>
            </a:endParaRP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Or use the Canvas tools to add a “Thing”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094A2B8-F174-8D30-9DEB-87B45F8EC7E6}"/>
              </a:ext>
            </a:extLst>
          </p:cNvPr>
          <p:cNvSpPr/>
          <p:nvPr/>
        </p:nvSpPr>
        <p:spPr>
          <a:xfrm>
            <a:off x="2373922" y="4651510"/>
            <a:ext cx="2862776" cy="1584738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89F40F-D01B-8CF6-7893-AA5F64487CB1}"/>
              </a:ext>
            </a:extLst>
          </p:cNvPr>
          <p:cNvSpPr txBox="1"/>
          <p:nvPr/>
        </p:nvSpPr>
        <p:spPr>
          <a:xfrm>
            <a:off x="2446019" y="4651511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RAG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894F882-2143-5EA8-04AA-60435B20DDB0}"/>
              </a:ext>
            </a:extLst>
          </p:cNvPr>
          <p:cNvSpPr txBox="1"/>
          <p:nvPr/>
        </p:nvSpPr>
        <p:spPr>
          <a:xfrm>
            <a:off x="2434589" y="4929643"/>
            <a:ext cx="2741441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When you add a document, the Ingestion Pipeline converts raw text and visual elements into high-dimensional vector embeddings.</a:t>
            </a: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This "Notion of Vectorization" allows the AI to perform deep semantic searches, finding relevant context across pages.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187460" y="2694073"/>
            <a:ext cx="1767844" cy="459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B057DE4E-C1B8-E8DC-D6F1-8F7791BD2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90" y="4519272"/>
            <a:ext cx="2552184" cy="1849214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10A4BB2-150E-C352-1D11-61C1FEBC3C27}"/>
              </a:ext>
            </a:extLst>
          </p:cNvPr>
          <p:cNvCxnSpPr>
            <a:stCxn id="2" idx="3"/>
          </p:cNvCxnSpPr>
          <p:nvPr/>
        </p:nvCxnSpPr>
        <p:spPr>
          <a:xfrm flipV="1">
            <a:off x="5236698" y="2694073"/>
            <a:ext cx="5757204" cy="454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593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1A4A4779-3053-0493-9883-9133B21E9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70" y="852061"/>
            <a:ext cx="11143957" cy="55414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4253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The Master Toolbox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5349825" y="1453230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5421922" y="1453231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Hand Tool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5421922" y="1771246"/>
            <a:ext cx="2741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Navigate the infinite workspace. Use Drag or the zoom box to pan effortlessly across large projects.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094A2B8-F174-8D30-9DEB-87B45F8EC7E6}"/>
              </a:ext>
            </a:extLst>
          </p:cNvPr>
          <p:cNvSpPr/>
          <p:nvPr/>
        </p:nvSpPr>
        <p:spPr>
          <a:xfrm>
            <a:off x="9175651" y="1453230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C89F40F-D01B-8CF6-7893-AA5F64487CB1}"/>
              </a:ext>
            </a:extLst>
          </p:cNvPr>
          <p:cNvSpPr txBox="1"/>
          <p:nvPr/>
        </p:nvSpPr>
        <p:spPr>
          <a:xfrm>
            <a:off x="9247748" y="1453231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Pointer Tool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894F882-2143-5EA8-04AA-60435B20DDB0}"/>
              </a:ext>
            </a:extLst>
          </p:cNvPr>
          <p:cNvSpPr txBox="1"/>
          <p:nvPr/>
        </p:nvSpPr>
        <p:spPr>
          <a:xfrm>
            <a:off x="9236318" y="1731363"/>
            <a:ext cx="27414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Select, move, and resize nodes. Use the “Pointer tool” to group multiple items for arrangement.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2C79AB7-338C-1576-800B-70013487DB41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163363" y="1097280"/>
            <a:ext cx="453099" cy="104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10A4BB2-150E-C352-1D11-61C1FEBC3C2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212601" y="2135514"/>
            <a:ext cx="2225627" cy="354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2EC2700-28B7-8804-B177-4BDDDBEA4CFE}"/>
              </a:ext>
            </a:extLst>
          </p:cNvPr>
          <p:cNvCxnSpPr/>
          <p:nvPr/>
        </p:nvCxnSpPr>
        <p:spPr>
          <a:xfrm flipH="1" flipV="1">
            <a:off x="8813409" y="1048043"/>
            <a:ext cx="1835834" cy="377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19C76CF-EC78-4E59-CFCF-AEE56F352032}"/>
              </a:ext>
            </a:extLst>
          </p:cNvPr>
          <p:cNvSpPr/>
          <p:nvPr/>
        </p:nvSpPr>
        <p:spPr>
          <a:xfrm>
            <a:off x="2047434" y="2558780"/>
            <a:ext cx="2862776" cy="1364567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B7138B-3FD1-6EE5-8069-68A1E566BF8A}"/>
              </a:ext>
            </a:extLst>
          </p:cNvPr>
          <p:cNvSpPr txBox="1"/>
          <p:nvPr/>
        </p:nvSpPr>
        <p:spPr>
          <a:xfrm>
            <a:off x="2119531" y="2558781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Model Selection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B1952E2-81B5-67AE-03FF-C76302682B6C}"/>
              </a:ext>
            </a:extLst>
          </p:cNvPr>
          <p:cNvSpPr txBox="1"/>
          <p:nvPr/>
        </p:nvSpPr>
        <p:spPr>
          <a:xfrm>
            <a:off x="2119531" y="2876796"/>
            <a:ext cx="274144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Choose the AI model that will power operations on this canvas.</a:t>
            </a:r>
          </a:p>
          <a:p>
            <a:pPr algn="l"/>
            <a:endParaRPr lang="en-US" sz="1050" dirty="0">
              <a:solidFill>
                <a:srgbClr val="CBD5E1"/>
              </a:solidFill>
              <a:latin typeface="Lato" panose="020F0502020204030203" pitchFamily="34" charset="0"/>
            </a:endParaRPr>
          </a:p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Vision Model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Select a specialized model for image analysis.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5CC20278-BC03-1563-9594-10DDB5DBF217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3012808" y="1097280"/>
            <a:ext cx="477444" cy="1461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0B121B8-595C-1A91-0D7F-E1729CAF0621}"/>
              </a:ext>
            </a:extLst>
          </p:cNvPr>
          <p:cNvCxnSpPr/>
          <p:nvPr/>
        </p:nvCxnSpPr>
        <p:spPr>
          <a:xfrm flipV="1">
            <a:off x="3490252" y="1048043"/>
            <a:ext cx="455736" cy="151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54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446F729-2ECD-0E99-A59B-3D15F214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27" y="758399"/>
            <a:ext cx="11075836" cy="54989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Semantic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Zoom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3172266" y="758399"/>
            <a:ext cx="5493432" cy="1703010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3354559" y="779572"/>
            <a:ext cx="2741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Semantic Zoom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3383280" y="1076414"/>
            <a:ext cx="51487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Clarity at Every Scale</a:t>
            </a:r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: Dynamic level-of-detail management ensures you never lose the big picture.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As you zoom out, nodes automatically condense into high-level labels and one-liners. Zoom in to reveal full text, metadata, and editing controls.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en-US" sz="1050" b="0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This allows for massive projects that remain navigable and visually clean.</a:t>
            </a:r>
          </a:p>
          <a:p>
            <a:pPr algn="l"/>
            <a:endParaRPr lang="en-US" sz="1050" b="0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10A4BB2-150E-C352-1D11-61C1FEBC3C27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8665698" y="1315329"/>
            <a:ext cx="386862" cy="29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69AC915-58C5-85E2-0137-0AA749DB0C87}"/>
              </a:ext>
            </a:extLst>
          </p:cNvPr>
          <p:cNvCxnSpPr>
            <a:stCxn id="8" idx="2"/>
          </p:cNvCxnSpPr>
          <p:nvPr/>
        </p:nvCxnSpPr>
        <p:spPr>
          <a:xfrm flipH="1">
            <a:off x="5957667" y="2461409"/>
            <a:ext cx="1" cy="288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6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056A458-BB62-AA62-360A-B84AA00B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27" y="1076414"/>
            <a:ext cx="10523308" cy="522462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099902-8B98-A092-C257-D673459FD35A}"/>
              </a:ext>
            </a:extLst>
          </p:cNvPr>
          <p:cNvSpPr txBox="1"/>
          <p:nvPr/>
        </p:nvSpPr>
        <p:spPr>
          <a:xfrm>
            <a:off x="801859" y="267286"/>
            <a:ext cx="4253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Contextual</a:t>
            </a:r>
            <a:r>
              <a:rPr lang="fr-FR" sz="3200" b="1" dirty="0">
                <a:solidFill>
                  <a:schemeClr val="accent5"/>
                </a:solidFill>
                <a:latin typeface="Consolas" panose="020B0609020204030204" pitchFamily="49" charset="0"/>
              </a:rPr>
              <a:t> Toolbox</a:t>
            </a:r>
            <a:endParaRPr lang="en-US" sz="3200" b="1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BFA284-3081-B488-565C-44E8C3408996}"/>
              </a:ext>
            </a:extLst>
          </p:cNvPr>
          <p:cNvSpPr/>
          <p:nvPr/>
        </p:nvSpPr>
        <p:spPr>
          <a:xfrm>
            <a:off x="723991" y="1581431"/>
            <a:ext cx="2595488" cy="895096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DD224-8705-9357-1191-29602B6E62DF}"/>
              </a:ext>
            </a:extLst>
          </p:cNvPr>
          <p:cNvSpPr txBox="1"/>
          <p:nvPr/>
        </p:nvSpPr>
        <p:spPr>
          <a:xfrm>
            <a:off x="906284" y="1602604"/>
            <a:ext cx="2300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Summarize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37A913-4446-0659-D1E7-5C079AD27B0C}"/>
              </a:ext>
            </a:extLst>
          </p:cNvPr>
          <p:cNvSpPr txBox="1"/>
          <p:nvPr/>
        </p:nvSpPr>
        <p:spPr>
          <a:xfrm>
            <a:off x="935005" y="1899446"/>
            <a:ext cx="22719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Condense the selected content into a concise brief.</a:t>
            </a:r>
          </a:p>
          <a:p>
            <a:pPr algn="l"/>
            <a:endParaRPr lang="en-US" sz="1050" b="1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F4F0B6D-B513-D3DF-2257-4FDD7FF92EC7}"/>
              </a:ext>
            </a:extLst>
          </p:cNvPr>
          <p:cNvSpPr/>
          <p:nvPr/>
        </p:nvSpPr>
        <p:spPr>
          <a:xfrm>
            <a:off x="3602503" y="1581431"/>
            <a:ext cx="2595488" cy="895096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73442C-AB87-90FC-AB86-3EE3827A6861}"/>
              </a:ext>
            </a:extLst>
          </p:cNvPr>
          <p:cNvSpPr txBox="1"/>
          <p:nvPr/>
        </p:nvSpPr>
        <p:spPr>
          <a:xfrm>
            <a:off x="3784796" y="1602604"/>
            <a:ext cx="2300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Explain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4C7F44-A956-9CA4-352C-C99ECDF0BD8D}"/>
              </a:ext>
            </a:extLst>
          </p:cNvPr>
          <p:cNvSpPr txBox="1"/>
          <p:nvPr/>
        </p:nvSpPr>
        <p:spPr>
          <a:xfrm>
            <a:off x="3813517" y="1899446"/>
            <a:ext cx="22719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Get deep insights and context for complex segments.</a:t>
            </a:r>
          </a:p>
          <a:p>
            <a:pPr algn="l"/>
            <a:endParaRPr lang="en-US" sz="1050" b="1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636D83A-8838-B3D0-0D62-90643CA5C466}"/>
              </a:ext>
            </a:extLst>
          </p:cNvPr>
          <p:cNvSpPr/>
          <p:nvPr/>
        </p:nvSpPr>
        <p:spPr>
          <a:xfrm>
            <a:off x="6481015" y="1602604"/>
            <a:ext cx="2595488" cy="895096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A493965-A26F-E046-DD21-0CC86E0EDBAA}"/>
              </a:ext>
            </a:extLst>
          </p:cNvPr>
          <p:cNvSpPr txBox="1"/>
          <p:nvPr/>
        </p:nvSpPr>
        <p:spPr>
          <a:xfrm>
            <a:off x="6663308" y="1623777"/>
            <a:ext cx="2300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Main Points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FF51AD-8065-6F33-E55E-5382CCD4B251}"/>
              </a:ext>
            </a:extLst>
          </p:cNvPr>
          <p:cNvSpPr txBox="1"/>
          <p:nvPr/>
        </p:nvSpPr>
        <p:spPr>
          <a:xfrm>
            <a:off x="6692029" y="1920619"/>
            <a:ext cx="22719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Extract core arguments and actionable bullet points.</a:t>
            </a:r>
          </a:p>
          <a:p>
            <a:pPr algn="l"/>
            <a:endParaRPr lang="en-US" sz="1050" b="1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DE7AC5F-BF80-D182-5578-D87E32A4AD85}"/>
              </a:ext>
            </a:extLst>
          </p:cNvPr>
          <p:cNvSpPr/>
          <p:nvPr/>
        </p:nvSpPr>
        <p:spPr>
          <a:xfrm>
            <a:off x="9357005" y="1623777"/>
            <a:ext cx="2595488" cy="895096"/>
          </a:xfrm>
          <a:prstGeom prst="roundRect">
            <a:avLst>
              <a:gd name="adj" fmla="val 101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FADF2C1-1144-BAE4-EBD2-74564F3A3F0D}"/>
              </a:ext>
            </a:extLst>
          </p:cNvPr>
          <p:cNvSpPr txBox="1"/>
          <p:nvPr/>
        </p:nvSpPr>
        <p:spPr>
          <a:xfrm>
            <a:off x="9539298" y="1644950"/>
            <a:ext cx="2300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C55E"/>
                </a:solidFill>
                <a:effectLst/>
                <a:latin typeface="Poppins" panose="00000500000000000000" pitchFamily="2" charset="0"/>
              </a:rPr>
              <a:t>Conversation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EC21365-337D-564B-724F-E360F96FD135}"/>
              </a:ext>
            </a:extLst>
          </p:cNvPr>
          <p:cNvSpPr txBox="1"/>
          <p:nvPr/>
        </p:nvSpPr>
        <p:spPr>
          <a:xfrm>
            <a:off x="9568019" y="1941792"/>
            <a:ext cx="22719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CBD5E1"/>
                </a:solidFill>
                <a:effectLst/>
                <a:latin typeface="Lato" panose="020F0502020204030203" pitchFamily="34" charset="0"/>
              </a:rPr>
              <a:t>Start a targeted AI chat about the selection.</a:t>
            </a:r>
          </a:p>
          <a:p>
            <a:pPr algn="l"/>
            <a:endParaRPr lang="en-US" sz="1050" b="1" i="0" dirty="0">
              <a:solidFill>
                <a:srgbClr val="CBD5E1"/>
              </a:solidFill>
              <a:effectLst/>
              <a:latin typeface="Lato" panose="020F0502020204030203" pitchFamily="34" charset="0"/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C7A1F4B-5C70-824F-5A35-C991DEF24FAB}"/>
              </a:ext>
            </a:extLst>
          </p:cNvPr>
          <p:cNvCxnSpPr/>
          <p:nvPr/>
        </p:nvCxnSpPr>
        <p:spPr>
          <a:xfrm>
            <a:off x="2109479" y="2476527"/>
            <a:ext cx="2687604" cy="198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8AA4E1FC-0C91-1371-9332-58D3F2E709C9}"/>
              </a:ext>
            </a:extLst>
          </p:cNvPr>
          <p:cNvCxnSpPr>
            <a:stCxn id="12" idx="2"/>
          </p:cNvCxnSpPr>
          <p:nvPr/>
        </p:nvCxnSpPr>
        <p:spPr>
          <a:xfrm>
            <a:off x="4949483" y="2476527"/>
            <a:ext cx="232073" cy="196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B1E7E531-DA7A-8665-33B8-8607BF67BC9C}"/>
              </a:ext>
            </a:extLst>
          </p:cNvPr>
          <p:cNvCxnSpPr/>
          <p:nvPr/>
        </p:nvCxnSpPr>
        <p:spPr>
          <a:xfrm flipH="1">
            <a:off x="5483403" y="2497700"/>
            <a:ext cx="2283456" cy="196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4825219-4DD5-8754-4FC4-62A490440C02}"/>
              </a:ext>
            </a:extLst>
          </p:cNvPr>
          <p:cNvCxnSpPr>
            <a:stCxn id="19" idx="2"/>
          </p:cNvCxnSpPr>
          <p:nvPr/>
        </p:nvCxnSpPr>
        <p:spPr>
          <a:xfrm flipH="1">
            <a:off x="5848586" y="2518873"/>
            <a:ext cx="4855399" cy="1940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33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servative" id="{0C7A4E6F-F984-4F66-911F-CD095E19336D}" vid="{8A23C2B8-F788-4BB9-B2F4-F3AE32D6E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59082297F78944A8F13A7E8EACBADF" ma:contentTypeVersion="15" ma:contentTypeDescription="Create a new document." ma:contentTypeScope="" ma:versionID="9e013374cfe600fbed38d9a0ab5081eb">
  <xsd:schema xmlns:xsd="http://www.w3.org/2001/XMLSchema" xmlns:xs="http://www.w3.org/2001/XMLSchema" xmlns:p="http://schemas.microsoft.com/office/2006/metadata/properties" xmlns:ns2="de423252-1d24-42e4-aba6-7788bf73d329" xmlns:ns3="20b741aa-60be-4cf3-80a3-4bfd08a318e4" targetNamespace="http://schemas.microsoft.com/office/2006/metadata/properties" ma:root="true" ma:fieldsID="fdc853455c52e3c094e54e7f5f4a50b7" ns2:_="" ns3:_="">
    <xsd:import namespace="de423252-1d24-42e4-aba6-7788bf73d329"/>
    <xsd:import namespace="20b741aa-60be-4cf3-80a3-4bfd08a318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23252-1d24-42e4-aba6-7788bf73d3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be32800-d054-45a8-84a2-d69ca6cadf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741aa-60be-4cf3-80a3-4bfd08a318e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5e6e02f-ae7c-4f00-b5df-367a218ef3d4}" ma:internalName="TaxCatchAll" ma:showField="CatchAllData" ma:web="20b741aa-60be-4cf3-80a3-4bfd08a318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b741aa-60be-4cf3-80a3-4bfd08a318e4" xsi:nil="true"/>
    <lcf76f155ced4ddcb4097134ff3c332f xmlns="de423252-1d24-42e4-aba6-7788bf73d32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4491CE6-E96D-411F-89A7-DA930D0EB5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FC96B0-A823-4F2F-A44A-FBA734966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423252-1d24-42e4-aba6-7788bf73d329"/>
    <ds:schemaRef ds:uri="20b741aa-60be-4cf3-80a3-4bfd08a318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1100BB-EC2C-4189-A76C-E62D16FB7771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20b741aa-60be-4cf3-80a3-4bfd08a318e4"/>
    <ds:schemaRef ds:uri="de423252-1d24-42e4-aba6-7788bf73d3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</TotalTime>
  <Words>348</Words>
  <Application>Microsoft Office PowerPoint</Application>
  <PresentationFormat>Grand écran</PresentationFormat>
  <Paragraphs>47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Arial</vt:lpstr>
      <vt:lpstr>Calibri</vt:lpstr>
      <vt:lpstr>Consolas</vt:lpstr>
      <vt:lpstr>Lato</vt:lpstr>
      <vt:lpstr>Poppins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>t2b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t2b AI platform</dc:title>
  <dc:creator>Patrick Toenz (t2b)</dc:creator>
  <cp:lastModifiedBy>olivier polette</cp:lastModifiedBy>
  <cp:revision>441</cp:revision>
  <dcterms:created xsi:type="dcterms:W3CDTF">2015-02-08T08:15:00Z</dcterms:created>
  <dcterms:modified xsi:type="dcterms:W3CDTF">2026-05-11T12:52:23Z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0x0101000659082297F78944A8F13A7E8EACBADF</vt:lpwstr>
  </property>
  <property fmtid="{D5CDD505-2E9C-101B-9397-08002B2CF9AE}" pid="3" name="MediaServiceImageTags">
    <vt:lpwstr/>
  </property>
</Properties>
</file>